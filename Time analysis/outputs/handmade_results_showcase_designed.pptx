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297561b9eb48a4" /><Relationship Type="http://schemas.openxmlformats.org/officeDocument/2006/relationships/extended-properties" Target="/docProps/app.xml" Id="R42abf3f7b6d24859" /><Relationship Type="http://schemas.openxmlformats.org/officeDocument/2006/relationships/officeDocument" Target="/ppt/presentation.xml" Id="R30d9f3bd2a714a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458608986744aa"/>
  </p:sldMasterIdLst>
  <p:notesMasterIdLst>
    <p:notesMasterId xmlns:r="http://schemas.openxmlformats.org/officeDocument/2006/relationships" r:id="R3410d2f4686b457b"/>
  </p:notesMasterIdLst>
  <p:sldIdLst>
    <p:sldId xmlns:r="http://schemas.openxmlformats.org/officeDocument/2006/relationships" id="256" r:id="R18ecbd8c65154cc0"/>
    <p:sldId xmlns:r="http://schemas.openxmlformats.org/officeDocument/2006/relationships" id="257" r:id="Rf7855e845dde42c8"/>
    <p:sldId xmlns:r="http://schemas.openxmlformats.org/officeDocument/2006/relationships" id="258" r:id="Radf27b2d9f654b69"/>
    <p:sldId xmlns:r="http://schemas.openxmlformats.org/officeDocument/2006/relationships" id="259" r:id="Re5e611be329644d3"/>
    <p:sldId xmlns:r="http://schemas.openxmlformats.org/officeDocument/2006/relationships" id="260" r:id="R99240166d8f24f47"/>
    <p:sldId xmlns:r="http://schemas.openxmlformats.org/officeDocument/2006/relationships" id="261" r:id="R8f109d8268974e40"/>
    <p:sldId xmlns:r="http://schemas.openxmlformats.org/officeDocument/2006/relationships" id="262" r:id="R16bdad69d6614c7e"/>
    <p:sldId xmlns:r="http://schemas.openxmlformats.org/officeDocument/2006/relationships" id="263" r:id="Rfa06638b7ba74a8b"/>
    <p:sldId xmlns:r="http://schemas.openxmlformats.org/officeDocument/2006/relationships" id="264" r:id="R7a2061f346a840cc"/>
    <p:sldId xmlns:r="http://schemas.openxmlformats.org/officeDocument/2006/relationships" id="265" r:id="R0ca0496ebc0f4423"/>
    <p:sldId xmlns:r="http://schemas.openxmlformats.org/officeDocument/2006/relationships" id="266" r:id="R205f2a63aaf14552"/>
    <p:sldId xmlns:r="http://schemas.openxmlformats.org/officeDocument/2006/relationships" id="267" r:id="Rae6e3eebbb3a4c06"/>
    <p:sldId xmlns:r="http://schemas.openxmlformats.org/officeDocument/2006/relationships" id="268" r:id="R6b51f008b64c4358"/>
    <p:sldId xmlns:r="http://schemas.openxmlformats.org/officeDocument/2006/relationships" id="269" r:id="R1ed048a0bf62489e"/>
    <p:sldId xmlns:r="http://schemas.openxmlformats.org/officeDocument/2006/relationships" id="270" r:id="R2f222a8c70b14896"/>
    <p:sldId xmlns:r="http://schemas.openxmlformats.org/officeDocument/2006/relationships" id="271" r:id="R5b63935196444fab"/>
    <p:sldId xmlns:r="http://schemas.openxmlformats.org/officeDocument/2006/relationships" id="272" r:id="R2fb8f9f9a567407d"/>
    <p:sldId xmlns:r="http://schemas.openxmlformats.org/officeDocument/2006/relationships" id="273" r:id="R334319199c4644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de257ef2f84d35" /><Relationship Type="http://schemas.openxmlformats.org/officeDocument/2006/relationships/slideMaster" Target="/ppt/slideMasters/slideMaster1.xml" Id="Rb3458608986744aa" /><Relationship Type="http://schemas.openxmlformats.org/officeDocument/2006/relationships/notesMaster" Target="/ppt/notesMasters/notesMaster1.xml" Id="R3410d2f4686b457b" /><Relationship Type="http://schemas.openxmlformats.org/officeDocument/2006/relationships/presProps" Target="/ppt/presProps.xml" Id="R7af1cacbd33e4116" /><Relationship Type="http://schemas.openxmlformats.org/officeDocument/2006/relationships/tableStyles" Target="/ppt/tableStyles.xml" Id="R91b2d732407c44fa" /><Relationship Type="http://schemas.openxmlformats.org/officeDocument/2006/relationships/slide" Target="/ppt/slides/slide1.xml" Id="R18ecbd8c65154cc0" /><Relationship Type="http://schemas.openxmlformats.org/officeDocument/2006/relationships/slide" Target="/ppt/slides/slide2.xml" Id="Rf7855e845dde42c8" /><Relationship Type="http://schemas.openxmlformats.org/officeDocument/2006/relationships/slide" Target="/ppt/slides/slide3.xml" Id="Radf27b2d9f654b69" /><Relationship Type="http://schemas.openxmlformats.org/officeDocument/2006/relationships/slide" Target="/ppt/slides/slide4.xml" Id="Re5e611be329644d3" /><Relationship Type="http://schemas.openxmlformats.org/officeDocument/2006/relationships/slide" Target="/ppt/slides/slide5.xml" Id="R99240166d8f24f47" /><Relationship Type="http://schemas.openxmlformats.org/officeDocument/2006/relationships/slide" Target="/ppt/slides/slide6.xml" Id="R8f109d8268974e40" /><Relationship Type="http://schemas.openxmlformats.org/officeDocument/2006/relationships/slide" Target="/ppt/slides/slide7.xml" Id="R16bdad69d6614c7e" /><Relationship Type="http://schemas.openxmlformats.org/officeDocument/2006/relationships/slide" Target="/ppt/slides/slide8.xml" Id="Rfa06638b7ba74a8b" /><Relationship Type="http://schemas.openxmlformats.org/officeDocument/2006/relationships/slide" Target="/ppt/slides/slide9.xml" Id="R7a2061f346a840cc" /><Relationship Type="http://schemas.openxmlformats.org/officeDocument/2006/relationships/slide" Target="/ppt/slides/slide10.xml" Id="R0ca0496ebc0f4423" /><Relationship Type="http://schemas.openxmlformats.org/officeDocument/2006/relationships/slide" Target="/ppt/slides/slide11.xml" Id="R205f2a63aaf14552" /><Relationship Type="http://schemas.openxmlformats.org/officeDocument/2006/relationships/slide" Target="/ppt/slides/slide12.xml" Id="Rae6e3eebbb3a4c06" /><Relationship Type="http://schemas.openxmlformats.org/officeDocument/2006/relationships/slide" Target="/ppt/slides/slide13.xml" Id="R6b51f008b64c4358" /><Relationship Type="http://schemas.openxmlformats.org/officeDocument/2006/relationships/slide" Target="/ppt/slides/slide14.xml" Id="R1ed048a0bf62489e" /><Relationship Type="http://schemas.openxmlformats.org/officeDocument/2006/relationships/slide" Target="/ppt/slides/slide15.xml" Id="R2f222a8c70b14896" /><Relationship Type="http://schemas.openxmlformats.org/officeDocument/2006/relationships/slide" Target="/ppt/slides/slide16.xml" Id="R5b63935196444fab" /><Relationship Type="http://schemas.openxmlformats.org/officeDocument/2006/relationships/slide" Target="/ppt/slides/slide17.xml" Id="R2fb8f9f9a567407d" /><Relationship Type="http://schemas.openxmlformats.org/officeDocument/2006/relationships/slide" Target="/ppt/slides/slide18.xml" Id="R334319199c4644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c0520354d149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62e3dd6f8b4571" /><Relationship Type="http://schemas.openxmlformats.org/officeDocument/2006/relationships/notesMaster" Target="/ppt/notesMasters/notesMaster1.xml" Id="R870e6b87be4648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f6c985f5584811" /><Relationship Type="http://schemas.openxmlformats.org/officeDocument/2006/relationships/notesMaster" Target="/ppt/notesMasters/notesMaster1.xml" Id="Rc7bbf095b19a4b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5a920c471e4c06" /><Relationship Type="http://schemas.openxmlformats.org/officeDocument/2006/relationships/notesMaster" Target="/ppt/notesMasters/notesMaster1.xml" Id="R638c625c3cee48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347dbe98cf40b9" /><Relationship Type="http://schemas.openxmlformats.org/officeDocument/2006/relationships/notesMaster" Target="/ppt/notesMasters/notesMaster1.xml" Id="R74e13ca2442c4a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caa9bbb17b48e1" /><Relationship Type="http://schemas.openxmlformats.org/officeDocument/2006/relationships/notesMaster" Target="/ppt/notesMasters/notesMaster1.xml" Id="R537de42ca57542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38cb83fb334404" /><Relationship Type="http://schemas.openxmlformats.org/officeDocument/2006/relationships/notesMaster" Target="/ppt/notesMasters/notesMaster1.xml" Id="R29e36628b5fd45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7030cf2f7143e7" /><Relationship Type="http://schemas.openxmlformats.org/officeDocument/2006/relationships/notesMaster" Target="/ppt/notesMasters/notesMaster1.xml" Id="Rcc1e03e4520e4f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80ff3408b04a6a" /><Relationship Type="http://schemas.openxmlformats.org/officeDocument/2006/relationships/notesMaster" Target="/ppt/notesMasters/notesMaster1.xml" Id="R369263f8188d4f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80ea3850c44cdd" /><Relationship Type="http://schemas.openxmlformats.org/officeDocument/2006/relationships/notesMaster" Target="/ppt/notesMasters/notesMaster1.xml" Id="R7b0f72c70a7d48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eb801730f049eb" /><Relationship Type="http://schemas.openxmlformats.org/officeDocument/2006/relationships/notesMaster" Target="/ppt/notesMasters/notesMaster1.xml" Id="R812b8a01ec3941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7af4da0b21498a" /><Relationship Type="http://schemas.openxmlformats.org/officeDocument/2006/relationships/notesMaster" Target="/ppt/notesMasters/notesMaster1.xml" Id="R865fe3f042414f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3baeee096443f8" /><Relationship Type="http://schemas.openxmlformats.org/officeDocument/2006/relationships/notesMaster" Target="/ppt/notesMasters/notesMaster1.xml" Id="Re43a24cfa50943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8935527ca547c8" /><Relationship Type="http://schemas.openxmlformats.org/officeDocument/2006/relationships/notesMaster" Target="/ppt/notesMasters/notesMaster1.xml" Id="R09221553b76b46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e1277b06a584e3d" /><Relationship Type="http://schemas.openxmlformats.org/officeDocument/2006/relationships/notesMaster" Target="/ppt/notesMasters/notesMaster1.xml" Id="Rdf6d194dcfaa400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beeab09aee4af9" /><Relationship Type="http://schemas.openxmlformats.org/officeDocument/2006/relationships/notesMaster" Target="/ppt/notesMasters/notesMaster1.xml" Id="Rd331887f2b7542a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040224891474431" /><Relationship Type="http://schemas.openxmlformats.org/officeDocument/2006/relationships/notesMaster" Target="/ppt/notesMasters/notesMaster1.xml" Id="Rfe561d5ddf1447a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489e0def3064c63" /><Relationship Type="http://schemas.openxmlformats.org/officeDocument/2006/relationships/notesMaster" Target="/ppt/notesMasters/notesMaster1.xml" Id="Rccbd5fef01ba41d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3a8d3a689a24228" /><Relationship Type="http://schemas.openxmlformats.org/officeDocument/2006/relationships/notesMaster" Target="/ppt/notesMasters/notesMaster1.xml" Id="R5297586de07048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results arc. This is the redesigned version based on the handmade content, with a more varied layout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clean map before showing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Filtering and basic QC are shown together so the result flow does not stall early.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this carefully; it is one of the most important statistical safeguards.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handmade marker slide but with a cleaner figure-first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still your handmade table, but with hierarchy and metrics separated.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volcano plot is treated as a hero figure rather than one more small panel.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replaces the table-only feel with a directional module layout.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Another result visual, but with a different stage-like layout.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log2FC is not the best y-axis for LRT trajectories.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replacement for the sparse handmade LRT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combines two handmade result slides in a more compact visual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central pathway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Different layout from GO BP: text anchor on left, figure on right.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mirrors the GO BP slide but uses a softer background to mark the second half of the 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intentionally a dark accent slide so the strongest result feels visually distinct.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caveat; it makes the result more defensible.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the model and one take-home sentence.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2fa09dd8ad4a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44d21f1e324e78" /><Relationship Type="http://schemas.openxmlformats.org/officeDocument/2006/relationships/slideLayout" Target="/ppt/slideLayouts/slideLayout1.xml" Id="Rac2fa95b2bbe4c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2fa95b2bbe4c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9f473ebdf42cb" /><Relationship Type="http://schemas.openxmlformats.org/officeDocument/2006/relationships/notesSlide" Target="/ppt/notesSlides/notesSlide1.xml" Id="R6afdec7c3b8b46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6ae4cc8db4115" /><Relationship Type="http://schemas.openxmlformats.org/officeDocument/2006/relationships/notesSlide" Target="/ppt/notesSlides/notesSlide2.xml" Id="Rd6404c0282734b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7aa1e84ff4b8a" /><Relationship Type="http://schemas.openxmlformats.org/officeDocument/2006/relationships/image" Target="/ppt/media/image.png" Id="R6ef35ec830314947" /><Relationship Type="http://schemas.openxmlformats.org/officeDocument/2006/relationships/image" Target="/ppt/media/image2.png" Id="R14dd0518e9f446af" /><Relationship Type="http://schemas.openxmlformats.org/officeDocument/2006/relationships/notesSlide" Target="/ppt/notesSlides/notesSlide3.xml" Id="R6180fc0948414e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5b0612d3d4429" /><Relationship Type="http://schemas.openxmlformats.org/officeDocument/2006/relationships/image" Target="/ppt/media/image3.png" Id="Re045c5d04c8f4edf" /><Relationship Type="http://schemas.openxmlformats.org/officeDocument/2006/relationships/image" Target="/ppt/media/image4.png" Id="R4797cc80dc8b427b" /><Relationship Type="http://schemas.openxmlformats.org/officeDocument/2006/relationships/notesSlide" Target="/ppt/notesSlides/notesSlide4.xml" Id="Re48d91fdb7c549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9a3a9b7a44976" /><Relationship Type="http://schemas.openxmlformats.org/officeDocument/2006/relationships/image" Target="/ppt/media/image5.png" Id="R57d7f9961ab34cb9" /><Relationship Type="http://schemas.openxmlformats.org/officeDocument/2006/relationships/notesSlide" Target="/ppt/notesSlides/notesSlide5.xml" Id="Rc2f797fa9b9b48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c3517174146f7" /><Relationship Type="http://schemas.openxmlformats.org/officeDocument/2006/relationships/notesSlide" Target="/ppt/notesSlides/notesSlide6.xml" Id="R3fb30bb88cf244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ab6b4e7bc48d9" /><Relationship Type="http://schemas.openxmlformats.org/officeDocument/2006/relationships/image" Target="/ppt/media/image6.png" Id="R71956e4e54a84d8d" /><Relationship Type="http://schemas.openxmlformats.org/officeDocument/2006/relationships/notesSlide" Target="/ppt/notesSlides/notesSlide7.xml" Id="Rf274b4abb99d45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285d528464331" /><Relationship Type="http://schemas.openxmlformats.org/officeDocument/2006/relationships/notesSlide" Target="/ppt/notesSlides/notesSlide8.xml" Id="R221a0111898741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b40ee761d4a7e" /><Relationship Type="http://schemas.openxmlformats.org/officeDocument/2006/relationships/image" Target="/ppt/media/image7.png" Id="R45fe6571820145ab" /><Relationship Type="http://schemas.openxmlformats.org/officeDocument/2006/relationships/notesSlide" Target="/ppt/notesSlides/notesSlide9.xml" Id="Rf7cc70f0c6a44f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ffeeffb6e4aaa" /><Relationship Type="http://schemas.openxmlformats.org/officeDocument/2006/relationships/notesSlide" Target="/ppt/notesSlides/notesSlide10.xml" Id="R1fd1f735b39243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2ccc3394744f6" /><Relationship Type="http://schemas.openxmlformats.org/officeDocument/2006/relationships/image" Target="/ppt/media/image8.png" Id="Rf1bb44d5b6c248fa" /><Relationship Type="http://schemas.openxmlformats.org/officeDocument/2006/relationships/notesSlide" Target="/ppt/notesSlides/notesSlide11.xml" Id="R81f94773093846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ac6657acf4893" /><Relationship Type="http://schemas.openxmlformats.org/officeDocument/2006/relationships/image" Target="/ppt/media/image9.png" Id="Re7673e051ea74b1d" /><Relationship Type="http://schemas.openxmlformats.org/officeDocument/2006/relationships/image" Target="/ppt/media/image10.png" Id="R160513f25098417f" /><Relationship Type="http://schemas.openxmlformats.org/officeDocument/2006/relationships/notesSlide" Target="/ppt/notesSlides/notesSlide12.xml" Id="R27e032301a5a4b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c6aa2d686401f" /><Relationship Type="http://schemas.openxmlformats.org/officeDocument/2006/relationships/image" Target="/ppt/media/image11.png" Id="Rafcbefa7cced44e2" /><Relationship Type="http://schemas.openxmlformats.org/officeDocument/2006/relationships/notesSlide" Target="/ppt/notesSlides/notesSlide13.xml" Id="R2cad9e3aab3e4e5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c1585f61a4b4b" /><Relationship Type="http://schemas.openxmlformats.org/officeDocument/2006/relationships/image" Target="/ppt/media/image12.png" Id="R385efee39d634017" /><Relationship Type="http://schemas.openxmlformats.org/officeDocument/2006/relationships/notesSlide" Target="/ppt/notesSlides/notesSlide14.xml" Id="Rda8455a5ec034b7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e65e36cde47fb" /><Relationship Type="http://schemas.openxmlformats.org/officeDocument/2006/relationships/image" Target="/ppt/media/image13.png" Id="R81b44577c09d4be0" /><Relationship Type="http://schemas.openxmlformats.org/officeDocument/2006/relationships/notesSlide" Target="/ppt/notesSlides/notesSlide15.xml" Id="Rc1b99a81ffcf42d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b88d371904e5a" /><Relationship Type="http://schemas.openxmlformats.org/officeDocument/2006/relationships/image" Target="/ppt/media/image14.png" Id="Rc509a2abb6c24b0a" /><Relationship Type="http://schemas.openxmlformats.org/officeDocument/2006/relationships/notesSlide" Target="/ppt/notesSlides/notesSlide16.xml" Id="R1e27004d26ac437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16875a4304a4b" /><Relationship Type="http://schemas.openxmlformats.org/officeDocument/2006/relationships/image" Target="/ppt/media/image15.png" Id="Rf1f42d0f71404eb5" /><Relationship Type="http://schemas.openxmlformats.org/officeDocument/2006/relationships/notesSlide" Target="/ppt/notesSlides/notesSlide17.xml" Id="R4bab763f0f54440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61bf2cd9647f9" /><Relationship Type="http://schemas.openxmlformats.org/officeDocument/2006/relationships/notesSlide" Target="/ppt/notesSlides/notesSlide18.xml" Id="R0956f9cae94749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487AB6-2785-4E0D-91A5-2C393275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AA368-9C73-4766-AB00-FCEFC837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143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E67"/>
          </a:solidFill>
          <a:ln xmlns:a="http://schemas.openxmlformats.org/drawingml/2006/main" w="0">
            <a:solidFill>
              <a:srgbClr val="075E6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B371E-D2B1-4FCF-ACB3-4091B389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E8E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E8E2"/>
                </a:solidFill>
                <a:latin typeface="Aptos"/>
                <a:ea typeface="Aptos"/>
                <a:cs typeface="Aptos"/>
              </a:rPr>
              <a:t>RESULTS SHOWCASE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8BC20-9256-46AF-9537-E8F18429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Acute Netrin-1 RNA-seq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A4FE8-0C77-417C-B5FE-32D87DAC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F4F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6F4F1"/>
                </a:solidFill>
                <a:latin typeface="Aptos"/>
                <a:ea typeface="Aptos"/>
                <a:cs typeface="Aptos"/>
              </a:rPr>
              <a:t>A 5-min transcriptional pulse that reverses by 15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C95CD-6E24-4773-9A26-ED81EF62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1DD16-965E-4F43-8958-326DB739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813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087F8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87F8C"/>
                </a:solidFill>
                <a:latin typeface="Aptos Display"/>
                <a:ea typeface="Aptos Display"/>
                <a:cs typeface="Aptos Display"/>
              </a:rPr>
              <a:t>QC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2DAAA-EDE1-4565-89F5-03AA554E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3380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interpretable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AD6B2-DE1A-478B-9E22-CD3CA106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FFF7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B9B06-928E-466C-AD57-1F7CD683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813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DEG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2B8F8-5BB6-47D4-ADF6-EA6562FF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acute anchors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B3AA2-1827-4D99-9E5B-64BBF945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8633B-7A62-4079-8CBB-B4D3B729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087F8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87F8C"/>
                </a:solidFill>
                <a:latin typeface="Aptos Display"/>
                <a:ea typeface="Aptos Display"/>
                <a:cs typeface="Aptos Display"/>
              </a:rPr>
              <a:t>LRT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C15C68-77A9-4CB9-980F-DD17B35A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time genes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4CAAE-C97E-48BE-84FD-2AF4E103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47F1E-9BF3-44EC-9D84-A51871A2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813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087F8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87F8C"/>
                </a:solidFill>
                <a:latin typeface="Aptos Display"/>
                <a:ea typeface="Aptos Display"/>
                <a:cs typeface="Aptos Display"/>
              </a:rPr>
              <a:t>GSEA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C6A90-D009-4F71-8354-5BE8E7A4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73380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reversal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1F61A-64E4-4C0A-935B-53039218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32 DEGs  |  19 LRT genes  |  313 GO BP terms  |  r = -0.991 pathway mirror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352F8-86AA-4686-B957-23B264F3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Re-designed from handmade.pptx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77B005-F6CE-4B10-ABEF-6856FA21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900569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1AEF29-7CAB-468C-8E85-FFC76974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EXPERIMENTAL CONTRASTS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548FE-E14A-47E7-BDA7-69148B55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result sequence follows onset, time-dependence, then reversal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8CC8D-98D4-4DA7-BE07-30C716F9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handmade analysis is reorganized around the biological question each contrast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FDF63-6A4D-4931-98C1-91D46F7E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FC0D3-3BC0-4B55-9819-F3631F42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6383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29B58-EF76-42A4-A18A-52CF3684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Vehicle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C0015-1D72-46BA-83E3-D7E5E0D2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PBS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3EA78-7D72-4381-9E23-E974754C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5908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1D50D-6E78-4653-B32E-520CC733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81250"/>
            <a:ext cx="16383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3F987-0895-4AEE-934F-61DA1E30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336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5E6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5E67"/>
                </a:solidFill>
                <a:latin typeface="Aptos"/>
                <a:ea typeface="Aptos"/>
                <a:cs typeface="Aptos"/>
              </a:rPr>
              <a:t>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D7522-63E7-4EA5-8BEC-84F71C99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194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acute Netrin-1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5D08D-7815-4BE3-82CC-FCCB5612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908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2A1A94-8D26-4010-AE53-6CDAF2E2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16383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B9400-C73B-4717-93A8-2CE9CDB1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336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15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140065-646C-420D-87AC-9CDA83D5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194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later Netrin-1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CE29E-03AE-4C75-AB5E-83B50504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908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8A6CF1-2831-4707-B772-EA570CAE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16383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87AA34-4128-49F9-9BD1-2FC04DD6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336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5E6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5E67"/>
                </a:solidFill>
                <a:latin typeface="Aptos"/>
                <a:ea typeface="Aptos"/>
                <a:cs typeface="Aptos"/>
              </a:rPr>
              <a:t>5v0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FC6D1-E27C-4F60-BC01-948A6FB0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194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onset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FFABCC-8881-43C9-9713-82DD26A1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5908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72E3BE-FC35-47C0-904A-83ED8177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16383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BEFB07-13FC-417B-AF9B-C05A0BFB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336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15v5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0BD1C3-6C74-4182-90F4-98F01610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194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reversal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1E468B-402E-42A4-B4D0-701C8DD7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5908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1FD635-3231-452D-AE40-68D3292A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81250"/>
            <a:ext cx="16383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C864CC-B4BE-4A8A-84AA-DE872A9C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336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5E6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5E67"/>
                </a:solidFill>
                <a:latin typeface="Aptos"/>
                <a:ea typeface="Aptos"/>
                <a:cs typeface="Aptos"/>
              </a:rPr>
              <a:t>15v0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3E3869-3EC7-496E-80F9-61D16A1B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194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endpoint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DDDEAF-EEEF-480E-A71C-37D1DC75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942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FFF335-40F6-4938-BFFC-95004549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81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Statistical backbone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DDC625-BC1B-4592-AF0C-459628B5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43400"/>
            <a:ext cx="628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DESeq2 model: ~ replicate + timepoint. Wald contrasts summarize pairwise effects; LRT tests whether a gene changes anywhere across the time course; GSEA ranks genes by Wald statistic.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AC35CA-0A57-474B-8920-E91A87DB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handmade methods slides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4E03C7-34F4-459F-AA4A-3763C374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034641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B29700-95B5-45E1-A7C3-55588B4F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QC AND FILTERING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4F4A0-FD64-4FBC-A896-5AD37C21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Sample depth is comparable after filtering to 14,161 genes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BA008-21CE-4291-BC1E-590CD8B5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condenses the handmade filtering and sequencing-depth slides into one result page.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D2D3A-A0DE-494A-879A-2A6208A5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2E212-EF2F-46B8-948F-BD5462B4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519112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FC32F-EF53-4012-A56D-6CBAB99C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519112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35ec830314947"/>
          <a:stretch xmlns:a="http://schemas.openxmlformats.org/drawingml/2006/main"/>
        </p:blipFill>
        <p:spPr>
          <a:xfrm xmlns:a="http://schemas.openxmlformats.org/drawingml/2006/main">
            <a:off x="1276350" y="2457450"/>
            <a:ext cx="3733800" cy="24003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d0518e9f446af"/>
          <a:stretch xmlns:a="http://schemas.openxmlformats.org/drawingml/2006/main"/>
        </p:blipFill>
        <p:spPr>
          <a:xfrm xmlns:a="http://schemas.openxmlformats.org/drawingml/2006/main">
            <a:off x="7162800" y="2457450"/>
            <a:ext cx="3733800" cy="24003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4473A-4917-42B9-BA6F-4DF1613B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14950"/>
            <a:ext cx="4476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2A972-166B-4E57-8F74-681197EF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67350"/>
            <a:ext cx="396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32,623 quantified genes -&gt; 14,161 genes for DE 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586238-A66B-4DBC-ACFE-41B427FE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results/01_QC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ACC04-D1ED-4387-A6B3-6AD3DDBC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080847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865FB7-FA28-4509-9987-7C154EB4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SAMPLE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51278-DE94-4160-8426-AA11C9F3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Replicate effects are visible, but corrected PCA reveals timepoint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92F74-B36D-4465-BEBF-1718A044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supports the model choice and the biological interpretation.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38322-5E56-402E-AA49-61E1E78D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BE0FA-1F54-4FB5-A7D0-3432F723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405765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5c5d04c8f4edf"/>
          <a:stretch xmlns:a="http://schemas.openxmlformats.org/drawingml/2006/main"/>
        </p:blipFill>
        <p:spPr>
          <a:xfrm xmlns:a="http://schemas.openxmlformats.org/drawingml/2006/main">
            <a:off x="781050" y="2079171"/>
            <a:ext cx="3905250" cy="334735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46FC4-7E90-4D2A-B1CB-69763625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5629275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7cc80dc8b427b"/>
          <a:stretch xmlns:a="http://schemas.openxmlformats.org/drawingml/2006/main"/>
        </p:blipFill>
        <p:spPr>
          <a:xfrm xmlns:a="http://schemas.openxmlformats.org/drawingml/2006/main">
            <a:off x="5390717" y="1790700"/>
            <a:ext cx="5325341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078C5-C632-4A61-AD3E-EC17C1E6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000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AF406-9D63-491E-9B39-B08E98D1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27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Replicate was included in the DESeq2 model; batch correction was used only for PCA visualization.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F097D-46A0-4F80-812B-BF285515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results/01_QC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ABD0B-F9EF-4F1F-AA66-2F645661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65858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EDE745-8559-40DB-A791-F2EF4E6F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CULTURE COMPOSITION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DC5D1-40B2-4093-8D26-2D244E78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Marker expression supports neuron-dominant, composition-stable cultures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9BA22-BEC9-4878-AF7C-2A370958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transcriptomic response is not explained by a visible cell-composition shift.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8186D-650C-4B9E-83C4-DFC8527F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ED00D-C608-4035-AE11-AA210817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7581900" cy="41529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7f9961ab34cb9"/>
          <a:stretch xmlns:a="http://schemas.openxmlformats.org/drawingml/2006/main"/>
        </p:blipFill>
        <p:spPr>
          <a:xfrm xmlns:a="http://schemas.openxmlformats.org/drawingml/2006/main">
            <a:off x="2628900" y="1943100"/>
            <a:ext cx="400050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34D4D-329F-423C-BFC4-ECF73F7F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2095500" cy="23431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85D0C-C2A6-4C02-841B-31DDECAE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Key readout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DB4B5-1BC7-4199-A604-B84CA6CB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71850"/>
            <a:ext cx="152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Neuronal markers dominate.</a:t>
            </a:r>
          </a:p>
          <a:p xmlns:a="http://schemas.openxmlformats.org/drawingml/2006/main">
            <a:pPr algn="l">
              <a:defRPr sz="1163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Glial/endothelial markers remain low.</a:t>
            </a:r>
          </a:p>
          <a:p xmlns:a="http://schemas.openxmlformats.org/drawingml/2006/main">
            <a:pPr algn="l">
              <a:defRPr sz="1163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Conditions are nearly overlapping.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79526-DAA6-4956-8E89-3E237051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results/02_composition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CF392-9EBD-473B-BCEA-2BB151B6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612905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A6F589-7689-4885-9970-AA4CECF9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DEG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C7247-C73C-43B7-AEF1-4BE58512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largest single-gene response occurs at 5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9C278-BEB4-4DA5-B8AA-CBF03668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DEG layer gives acute anchors, while LRT and GSEA provide the temporal and pathway layers.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3401E-6111-4A5E-9B0D-ADBD072D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A2EEF-A2CC-4EE1-A471-61F5C8E1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F7068-0502-4483-9D55-94797F00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87F8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87F8C"/>
                </a:solidFill>
                <a:latin typeface="Aptos Display"/>
                <a:ea typeface="Aptos Display"/>
                <a:cs typeface="Aptos Display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20F23-ACDF-4937-B94D-473FC703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5v0 relaxed DEGs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5EC23-F0BA-48E6-A6A4-82DB13A0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89D09-9D68-4C58-9C12-53F5CD5B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6240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6EFC4-E5B7-416D-8599-53C32AD5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958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5v0 strict DEGs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D38E1-4478-4C28-A79C-7643516A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09800"/>
            <a:ext cx="809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033A0-2791-413A-AFF0-5FEF02D7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09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EC09D-04AC-4B48-9256-AA08CE5E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209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776B3-D26C-4C1B-B3F4-333C36AC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09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DE152-123C-435C-96D3-B7BD4D72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09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C46552-DC98-4074-BC96-14A35764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622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Contrast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4D48F-E32F-423F-9006-C132CEEB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1495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EBA18-63B4-4324-8694-F7FF672C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362200"/>
            <a:ext cx="1171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Relaxed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A40E27-0CB3-4898-A611-35583F9A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Strict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3602A4-4785-47CE-A5F3-08688818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Direction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F01A04-879A-4B6B-8881-AA3CBF05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24150"/>
            <a:ext cx="809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A38356-3677-46B9-AEE0-9C03A357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185CB9-9A1A-45A1-B400-719DBD44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724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BE1FA6-BEC6-4BB7-97D5-B57E24AC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24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A51FE7-9929-4F93-BE8A-04C76F65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24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2F4E6A-FABE-4067-A0D0-40A5A7EC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65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5v0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595310-C076-436F-8579-677ABDF6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76550"/>
            <a:ext cx="1495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onset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928BD8-E34C-4185-BCBF-0564CDBC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876550"/>
            <a:ext cx="1171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4A9E19-4C5D-4039-9CD7-0506CA64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765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776807-6B9D-4120-823E-B966A118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14 up / 18 down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3802A1-CD02-49C7-8CCD-48EACA75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38500"/>
            <a:ext cx="809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9A79F0-2683-4CA0-BF6A-4FD0F154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385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3E023A-DAA2-45ED-9FDE-6053D935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2385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6A5AF1-747B-46ED-B148-3C6565C9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385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9A9B99-2E47-4B0B-83C3-A9337E3B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068F55-411F-4F47-BB5C-2C3BB7AA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909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15v5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B0C8B8-83D3-4248-A002-CDC2FE92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90900"/>
            <a:ext cx="1495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reversal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4F0A8F-CFDD-4969-ADCD-51988E2E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390900"/>
            <a:ext cx="1171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6D153A-3307-4F0B-A4F7-F283BBB1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909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30A4F6-310C-4973-800E-A4A69320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909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6 up / 0 down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6BDD21-868F-4445-AB3C-D9C8ECED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52850"/>
            <a:ext cx="809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95400D-770F-446D-A124-F3DF9940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528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04CDAF-70AD-4051-97FE-6BD3DF59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7528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E349D0-987E-43FD-B3B3-3AB671CB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528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D6239C-D9A5-4D3C-91EF-62C8C1F9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528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550B52A-638F-4D16-B848-DA71320D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05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15v0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69AD8C-3283-460D-8FFB-908EF6E8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05250"/>
            <a:ext cx="1495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endpoint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AE0DAD-7E83-4857-A3BA-82A58569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905250"/>
            <a:ext cx="1171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89A13E-D2B1-4502-8C36-BF07B622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052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AB9718-BD3A-405C-B87A-3C945FDB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0 up / 1 down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408AA8-94F4-4045-B30A-2F06595D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67200"/>
            <a:ext cx="809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A69CD0A-FB96-4FE7-8242-1EDD2D10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F81CB5-AA93-4BD7-B220-B7A60B82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2672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02E1925-60A7-48C3-91B4-50114A51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672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07F1B40-4FD2-477B-BFFA-2AFB51B7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3929951-8A8A-4ADB-88B6-5441A5E1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196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LRT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1D1C9C1-3938-45C9-A4B0-6548F930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19600"/>
            <a:ext cx="1495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time effect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BE42E21-F554-44F2-BDCB-BEA60DA0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419600"/>
            <a:ext cx="1171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1BACE7E-D508-49A5-9DF4-9C6F8469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196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D813556-797F-46CA-8F3E-E30A4B49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196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time-varying genes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FD6F753-ED68-45CE-849D-472DF468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DEG CSV files and handmade slide 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99CD8DA-7845-4C07-84AA-37A64297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709794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526F7C-EC12-4A7E-A657-E6942D06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0">
            <a:solidFill>
              <a:srgbClr val="EEF3F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168D0-400E-463D-B1C5-D294C6DB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5-MIN DIFFERENTIAL EXPRESSION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77319-A536-47EE-9B2B-4BC1C9CD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 small DEG set captures interpretable acute response genes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59554-1FE4-4BFE-AD6C-D280E8FB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391400" cy="445770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56e4e54a84d8d"/>
          <a:stretch xmlns:a="http://schemas.openxmlformats.org/drawingml/2006/main"/>
        </p:blipFill>
        <p:spPr>
          <a:xfrm xmlns:a="http://schemas.openxmlformats.org/drawingml/2006/main">
            <a:off x="1537607" y="1695450"/>
            <a:ext cx="5535386" cy="4305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F4296-D392-4D6A-BCF7-1AC7A1CD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476500" cy="3143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48910-5EC3-45B4-B869-C339DC3E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145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Gene anchors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55C23-D4D7-4EB6-BC4A-F1D18C9A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86050"/>
            <a:ext cx="19431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Fos: IEG suppression</a:t>
            </a:r>
          </a:p>
          <a:p xmlns:a="http://schemas.openxmlformats.org/drawingml/2006/main">
            <a:pPr algn="l">
              <a:defRPr sz="12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Rock1: cytoskeleton</a:t>
            </a:r>
          </a:p>
          <a:p xmlns:a="http://schemas.openxmlformats.org/drawingml/2006/main">
            <a:pPr algn="l">
              <a:defRPr sz="12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Srsf5/Snrnp70: splicing</a:t>
            </a:r>
          </a:p>
          <a:p xmlns:a="http://schemas.openxmlformats.org/drawingml/2006/main">
            <a:pPr algn="l">
              <a:defRPr sz="12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Cntn2: axon guidance</a:t>
            </a:r>
          </a:p>
          <a:p xmlns:a="http://schemas.openxmlformats.org/drawingml/2006/main">
            <a:pPr algn="l">
              <a:defRPr sz="12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Nos1/Ryr3: NO-calcium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81CAD-4E60-45A9-8F32-53536115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results/03_DEG/04_volcano_5v0_v6.png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22EB0-7050-4E48-A50B-AEBDF630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069596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8580D9-D80B-4900-B920-0186D9A3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DEG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F261C-0C9F-4B44-BDB0-D005BD11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Representative 5-min DEGs split into suppressed and activated modules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12467-09F4-4449-B9F0-3C2CF853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makes the biological direction clearer than a plain gene 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C8F8A-8A33-4CD0-9E40-5E5BD723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10BE8-D335-4778-A7A7-8EE54524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71700"/>
            <a:ext cx="4476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3EB4D-EFCA-4FA7-8331-2FAC7873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5745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Suppressed at 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C11F3-0415-408B-8DB7-478C0386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09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Fos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4F5A2-6F5F-4D74-B1D4-05665070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009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-2.35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92FFA-265B-4587-9BB7-3D4C8A38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099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IEG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E2CC2-2B2B-465E-86D6-58A0FC8F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Rock1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362A1-77CD-42CD-AD99-92383664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4671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-0.43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163ED-D8AB-4DFA-B027-09031F35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671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cytoskeleton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B63E5-01D0-40A7-9568-8492813D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24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Srsf5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E8E6D0-13EF-4987-89DD-C11F9416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9243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-0.31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A6F40-E441-40AF-9A82-86D43B1D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9243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splicing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476885-4267-44F1-B392-5009F8D7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Snrnp70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20517D-A4B7-4AEB-AC7B-3D6A83AD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381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-0.27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37FD4C-D7D5-4C15-A64C-4D476FFC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381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splicing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F91EAC-BBCB-453E-A9B5-C92C211D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71700"/>
            <a:ext cx="4476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B736BF-B665-4244-95AE-AF55661F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5745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Activated at 5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3E3292-0C4A-44EF-80D3-98E5D381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09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Cntn2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20E05C-D421-4A33-9AD8-56ECEC2B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009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+0.25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97460F-53AE-4B1B-9AF1-5A66D4B0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099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axon guidance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0E7C32-99B2-4899-A233-83B4C4CC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67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Nos1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F060BA-E5A2-48C0-ABF0-82210FC3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4671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+0.32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FB66E3-C2E8-4688-A9E5-165D04B9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671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NO-calcium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4EE547-3EB8-4C32-995F-89F22866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24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Ryr3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9E3E07-ED57-4BD5-97DD-1274353C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9243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+0.47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E81051-B4A3-4725-8D7B-5E114724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243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calcium release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83A2D3-4C77-4D15-9612-F3BECE4A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81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Tln2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D3D7DB-F54B-4255-95DA-DDF0F888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381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+0.39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1A1DDF-B535-498A-B5C9-01256AD6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81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adhesion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11211B-C944-464C-AD52-CAB97518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DEG_5v0_ALL.csv and handmade slide 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0A5C85-DCC6-4F78-9A33-560C62E7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511317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540A80-4823-4293-A84D-B1243313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DEG HEATMAP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F4092-0C5E-4395-8F51-2E8F378A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5-min DEG set forms a coherent sample-level expression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22A49-04CB-4298-AD99-381AAA31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heatmap supports a coordinated acute response rather than isolated outliers.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5E18D-28B9-4360-BB1A-B93DC9EF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DB14A-1BA2-45DC-B69D-62CEFFAE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90700"/>
            <a:ext cx="634365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e6571820145ab"/>
          <a:stretch xmlns:a="http://schemas.openxmlformats.org/drawingml/2006/main"/>
        </p:blipFill>
        <p:spPr>
          <a:xfrm xmlns:a="http://schemas.openxmlformats.org/drawingml/2006/main">
            <a:off x="3339913" y="1866900"/>
            <a:ext cx="3854824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8AE2E-6241-413D-AA5B-DD6AF65F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95600"/>
            <a:ext cx="20002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7D722-B671-41D7-8210-5DBD7AFC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6230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009A2-DBF7-45E7-A123-A7865B0B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3855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The response is distributed across the selected DEG set and visible at sample level.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F8CB3-E766-43AA-B45F-2E431FAD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results/03_DEG/06_DEG_heatmap_5v0_v4.png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3B55B-8CD0-4961-95DD-0971190C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854757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220993-AF96-4D73-B7BD-540C0E92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LRT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6E203-4C3D-4A90-AF64-7995C44D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LRT tests time-dependence rather than a single pairwise contrast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20DA7-2766-4955-9790-FFC8754F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turns the handmade LRT title slide into a scientifically explicit result slide.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D3C89-6327-4A00-B5E3-389EB507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AF60E-6CD8-4105-A1EB-24F08338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43150"/>
            <a:ext cx="2857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2CAC1-523E-4D46-900E-1E1F0B5E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289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Full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283ED-2E28-4CF1-A8BA-15F5C347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~ replicate + timepoint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0A34C-D6DD-405A-8563-B2CBDECE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2857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A3652-8600-404C-AEB8-7C59053F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289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Reduced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64080-3F5F-40B5-832A-75E99B12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528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~ replicate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684C2-AF91-428A-844E-8070AEF4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43150"/>
            <a:ext cx="2857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27E6D-AF4E-4101-9E10-0D38C4A9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289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Trajectory y-axis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A80F1-A034-484C-A88B-9705BD96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3850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Z-score of VST-normalized expression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6967D6-B57E-48AC-B12F-68760170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029200"/>
            <a:ext cx="1809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7B664-6586-4D99-B443-3A72339D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2006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19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EA5A2-54DE-49DA-929D-621FC0EA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7340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time-varying genes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D8A0E4-3E88-4913-804A-FEAB53DB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DESeq2 LRT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AE391-C96B-4CB1-BF78-ECF631D9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832298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299903-545D-4F52-A747-C0D4280C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LRT TRAJECTORIES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1A618-4281-4638-AFE4-5EE1BE08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Nineteen time-varying genes show coordinated 5-min deviation and recovery/rebound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7AEE1-5CEC-4D2C-AED9-FB4AD8FB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Values are scaled per gene to emphasize temporal shape.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61C72-6955-4CC4-A7B9-3EB44355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8F3A3-AE98-4936-B91F-8F2E7F89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85344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b44d5b6c248fa"/>
          <a:stretch xmlns:a="http://schemas.openxmlformats.org/drawingml/2006/main"/>
        </p:blipFill>
        <p:spPr>
          <a:xfrm xmlns:a="http://schemas.openxmlformats.org/drawingml/2006/main">
            <a:off x="1759527" y="1809750"/>
            <a:ext cx="6234545" cy="428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B57CB-4B2C-4E2C-A362-75DEDB88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33650"/>
            <a:ext cx="1809750" cy="23241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5AA54-BDBE-4CF7-9583-42D17064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194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Readout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6F511-B23E-4CB7-AEF5-E39D95CE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71850"/>
            <a:ext cx="135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Rows are genes.</a:t>
            </a:r>
          </a:p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Pulse-like profiles dominate.</a:t>
            </a:r>
          </a:p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Fos/Npas4 support IEG suppression.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ED600-FA51-43C2-81F9-8887F5B0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results/objects/LRT_19_trajectory_VSTzscore_v1.png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F7BD0-71F8-456D-93E1-1E90B275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361537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E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8DBD10-F598-49C4-95E1-C4AE6BEA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GENE-LEVEL DYNAMICS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DE5D9-4F7C-4965-96C5-7F8FF05C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Representative trajectories show pulse-like behavior and ROCK1 specificity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2BAEF-ECB5-4292-BE58-A230F399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537210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73e051ea74b1d"/>
          <a:stretch xmlns:a="http://schemas.openxmlformats.org/drawingml/2006/main"/>
        </p:blipFill>
        <p:spPr>
          <a:xfrm xmlns:a="http://schemas.openxmlformats.org/drawingml/2006/main">
            <a:off x="770659" y="1866900"/>
            <a:ext cx="5126182" cy="3524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7743B-86FE-4EF2-9C3F-7F74437B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491490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513f25098417f"/>
          <a:stretch xmlns:a="http://schemas.openxmlformats.org/drawingml/2006/main"/>
        </p:blipFill>
        <p:spPr>
          <a:xfrm xmlns:a="http://schemas.openxmlformats.org/drawingml/2006/main">
            <a:off x="6572250" y="1991916"/>
            <a:ext cx="4762500" cy="32742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265A8-407B-45D9-85D8-336371CA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715000"/>
            <a:ext cx="7143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3E8B3-EAEE-4C98-87A1-3657D803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819775"/>
            <a:ext cx="662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Rock1 is down at 5 min; Rock2 remains statistically unchanged.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A4C97-6D33-4347-BAF8-111E1312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results/03_DEG trajectory figures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59671-01CA-40FA-BC9C-329D07A8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681970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3AE0D3-CA58-413A-A944-A3289586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5-MIN GSEA: GO 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5A83A-5452-4D95-9717-C4082986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Netrin-1 activates neuron projection and axon guidance programs within 5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BA5AC-B9C9-40D8-96F9-6D3A090F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Pathway aggregation reveals a coordinated biological program.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97A08-ED8F-4AC6-906A-AEE3BD92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B7346-EFA9-4DAB-96F0-A8446231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767715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befa7cced44e2"/>
          <a:stretch xmlns:a="http://schemas.openxmlformats.org/drawingml/2006/main"/>
        </p:blipFill>
        <p:spPr>
          <a:xfrm xmlns:a="http://schemas.openxmlformats.org/drawingml/2006/main">
            <a:off x="1964531" y="1981200"/>
            <a:ext cx="5119688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A07F9-B8D5-4D12-A6B6-E1F71B67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2410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55D2A-F2CD-414B-9102-BD58674F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95550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313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83D94-5FCC-4B81-AA38-755A74E9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significant GO BP terms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090B1-8ECE-4359-A23D-C03DAEFC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8145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606B5-E642-49EB-A36F-92DDF6BC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52900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87F8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87F8C"/>
                </a:solidFill>
                <a:latin typeface="Aptos Display"/>
                <a:ea typeface="Aptos Display"/>
                <a:cs typeface="Aptos Display"/>
              </a:rPr>
              <a:t>285 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44F8FB-B550-413E-BD40-25567982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863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positive NES terms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007FC2-CEE4-4BDF-9EC1-59F4B2B9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results/04_GSEA/GSEA_GO_BP_5v0.csv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5BE6ED-B225-4E3E-A264-A2D3D2CE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894685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F57650-B91F-4575-9818-D576677A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5-MIN GSEA: KEGG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0BBD9-8A1D-453B-820E-B9F42F68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Axon guidance is the top KEGG pathway in the acute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09916-674C-473F-B54B-40992AE4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connects the RNA-seq response to Netrin-1's canonical biology.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F82DB-E27D-452D-A0B5-17EBBD2B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EA084-702A-4942-B777-F81700CE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3ED1A-9640-45E1-93F3-BB4AC671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Top pathway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EDCFB-EE56-4B4B-BE53-C1E0B97B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828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Axon guidance</a:t>
            </a:r>
          </a:p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NES 2.16</a:t>
            </a:r>
          </a:p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BH-adjusted p = 4.1e-7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8CFC8-C4FE-402F-86B9-92BAAD8B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90700"/>
            <a:ext cx="739140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efee39d634017"/>
          <a:stretch xmlns:a="http://schemas.openxmlformats.org/drawingml/2006/main"/>
        </p:blipFill>
        <p:spPr>
          <a:xfrm xmlns:a="http://schemas.openxmlformats.org/drawingml/2006/main">
            <a:off x="4054475" y="1866900"/>
            <a:ext cx="6826250" cy="4095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B34D6-E7A1-4684-B8DB-E0A4E5E7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results/04_GSEA/GSEA_KEGG_5v0.csv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4BD57-8629-4230-A000-A294573C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427508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E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0A4404-8311-4F78-865E-6A80BA61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15v5 REVERSAL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F9FD4-4DEC-4F1A-84F9-0589CF25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By 15 min, the 5-min GO BP program is directionally flipped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183DB-8802-4020-8F16-5DFBFDF8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767715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44577c09d4be0"/>
          <a:stretch xmlns:a="http://schemas.openxmlformats.org/drawingml/2006/main"/>
        </p:blipFill>
        <p:spPr>
          <a:xfrm xmlns:a="http://schemas.openxmlformats.org/drawingml/2006/main">
            <a:off x="2019300" y="1752600"/>
            <a:ext cx="5238750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E68AF-D874-4683-9668-2CBD706A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7D087-D8AC-45E6-A7A8-DE65A21D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57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295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8F16C-70D6-42CF-A1BB-6F593B6F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05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significant terms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E164D-0651-4E6E-B66B-A752CFAE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7F1FB-D42D-4C63-B36A-770C2692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67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264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D8A92-32D7-43E7-912A-EE862D18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149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negative NES terms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64307-6467-42E9-9AF1-2343E57C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results/04_GSEA/GSEA_GO_BP_15v5.csv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993BC-BF8C-4832-A963-18F4C54E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168268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CEF94C-2509-422D-BA6B-BF0C4F5B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35754-B2C5-48AC-A743-C8FB2E7A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E8E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E8E2"/>
                </a:solidFill>
                <a:latin typeface="Aptos"/>
                <a:ea typeface="Aptos"/>
                <a:cs typeface="Aptos"/>
              </a:rPr>
              <a:t>PATHWAY 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86227-2028-4EEA-B74C-F69311FB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Shared pathways show near-perfect reversal between 5v0 and 15v5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54C3A-9D53-470A-8B26-2675BBC2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7677150" cy="4362450"/>
          </a:xfrm>
          <a:prstGeom xmlns:a="http://schemas.openxmlformats.org/drawingml/2006/main" prst="roundRect">
            <a:avLst>
              <a:gd name="adj" fmla="val 17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9a2abb6c24b0a"/>
          <a:stretch xmlns:a="http://schemas.openxmlformats.org/drawingml/2006/main"/>
        </p:blipFill>
        <p:spPr>
          <a:xfrm xmlns:a="http://schemas.openxmlformats.org/drawingml/2006/main">
            <a:off x="2118122" y="1790700"/>
            <a:ext cx="4736306" cy="4210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2BC7C-1146-4D78-8348-495159FA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2190750" cy="23812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0">
            <a:solidFill>
              <a:srgbClr val="E3F4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6E2A4-D849-4309-AACA-0EE1931D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8605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75E6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5E67"/>
                </a:solidFill>
                <a:latin typeface="Aptos Display"/>
                <a:ea typeface="Aptos Display"/>
                <a:cs typeface="Aptos Display"/>
              </a:rPr>
              <a:t>603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AFBE4-0114-4D81-8698-0707D1A8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95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shared pathways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E98BF-17B5-428C-B87D-E5479945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2905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NES correlation</a:t>
            </a:r>
          </a:p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 = -0.991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25ABF-9B71-4C5F-ACC7-B199B330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results/04_GSEA/13_GSEA_mirror_scatter_5v0_vs_15v5.png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71B63-986F-4F6B-AA59-18377FB1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146066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E8216A-7C55-4100-950C-8503480C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15V0 ENDPOINT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C33F5-5D9C-4AFD-8E45-BD152586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15v0 supports return toward baseline, with a mild mitochondrial KEGG signal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8D6FD-C16B-410F-B011-D1BBB40F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slide keeps the conclusion scientifically careful.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1D8F4-6FA0-4977-AC65-9E5BEB2C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6274A-87EF-4D8B-BBDB-02E165F5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28800"/>
            <a:ext cx="72009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42d0f71404eb5"/>
          <a:stretch xmlns:a="http://schemas.openxmlformats.org/drawingml/2006/main"/>
        </p:blipFill>
        <p:spPr>
          <a:xfrm xmlns:a="http://schemas.openxmlformats.org/drawingml/2006/main">
            <a:off x="952500" y="2347913"/>
            <a:ext cx="7048500" cy="3171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82223-5108-4A74-BB11-D46949C9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381250" cy="25908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F57F0-CD8C-43D9-9EE5-F301C137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Caveat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0B2EF-1E40-471D-A2F1-C1B1EDA8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00400"/>
            <a:ext cx="1809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GO BP: 0 significant terms</a:t>
            </a:r>
          </a:p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DEG: 1 significant gene</a:t>
            </a:r>
          </a:p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KEGG: OXPHOS/mitochondrial signal</a:t>
            </a:r>
          </a:p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Disease labels reflect shared mitochondrial genes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E443A-82EA-424E-A944-15E9B3B1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GSEA_GO_BP_15v0.csv and GSEA_KEGG_15v0.csv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CD17F-22B9-4BBA-906F-ABAE19DF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766863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B4F723-0118-470F-9D3F-A69DD0A5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INTEGRATED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6F5BE-7902-4F72-B733-023B53E4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 brief Netrin-1 stimulus produces a reversible transcriptional program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6C1F4-47BA-483B-8CE2-6FF5B4E4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result is strongest when DEG, LRT and GSEA are read as one chain of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B2289-529C-440E-A8CA-42ABB28A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B83EE-C1D5-4C39-9CB8-A3D69931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2667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EF36D-E5D9-488A-BB9F-50150B3E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33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38F02-9B57-4EE8-8B71-73D24058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942A0-7843-46E5-9960-2BB9403E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527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Acute cue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2D6A6-A533-427F-9370-4C2C9DCC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62300"/>
            <a:ext cx="198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Netrin-1 stimulation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9A8CD-20C5-4E80-9325-0CF9A421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146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CD4EE-EF91-4EE2-A713-E777A1D1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2667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DC260-8F4A-4E1A-B7D0-BAE0395A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33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C29D5-B362-4F92-A7CF-3E9C103C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F6B1F-BD92-4E96-BB40-6F20E931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5527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5E6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5E67"/>
                </a:solidFill>
                <a:latin typeface="Aptos"/>
                <a:ea typeface="Aptos"/>
                <a:cs typeface="Aptos"/>
              </a:rPr>
              <a:t>5-min pulse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E3CE0-3134-45F3-BEA8-C138CE7F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162300"/>
            <a:ext cx="198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guidance/projection up</a:t>
            </a:r>
          </a:p>
          <a:p xmlns:a="http://schemas.openxmlformats.org/drawingml/2006/main">
            <a:pPr algn="ctr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RNA processing down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DE09AD-12A6-4911-9736-787D6C16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9146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E1436D-BF30-4EFD-8974-60CC5CD0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2667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3849E8-6D9B-49F6-B29B-07C49C73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33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BBB32-3694-4B04-8919-FE2A2A88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42509F-522F-4C46-913F-2C94E9DB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527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15-min reversal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9CF667-1069-48D5-9591-A0A87413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62300"/>
            <a:ext cx="198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pathway mirror r = -0.991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257519-204D-445F-85FE-A4BA7130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48250"/>
            <a:ext cx="8915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EA0BF6-2E4C-4C8F-A0A5-1B843445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3875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Take-home: the 5-min response is modest at the DEG level but strongly coordinated at the pathway level, and it is rapidly reversed by 15 min.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822405-E966-45E2-A77A-1AB8BEF4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Integrated from handmade content and local result files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57DFA8-F4DA-465C-9F6E-5CC0A684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46939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2026-06-16T23:31:57.8180000Z</dcterms:created>
  <dcterms:modified xsi:type="dcterms:W3CDTF">2026-06-16T23:31:57.8190000Z</dcterms:modified>
</coreProperties>
</file>