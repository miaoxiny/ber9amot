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1fdd19de64536" /><Relationship Type="http://schemas.openxmlformats.org/officeDocument/2006/relationships/extended-properties" Target="/docProps/app.xml" Id="R2db322ec7eac4cd3" /><Relationship Type="http://schemas.openxmlformats.org/officeDocument/2006/relationships/officeDocument" Target="/ppt/presentation.xml" Id="R7b017e2aaf54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32a2cea42a484b"/>
  </p:sldMasterIdLst>
  <p:notesMasterIdLst>
    <p:notesMasterId xmlns:r="http://schemas.openxmlformats.org/officeDocument/2006/relationships" r:id="Raf81505487a54777"/>
  </p:notesMasterIdLst>
  <p:sldIdLst>
    <p:sldId xmlns:r="http://schemas.openxmlformats.org/officeDocument/2006/relationships" id="256" r:id="R3e22d123b0c94d71"/>
    <p:sldId xmlns:r="http://schemas.openxmlformats.org/officeDocument/2006/relationships" id="257" r:id="R513de5d07a7c4bd2"/>
    <p:sldId xmlns:r="http://schemas.openxmlformats.org/officeDocument/2006/relationships" id="258" r:id="Rd82bb1abaaa3436d"/>
    <p:sldId xmlns:r="http://schemas.openxmlformats.org/officeDocument/2006/relationships" id="259" r:id="R9e35fb27b8324fb7"/>
    <p:sldId xmlns:r="http://schemas.openxmlformats.org/officeDocument/2006/relationships" id="260" r:id="R38ffb2c6f7294ab0"/>
    <p:sldId xmlns:r="http://schemas.openxmlformats.org/officeDocument/2006/relationships" id="261" r:id="R12e0c719d0c2409b"/>
    <p:sldId xmlns:r="http://schemas.openxmlformats.org/officeDocument/2006/relationships" id="262" r:id="Rbcb4fd53e6294b15"/>
    <p:sldId xmlns:r="http://schemas.openxmlformats.org/officeDocument/2006/relationships" id="263" r:id="Rfb2ff777a49a4002"/>
    <p:sldId xmlns:r="http://schemas.openxmlformats.org/officeDocument/2006/relationships" id="264" r:id="Ra2be090c751e4e8f"/>
    <p:sldId xmlns:r="http://schemas.openxmlformats.org/officeDocument/2006/relationships" id="265" r:id="R07382ac518ae4700"/>
    <p:sldId xmlns:r="http://schemas.openxmlformats.org/officeDocument/2006/relationships" id="266" r:id="Rb9585668acce4951"/>
    <p:sldId xmlns:r="http://schemas.openxmlformats.org/officeDocument/2006/relationships" id="267" r:id="Rbcfe4796b8c546be"/>
    <p:sldId xmlns:r="http://schemas.openxmlformats.org/officeDocument/2006/relationships" id="268" r:id="R4f78846385cc452f"/>
    <p:sldId xmlns:r="http://schemas.openxmlformats.org/officeDocument/2006/relationships" id="269" r:id="Rf816d31f369d4d5d"/>
    <p:sldId xmlns:r="http://schemas.openxmlformats.org/officeDocument/2006/relationships" id="270" r:id="R3ad68c4eede94402"/>
    <p:sldId xmlns:r="http://schemas.openxmlformats.org/officeDocument/2006/relationships" id="271" r:id="R97498a4023a84473"/>
    <p:sldId xmlns:r="http://schemas.openxmlformats.org/officeDocument/2006/relationships" id="272" r:id="R28e5a6b28f444a55"/>
    <p:sldId xmlns:r="http://schemas.openxmlformats.org/officeDocument/2006/relationships" id="273" r:id="R707683a71019465c"/>
    <p:sldId xmlns:r="http://schemas.openxmlformats.org/officeDocument/2006/relationships" id="274" r:id="R90f65b44c5be4d4c"/>
    <p:sldId xmlns:r="http://schemas.openxmlformats.org/officeDocument/2006/relationships" id="275" r:id="R13e6c6e8d4b54e5a"/>
    <p:sldId xmlns:r="http://schemas.openxmlformats.org/officeDocument/2006/relationships" id="276" r:id="R89ebfc55de6b4791"/>
    <p:sldId xmlns:r="http://schemas.openxmlformats.org/officeDocument/2006/relationships" id="277" r:id="Rcb6578ac85b84baa"/>
    <p:sldId xmlns:r="http://schemas.openxmlformats.org/officeDocument/2006/relationships" id="278" r:id="Rb2395b3659de432f"/>
    <p:sldId xmlns:r="http://schemas.openxmlformats.org/officeDocument/2006/relationships" id="279" r:id="R45e91072d0d040ef"/>
    <p:sldId xmlns:r="http://schemas.openxmlformats.org/officeDocument/2006/relationships" id="280" r:id="R0af1799775bd4c31"/>
    <p:sldId xmlns:r="http://schemas.openxmlformats.org/officeDocument/2006/relationships" id="281" r:id="Rb7e492fea0b8430c"/>
    <p:sldId xmlns:r="http://schemas.openxmlformats.org/officeDocument/2006/relationships" id="282" r:id="R76b29b98c1994e89"/>
    <p:sldId xmlns:r="http://schemas.openxmlformats.org/officeDocument/2006/relationships" id="283" r:id="R19a699dc53874d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614d365a047d9" /><Relationship Type="http://schemas.openxmlformats.org/officeDocument/2006/relationships/slideMaster" Target="/ppt/slideMasters/slideMaster1.xml" Id="Ree32a2cea42a484b" /><Relationship Type="http://schemas.openxmlformats.org/officeDocument/2006/relationships/notesMaster" Target="/ppt/notesMasters/notesMaster1.xml" Id="Raf81505487a54777" /><Relationship Type="http://schemas.openxmlformats.org/officeDocument/2006/relationships/presProps" Target="/ppt/presProps.xml" Id="R37ee340980624cfc" /><Relationship Type="http://schemas.openxmlformats.org/officeDocument/2006/relationships/tableStyles" Target="/ppt/tableStyles.xml" Id="Rda5faa5d1a524341" /><Relationship Type="http://schemas.openxmlformats.org/officeDocument/2006/relationships/slide" Target="/ppt/slides/slide1.xml" Id="R3e22d123b0c94d71" /><Relationship Type="http://schemas.openxmlformats.org/officeDocument/2006/relationships/slide" Target="/ppt/slides/slide2.xml" Id="R513de5d07a7c4bd2" /><Relationship Type="http://schemas.openxmlformats.org/officeDocument/2006/relationships/slide" Target="/ppt/slides/slide3.xml" Id="Rd82bb1abaaa3436d" /><Relationship Type="http://schemas.openxmlformats.org/officeDocument/2006/relationships/slide" Target="/ppt/slides/slide4.xml" Id="R9e35fb27b8324fb7" /><Relationship Type="http://schemas.openxmlformats.org/officeDocument/2006/relationships/slide" Target="/ppt/slides/slide5.xml" Id="R38ffb2c6f7294ab0" /><Relationship Type="http://schemas.openxmlformats.org/officeDocument/2006/relationships/slide" Target="/ppt/slides/slide6.xml" Id="R12e0c719d0c2409b" /><Relationship Type="http://schemas.openxmlformats.org/officeDocument/2006/relationships/slide" Target="/ppt/slides/slide7.xml" Id="Rbcb4fd53e6294b15" /><Relationship Type="http://schemas.openxmlformats.org/officeDocument/2006/relationships/slide" Target="/ppt/slides/slide8.xml" Id="Rfb2ff777a49a4002" /><Relationship Type="http://schemas.openxmlformats.org/officeDocument/2006/relationships/slide" Target="/ppt/slides/slide9.xml" Id="Ra2be090c751e4e8f" /><Relationship Type="http://schemas.openxmlformats.org/officeDocument/2006/relationships/slide" Target="/ppt/slides/slide10.xml" Id="R07382ac518ae4700" /><Relationship Type="http://schemas.openxmlformats.org/officeDocument/2006/relationships/slide" Target="/ppt/slides/slide11.xml" Id="Rb9585668acce4951" /><Relationship Type="http://schemas.openxmlformats.org/officeDocument/2006/relationships/slide" Target="/ppt/slides/slide12.xml" Id="Rbcfe4796b8c546be" /><Relationship Type="http://schemas.openxmlformats.org/officeDocument/2006/relationships/slide" Target="/ppt/slides/slide13.xml" Id="R4f78846385cc452f" /><Relationship Type="http://schemas.openxmlformats.org/officeDocument/2006/relationships/slide" Target="/ppt/slides/slide14.xml" Id="Rf816d31f369d4d5d" /><Relationship Type="http://schemas.openxmlformats.org/officeDocument/2006/relationships/slide" Target="/ppt/slides/slide15.xml" Id="R3ad68c4eede94402" /><Relationship Type="http://schemas.openxmlformats.org/officeDocument/2006/relationships/slide" Target="/ppt/slides/slide16.xml" Id="R97498a4023a84473" /><Relationship Type="http://schemas.openxmlformats.org/officeDocument/2006/relationships/slide" Target="/ppt/slides/slide17.xml" Id="R28e5a6b28f444a55" /><Relationship Type="http://schemas.openxmlformats.org/officeDocument/2006/relationships/slide" Target="/ppt/slides/slide18.xml" Id="R707683a71019465c" /><Relationship Type="http://schemas.openxmlformats.org/officeDocument/2006/relationships/slide" Target="/ppt/slides/slide19.xml" Id="R90f65b44c5be4d4c" /><Relationship Type="http://schemas.openxmlformats.org/officeDocument/2006/relationships/slide" Target="/ppt/slides/slide20.xml" Id="R13e6c6e8d4b54e5a" /><Relationship Type="http://schemas.openxmlformats.org/officeDocument/2006/relationships/slide" Target="/ppt/slides/slide21.xml" Id="R89ebfc55de6b4791" /><Relationship Type="http://schemas.openxmlformats.org/officeDocument/2006/relationships/slide" Target="/ppt/slides/slide22.xml" Id="Rcb6578ac85b84baa" /><Relationship Type="http://schemas.openxmlformats.org/officeDocument/2006/relationships/slide" Target="/ppt/slides/slide23.xml" Id="Rb2395b3659de432f" /><Relationship Type="http://schemas.openxmlformats.org/officeDocument/2006/relationships/slide" Target="/ppt/slides/slide24.xml" Id="R45e91072d0d040ef" /><Relationship Type="http://schemas.openxmlformats.org/officeDocument/2006/relationships/slide" Target="/ppt/slides/slide25.xml" Id="R0af1799775bd4c31" /><Relationship Type="http://schemas.openxmlformats.org/officeDocument/2006/relationships/slide" Target="/ppt/slides/slide26.xml" Id="Rb7e492fea0b8430c" /><Relationship Type="http://schemas.openxmlformats.org/officeDocument/2006/relationships/slide" Target="/ppt/slides/slide27.xml" Id="R76b29b98c1994e89" /><Relationship Type="http://schemas.openxmlformats.org/officeDocument/2006/relationships/slide" Target="/ppt/slides/slide28.xml" Id="R19a699dc5387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3bc106a13f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f7febc2a6940bc" /><Relationship Type="http://schemas.openxmlformats.org/officeDocument/2006/relationships/notesMaster" Target="/ppt/notesMasters/notesMaster1.xml" Id="Rcbcff39635564b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1a27f0a19460b" /><Relationship Type="http://schemas.openxmlformats.org/officeDocument/2006/relationships/notesMaster" Target="/ppt/notesMasters/notesMaster1.xml" Id="R86d3dc8d446f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b45dfb878d422f" /><Relationship Type="http://schemas.openxmlformats.org/officeDocument/2006/relationships/notesMaster" Target="/ppt/notesMasters/notesMaster1.xml" Id="Rd3925d450c0c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c084bbdf234b78" /><Relationship Type="http://schemas.openxmlformats.org/officeDocument/2006/relationships/notesMaster" Target="/ppt/notesMasters/notesMaster1.xml" Id="R2bd5cdeba80f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c5b550c4f04d0c" /><Relationship Type="http://schemas.openxmlformats.org/officeDocument/2006/relationships/notesMaster" Target="/ppt/notesMasters/notesMaster1.xml" Id="Re9f1a4cbaec9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79be4c840041cc" /><Relationship Type="http://schemas.openxmlformats.org/officeDocument/2006/relationships/notesMaster" Target="/ppt/notesMasters/notesMaster1.xml" Id="R8160b745fba3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f1f9c7d2546c3" /><Relationship Type="http://schemas.openxmlformats.org/officeDocument/2006/relationships/notesMaster" Target="/ppt/notesMasters/notesMaster1.xml" Id="Ra88809f7f6ff4f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c36c75e43f487d" /><Relationship Type="http://schemas.openxmlformats.org/officeDocument/2006/relationships/notesMaster" Target="/ppt/notesMasters/notesMaster1.xml" Id="R093b49a88d8645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9142b9a57a4c77" /><Relationship Type="http://schemas.openxmlformats.org/officeDocument/2006/relationships/notesMaster" Target="/ppt/notesMasters/notesMaster1.xml" Id="R4d032a833f5947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82543cf49c405e" /><Relationship Type="http://schemas.openxmlformats.org/officeDocument/2006/relationships/notesMaster" Target="/ppt/notesMasters/notesMaster1.xml" Id="R532d5082a4e149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79bbcf417b4bdb" /><Relationship Type="http://schemas.openxmlformats.org/officeDocument/2006/relationships/notesMaster" Target="/ppt/notesMasters/notesMaster1.xml" Id="Rfa423264e87c40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cd81a0825b4a92" /><Relationship Type="http://schemas.openxmlformats.org/officeDocument/2006/relationships/notesMaster" Target="/ppt/notesMasters/notesMaster1.xml" Id="R4a9aa5bf319248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abb81524e94886" /><Relationship Type="http://schemas.openxmlformats.org/officeDocument/2006/relationships/notesMaster" Target="/ppt/notesMasters/notesMaster1.xml" Id="R68094bc3418d4d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3968479b3248d8" /><Relationship Type="http://schemas.openxmlformats.org/officeDocument/2006/relationships/notesMaster" Target="/ppt/notesMasters/notesMaster1.xml" Id="R1d93838e070c4f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933ea26e3249d3" /><Relationship Type="http://schemas.openxmlformats.org/officeDocument/2006/relationships/notesMaster" Target="/ppt/notesMasters/notesMaster1.xml" Id="R87423e42f7ba40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7de5504e1d4cfd" /><Relationship Type="http://schemas.openxmlformats.org/officeDocument/2006/relationships/notesMaster" Target="/ppt/notesMasters/notesMaster1.xml" Id="R03591286e0b44e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67e0c4cadc439b" /><Relationship Type="http://schemas.openxmlformats.org/officeDocument/2006/relationships/notesMaster" Target="/ppt/notesMasters/notesMaster1.xml" Id="R744d4949b2584d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409cb560de42e4" /><Relationship Type="http://schemas.openxmlformats.org/officeDocument/2006/relationships/notesMaster" Target="/ppt/notesMasters/notesMaster1.xml" Id="Rcecceeab7e5c44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335ebbb447495a" /><Relationship Type="http://schemas.openxmlformats.org/officeDocument/2006/relationships/notesMaster" Target="/ppt/notesMasters/notesMaster1.xml" Id="Red55308353ea41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1e14bea6b74755" /><Relationship Type="http://schemas.openxmlformats.org/officeDocument/2006/relationships/notesMaster" Target="/ppt/notesMasters/notesMaster1.xml" Id="R9ac58497af5545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5f7747159f4f4a" /><Relationship Type="http://schemas.openxmlformats.org/officeDocument/2006/relationships/notesMaster" Target="/ppt/notesMasters/notesMaster1.xml" Id="R0fb3a3e91d8743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c2ef5b136f40b7" /><Relationship Type="http://schemas.openxmlformats.org/officeDocument/2006/relationships/notesMaster" Target="/ppt/notesMasters/notesMaster1.xml" Id="R7427a4db60f149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ac7cafb1b14863" /><Relationship Type="http://schemas.openxmlformats.org/officeDocument/2006/relationships/notesMaster" Target="/ppt/notesMasters/notesMaster1.xml" Id="R722ec0cd9aac48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29450bf81c4755" /><Relationship Type="http://schemas.openxmlformats.org/officeDocument/2006/relationships/notesMaster" Target="/ppt/notesMasters/notesMaster1.xml" Id="R3dad6244c180452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7fa0009361421c" /><Relationship Type="http://schemas.openxmlformats.org/officeDocument/2006/relationships/notesMaster" Target="/ppt/notesMasters/notesMaster1.xml" Id="R8f3aee1373144f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b68304a02de4eed" /><Relationship Type="http://schemas.openxmlformats.org/officeDocument/2006/relationships/notesMaster" Target="/ppt/notesMasters/notesMaster1.xml" Id="Rfda829a365f942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fd9662b3f84c5e" /><Relationship Type="http://schemas.openxmlformats.org/officeDocument/2006/relationships/notesMaster" Target="/ppt/notesMasters/notesMaster1.xml" Id="Rdcd9863fe8864f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d348608ceb453e" /><Relationship Type="http://schemas.openxmlformats.org/officeDocument/2006/relationships/notesMaster" Target="/ppt/notesMasters/notesMaster1.xml" Id="R1e2db2de2636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by stating the thesis in one sentence.</a:t>
            </a:r>
          </a:p>
          <a:p xmlns:a="http://schemas.openxmlformats.org/drawingml/2006/main">
            <a:r>
              <a:t>Emphasize that the strongest claim is pathway-level and time-resolved: a 5-min pulse that reverses by 15 min.</a:t>
            </a:r>
          </a:p>
          <a:p xmlns:a="http://schemas.openxmlformats.org/drawingml/2006/main">
            <a:r>
              <a:t>Tell the committee that the deck will move from design and QC to single-gene evidence, pathway evidence, and a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conceptual gap, not as a claim that local mechanisms are insufficient.</a:t>
            </a:r>
          </a:p>
          <a:p xmlns:a="http://schemas.openxmlformats.org/drawingml/2006/main">
            <a:r>
              <a:t>The experiment asks whether a transcriptional component runs in parallel with canonical local signaling.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up why GSEA matters before showing the data.</a:t>
            </a:r>
          </a:p>
          <a:p xmlns:a="http://schemas.openxmlformats.org/drawingml/2006/main">
            <a:r>
              <a:t>A five-minute RNA-seq study should not be expected to produce hundreds of large-effect DEGs.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 about the design limitation early.</a:t>
            </a:r>
          </a:p>
          <a:p xmlns:a="http://schemas.openxmlformats.org/drawingml/2006/main">
            <a:r>
              <a:t>This will make the later emphasis on 5v0 and 15v5 easier to defend.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replicate is modeled, not ignored.</a:t>
            </a:r>
          </a:p>
          <a:p xmlns:a="http://schemas.openxmlformats.org/drawingml/2006/main">
            <a:r>
              <a:t>Explain relaxed and strict thresholds if asked: padj &lt; 0.05, strict adds absolute log2FC &gt; 0.585.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short: the purpose is to reassure the committee before the biological slides.</a:t>
            </a:r>
          </a:p>
          <a:p xmlns:a="http://schemas.openxmlformats.org/drawingml/2006/main">
            <a:r>
              <a:t>Mention that detailed QC files remain available in the results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Acknowledge that replicate explains a large part of top-level variance.</a:t>
            </a:r>
          </a:p>
          <a:p xmlns:a="http://schemas.openxmlformats.org/drawingml/2006/main">
            <a:r>
              <a:t>Then immediately connect this to the model: replicate was included in the design, so DE inference is adjusted.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prevent a common concern: the analysis is not hiding batch effects.</a:t>
            </a:r>
          </a:p>
          <a:p xmlns:a="http://schemas.openxmlformats.org/drawingml/2006/main">
            <a:r>
              <a:t>Clarify the distinction between visualization correction and statistical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Tubb3, Stmn2 and Map2 as high neuronal markers.</a:t>
            </a:r>
          </a:p>
          <a:p xmlns:a="http://schemas.openxmlformats.org/drawingml/2006/main">
            <a:r>
              <a:t>The main purpose is to argue that downstream changes are transcriptional, not culture-composition shifts.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the committee from over-focusing on the small number of strict DEGs.</a:t>
            </a:r>
          </a:p>
          <a:p xmlns:a="http://schemas.openxmlformats.org/drawingml/2006/main">
            <a:r>
              <a:t>It also sets up why the GSEA slides are central evidence rather than secondary decoration.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contrast logic explicit.</a:t>
            </a:r>
          </a:p>
          <a:p xmlns:a="http://schemas.openxmlformats.org/drawingml/2006/main">
            <a:r>
              <a:t>15v0 alone is limited by the shared control design; 15v5 closes the temporal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is not the number of points; it is that the genes are biologically coherent.</a:t>
            </a:r>
          </a:p>
          <a:p xmlns:a="http://schemas.openxmlformats.org/drawingml/2006/main">
            <a:r>
              <a:t>Use Fos and Rock1 as concrete anchors before moving to GSEA.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is designed for oral defense: you can point to one or two genes rather than reading every row.</a:t>
            </a:r>
          </a:p>
          <a:p xmlns:a="http://schemas.openxmlformats.org/drawingml/2006/main">
            <a:r>
              <a:t>Mention Npas4 verbally as LRT-supported if the committee asks about IEGs.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bridge from individual genes to temporal behavior.</a:t>
            </a:r>
          </a:p>
          <a:p xmlns:a="http://schemas.openxmlformats.org/drawingml/2006/main">
            <a:r>
              <a:t>Avoid overclaiming clustering; the main claim is coherence, not perfect classification.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place to show scientific caution.</a:t>
            </a:r>
          </a:p>
          <a:p xmlns:a="http://schemas.openxmlformats.org/drawingml/2006/main">
            <a:r>
              <a:t>The pathway-level reversal is cleaner than every individual gene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mechanism discussion because ROCK is close to canonical guidance signaling.</a:t>
            </a:r>
          </a:p>
          <a:p xmlns:a="http://schemas.openxmlformats.org/drawingml/2006/main">
            <a:r>
              <a:t>Do not overstate causality: the RNA-seq shows selective transcriptional response, not protein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central nervous system neuron differentiation, neuron migration, neuron projection guidance, and axon guidance.</a:t>
            </a:r>
          </a:p>
          <a:p xmlns:a="http://schemas.openxmlformats.org/drawingml/2006/main">
            <a:r>
              <a:t>This is one of the main result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transcriptomic result back to the ligand's known function.</a:t>
            </a:r>
          </a:p>
          <a:p xmlns:a="http://schemas.openxmlformats.org/drawingml/2006/main">
            <a:r>
              <a:t>Mention that calcium and adhesion-related pathways also appear.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synthesis slide. It turns the gene and pathway lists into one interpretable program.</a:t>
            </a:r>
          </a:p>
          <a:p xmlns:a="http://schemas.openxmlformats.org/drawingml/2006/main">
            <a:r>
              <a:t>Emphasize that the result is coordinated and bidirectional.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important point is not that nothing happens by 15 min; rather, 15v5 shows reversal relative to the 5-min state.</a:t>
            </a:r>
          </a:p>
          <a:p xmlns:a="http://schemas.openxmlformats.org/drawingml/2006/main">
            <a:r>
              <a:t>This is central to the transient pulse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this slide. It is the headline result.</a:t>
            </a:r>
          </a:p>
          <a:p xmlns:a="http://schemas.openxmlformats.org/drawingml/2006/main">
            <a:r>
              <a:t>Explain that the same pathways that rise at 5 min tend to fall in 15v5, and vice 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nuanced.</a:t>
            </a:r>
          </a:p>
          <a:p xmlns:a="http://schemas.openxmlformats.org/drawingml/2006/main">
            <a:r>
              <a:t>Say that the transcriptional guidance program largely returns, while a late mitochondrial/OXPHOS signal remains detectable.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if the committee asks you to summarize all results in one view.</a:t>
            </a:r>
          </a:p>
          <a:p xmlns:a="http://schemas.openxmlformats.org/drawingml/2006/main">
            <a:r>
              <a:t>The table intentionally combines genes, trajectories and GSEA rather than separating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conceptual payoff of the deck.</a:t>
            </a:r>
          </a:p>
          <a:p xmlns:a="http://schemas.openxmlformats.org/drawingml/2006/main">
            <a:r>
              <a:t>Be clear that this is a proposed model, not proven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slide.</a:t>
            </a:r>
          </a:p>
          <a:p xmlns:a="http://schemas.openxmlformats.org/drawingml/2006/main">
            <a:r>
              <a:t>Frame novelty conservatively: the dataset suggests a fast transcriptional layer that merits mechanistic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meant to pre-empt the most likely committee critiques.</a:t>
            </a:r>
          </a:p>
          <a:p xmlns:a="http://schemas.openxmlformats.org/drawingml/2006/main">
            <a:r>
              <a:t>Do not apologize for the study; define exactly what the design supports.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project has a clear next phase.</a:t>
            </a:r>
          </a:p>
          <a:p xmlns:a="http://schemas.openxmlformats.org/drawingml/2006/main">
            <a:r>
              <a:t>The most direct validation is dense time-course qPCR plus receptor perturbation.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returning to the central claim.</a:t>
            </a:r>
          </a:p>
          <a:p xmlns:a="http://schemas.openxmlformats.org/drawingml/2006/main">
            <a:r>
              <a:t>Do not add new data here; leave the final sentence clean and memorable.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8354e7b5243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1575b9bff4a93" /><Relationship Type="http://schemas.openxmlformats.org/officeDocument/2006/relationships/slideLayout" Target="/ppt/slideLayouts/slideLayout1.xml" Id="Rb140c7d77c38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40c7d77c38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97295f5b34701" /><Relationship Type="http://schemas.openxmlformats.org/officeDocument/2006/relationships/notesSlide" Target="/ppt/notesSlides/notesSlide1.xml" Id="R25bcd471336d44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a2bb339c541e8" /><Relationship Type="http://schemas.openxmlformats.org/officeDocument/2006/relationships/notesSlide" Target="/ppt/notesSlides/notesSlide2.xml" Id="R921e9ce7c1b4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abae4526440b4" /><Relationship Type="http://schemas.openxmlformats.org/officeDocument/2006/relationships/notesSlide" Target="/ppt/notesSlides/notesSlide3.xml" Id="R2fedf4d8fa5a4e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c662ec9fd451d" /><Relationship Type="http://schemas.openxmlformats.org/officeDocument/2006/relationships/notesSlide" Target="/ppt/notesSlides/notesSlide4.xml" Id="Rdd066660f698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7d84e981b46e1" /><Relationship Type="http://schemas.openxmlformats.org/officeDocument/2006/relationships/notesSlide" Target="/ppt/notesSlides/notesSlide5.xml" Id="R09c8309fe81b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5f17a94b24fc8" /><Relationship Type="http://schemas.openxmlformats.org/officeDocument/2006/relationships/image" Target="/ppt/media/image.png" Id="Rdff51463deef4c38" /><Relationship Type="http://schemas.openxmlformats.org/officeDocument/2006/relationships/image" Target="/ppt/media/image2.png" Id="Ra6e8998b9a614b5f" /><Relationship Type="http://schemas.openxmlformats.org/officeDocument/2006/relationships/notesSlide" Target="/ppt/notesSlides/notesSlide6.xml" Id="R3fad04aa22d542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2b2f4f8a04527" /><Relationship Type="http://schemas.openxmlformats.org/officeDocument/2006/relationships/image" Target="/ppt/media/image3.png" Id="R02b0bfd018564751" /><Relationship Type="http://schemas.openxmlformats.org/officeDocument/2006/relationships/image" Target="/ppt/media/image4.png" Id="Rf3f5fb1f3b4541f3" /><Relationship Type="http://schemas.openxmlformats.org/officeDocument/2006/relationships/notesSlide" Target="/ppt/notesSlides/notesSlide7.xml" Id="Radd3b6f810cc4f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99ebb229d4e68" /><Relationship Type="http://schemas.openxmlformats.org/officeDocument/2006/relationships/image" Target="/ppt/media/image5.png" Id="R6659646201f24fd5" /><Relationship Type="http://schemas.openxmlformats.org/officeDocument/2006/relationships/notesSlide" Target="/ppt/notesSlides/notesSlide8.xml" Id="Ra5319bdbef894a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61695bbfb4378" /><Relationship Type="http://schemas.openxmlformats.org/officeDocument/2006/relationships/image" Target="/ppt/media/image6.png" Id="Raa1618024fcb406e" /><Relationship Type="http://schemas.openxmlformats.org/officeDocument/2006/relationships/notesSlide" Target="/ppt/notesSlides/notesSlide9.xml" Id="R82121910ddb5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a5d7a4b804e4e" /><Relationship Type="http://schemas.openxmlformats.org/officeDocument/2006/relationships/notesSlide" Target="/ppt/notesSlides/notesSlide10.xml" Id="Rc2350f9112d64e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fc7282414ccf" /><Relationship Type="http://schemas.openxmlformats.org/officeDocument/2006/relationships/notesSlide" Target="/ppt/notesSlides/notesSlide11.xml" Id="Re817eb271f514e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6686ff8014c5e" /><Relationship Type="http://schemas.openxmlformats.org/officeDocument/2006/relationships/image" Target="/ppt/media/image7.png" Id="R9b7def72dd3d4198" /><Relationship Type="http://schemas.openxmlformats.org/officeDocument/2006/relationships/notesSlide" Target="/ppt/notesSlides/notesSlide12.xml" Id="R77c3ca150be044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b6a5afcbe4ed4" /><Relationship Type="http://schemas.openxmlformats.org/officeDocument/2006/relationships/notesSlide" Target="/ppt/notesSlides/notesSlide13.xml" Id="R34eafe6aaf6a4d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392eed3b6434e" /><Relationship Type="http://schemas.openxmlformats.org/officeDocument/2006/relationships/image" Target="/ppt/media/image8.png" Id="Rdb6a4a19d9dd4c01" /><Relationship Type="http://schemas.openxmlformats.org/officeDocument/2006/relationships/notesSlide" Target="/ppt/notesSlides/notesSlide14.xml" Id="R5ca203ba55d449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1b6c1b584b0f" /><Relationship Type="http://schemas.openxmlformats.org/officeDocument/2006/relationships/image" Target="/ppt/media/image9.png" Id="Rdfafe01c2fbf40a0" /><Relationship Type="http://schemas.openxmlformats.org/officeDocument/2006/relationships/notesSlide" Target="/ppt/notesSlides/notesSlide15.xml" Id="R0a852c4316294e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0a54bca844d1" /><Relationship Type="http://schemas.openxmlformats.org/officeDocument/2006/relationships/image" Target="/ppt/media/image10.png" Id="R8d9da23541d743e1" /><Relationship Type="http://schemas.openxmlformats.org/officeDocument/2006/relationships/notesSlide" Target="/ppt/notesSlides/notesSlide16.xml" Id="Rc77ee556b34342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76d792f0242af" /><Relationship Type="http://schemas.openxmlformats.org/officeDocument/2006/relationships/image" Target="/ppt/media/image11.png" Id="R2c5b85ca7cbd45e9" /><Relationship Type="http://schemas.openxmlformats.org/officeDocument/2006/relationships/notesSlide" Target="/ppt/notesSlides/notesSlide17.xml" Id="R42ceb9f5c24040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78044670e4822" /><Relationship Type="http://schemas.openxmlformats.org/officeDocument/2006/relationships/image" Target="/ppt/media/image12.png" Id="R9b9ab77282d24321" /><Relationship Type="http://schemas.openxmlformats.org/officeDocument/2006/relationships/notesSlide" Target="/ppt/notesSlides/notesSlide18.xml" Id="Rd3320c82c03744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4c5a9f0d415e" /><Relationship Type="http://schemas.openxmlformats.org/officeDocument/2006/relationships/notesSlide" Target="/ppt/notesSlides/notesSlide19.xml" Id="Re452454edaf14a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8023d63a744dc" /><Relationship Type="http://schemas.openxmlformats.org/officeDocument/2006/relationships/image" Target="/ppt/media/image13.png" Id="R3239b1077b89433f" /><Relationship Type="http://schemas.openxmlformats.org/officeDocument/2006/relationships/notesSlide" Target="/ppt/notesSlides/notesSlide20.xml" Id="R8ae6c84a9ced45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09047ec34cc6" /><Relationship Type="http://schemas.openxmlformats.org/officeDocument/2006/relationships/image" Target="/ppt/media/image14.png" Id="R2b2a94f349ea4962" /><Relationship Type="http://schemas.openxmlformats.org/officeDocument/2006/relationships/notesSlide" Target="/ppt/notesSlides/notesSlide21.xml" Id="R06dd38c2793b42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6057485674ed6" /><Relationship Type="http://schemas.openxmlformats.org/officeDocument/2006/relationships/image" Target="/ppt/media/image15.png" Id="R459ac2cd2a21412d" /><Relationship Type="http://schemas.openxmlformats.org/officeDocument/2006/relationships/notesSlide" Target="/ppt/notesSlides/notesSlide22.xml" Id="R1d34d9b6c8b640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0898dee74e70" /><Relationship Type="http://schemas.openxmlformats.org/officeDocument/2006/relationships/notesSlide" Target="/ppt/notesSlides/notesSlide23.xml" Id="Rcb76be797ce941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366df3ec04837" /><Relationship Type="http://schemas.openxmlformats.org/officeDocument/2006/relationships/notesSlide" Target="/ppt/notesSlides/notesSlide24.xml" Id="Rd76c3c6d5f054b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3c38af2d49a0" /><Relationship Type="http://schemas.openxmlformats.org/officeDocument/2006/relationships/notesSlide" Target="/ppt/notesSlides/notesSlide25.xml" Id="Rc7a0f357169a41d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fce29a8a54c92" /><Relationship Type="http://schemas.openxmlformats.org/officeDocument/2006/relationships/notesSlide" Target="/ppt/notesSlides/notesSlide26.xml" Id="Rf4e30e5a048a4a2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c4f97ee0c40b3" /><Relationship Type="http://schemas.openxmlformats.org/officeDocument/2006/relationships/notesSlide" Target="/ppt/notesSlides/notesSlide27.xml" Id="Ref61c96b818a4d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45cfa27864ae0" /><Relationship Type="http://schemas.openxmlformats.org/officeDocument/2006/relationships/notesSlide" Target="/ppt/notesSlides/notesSlide28.xml" Id="R41c07f5cdf5841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82216-BDAF-4619-8D26-73AADCA6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DEFENSE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6BF07-AD8C-40B3-84AA-13A1132A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induces a rapid, reversible transcriptional 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23961-74DC-4AD5-B825-D292B4CA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deck is organized as a question-to-evidence arc, not as a file-by-file result tour.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1E40F-AD33-4898-ACD6-BCF8590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99C4F-E5B4-4C77-81F0-18C40389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BFF0B-35EE-4304-B426-D75CBC4F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E5E29-BE8B-4539-A487-F23FB032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main response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99779-7C93-46DF-93DE-DA52ECC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476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4F2E6-908D-4A5F-A151-343A092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3F282-8003-4633-8A5C-E936766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pathway reversal by 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82B40-2C05-4A4C-BE48-0CD5124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8E90-78BB-4AC9-883C-57DF633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29596-6488-4066-9C29-B291D19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significant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54E37-3AC8-430D-A826-4C902A7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209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8264B-DCB4-44FE-B72D-7613902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43B2A-24C0-436C-BF7E-86A2EBB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15v0 significant GO BP 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234C3-06FE-4899-84A8-5AC938E4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Central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E9D4E-CA1F-4612-8B5F-5DBB0051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Netrin-1 does not simply trigger local cytoskeletal signaling; within minutes, it engages a coordinated and transient transcriptional program in cortical neurons.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02EDB-76BB-4C90-906F-146B304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24E39-FC40-4C47-A83B-A9565F64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2215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76616-AADC-40A6-AF62-377CAE04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BIOLOGICAL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B9D39-A3E6-45F8-890C-0501002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is classically fast, local and guidance-related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8BAE-B362-4ECF-BE39-822E0890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open question is whether a minutes-scale transcriptional layer also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A6416-56C0-41D2-BEB9-851C4817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C6508-A4D8-4114-BC3B-01537EA0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070EB-7111-4F36-B570-8E537238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Ligand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A0CAD-15FA-4313-8207-20506FC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Netrin-1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90F61-10F8-4C11-8D11-42DE9CB8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41B2C-6D4E-4564-A376-8FECF59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599EC-345D-4640-A6D9-748BDD76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Receptors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6F2CE-ED1F-414E-9F0E-6AD0A6F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DCC / UNC5 axis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C0901-7C65-4D9C-BD4A-5B3E7E3E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C859C-4004-4CA2-A5EC-66AB100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F0811-48D9-4DD9-8ED5-B899FE9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Local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16890-35A8-452A-AF0D-68833E3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growth cone and cytoskeleton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E07C0-FF1C-4C54-A602-418EBF3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EA249-3482-438D-A6BF-AEC7075E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0783A-A874-4525-BEC5-D08AB32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Known timescale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D08CA-8320-4915-A828-4D750AE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seconds to minutes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F3148-1F29-4060-AAAE-7E93C6BD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AAEDF-C15C-4F38-AD3A-4DC45FE0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76098-926C-4145-A9D0-77B9E78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Unknown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69DEA-69A9-4621-98E6-26A9CBB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nuclear RNA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FF320-73B3-48C1-964F-5EF60B4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D3240-F351-4461-9BF4-C3FA6B3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C5991-322C-473F-8A43-523DA71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432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This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EA6C3-5005-4860-87B3-B626417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670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 and 15 min RNA-seq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C3AB3-69EB-4DBE-A919-30594A60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962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Canonical Netrin-1 biology centers on axon guidance and growth-cone remodeling.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Most transcriptomic studies resolve hour-to-day programs, not acute 5-15 min changes.</a:t>
            </a:r>
          </a:p>
          <a:p xmlns:a="http://schemas.openxmlformats.org/drawingml/2006/main">
            <a:pPr algn="l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This creates a testable gap: can a guidance cue rapidly reshape the neuronal transcriptome?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8677C-CE52-4D49-BB65-B73D717E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thesis writing pack; literature citations to be added in manuscript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23622-DE1A-481B-8822-7E8E6561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2948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6FEA0-D8AE-41A4-9264-79172BF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THESIS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3075F-B80E-4028-8DB6-5C476089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Is acute Netrin-1 stimulation transcriptionally visible within minutes?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E0711-46DE-4D25-B08F-06F771F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Three concrete questions define the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E55D5-41CE-41A4-92F5-71A0065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CD4CD-D4F2-48FB-A0F5-4BD940B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21E90-5AA3-4A4D-AC9F-9C7CEC0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Magnitude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4A7A2-6BBD-4D0D-B550-4612BB6B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Are there detectable genes or pathways after only 5 min?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4353-733B-43ED-B7DA-A748778B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A839-5496-4639-B857-EC2CFB7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E6489-54E4-4013-8826-0ECFABDC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Which biological programs go up or down?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2BFD-4ADC-49A5-8B2D-8E977C1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CACCB-1437-4618-84CB-AC2648CE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A6956-AF4F-403D-B73A-B74C82B0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Does the response persist, or return toward baseline by 15 min?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1ABBF-E88F-4AC9-872C-AD11DDD0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Working hypothesis: if an acute transcriptional program exists, it should be small at the DEG level but coherent at the pathway level.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B5B67-315B-44F0-B67A-0B357A8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19485-E8E4-4714-ACC6-6CF24E3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12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714D8-C848-4247-A374-403CAAF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EXPERIMENTAL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97497-BCB0-49E0-94D6-084DF05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minimal acute time course tests the onset and reversal of transcriptional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6486B-EED7-4B73-8C91-CC222BB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Nine RNA-seq samples: three conditions with three biological replicates 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671E0-486E-42ED-A950-B0EA9028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31161-AE23-4576-B98D-8FABAD1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3D6FD-2C77-45A6-8B33-1090EBDA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E18 rat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8246E-64B9-4F63-BF6C-1F871FDB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primary cortical culture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59E34-3392-4C58-8DC1-1C3C5C92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26AEE-21FB-4064-B65F-8DBB85C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E6191-A4C9-428E-9FF6-FF2647A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9C82E-8FA6-4BDF-8CA7-D9A64105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PBS, 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2B154-BC07-443A-8139-198BF53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484AB-9DEE-4403-A2D1-0FA728B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FD235-6D17-473B-A363-70DB9AB0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D2A86-2F98-442A-8C77-BA12777E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84ADC-4C7F-4DF5-B77B-A1B77EC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60DE-638D-4E54-B221-7FB6157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13FF6-013E-4607-AE46-F4D6113C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7765F-046F-41A9-9945-6FD7936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941F4-980B-4301-A108-36FB36C6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9E9EA-6CE4-49F6-BA81-0421732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C0EB9-FA47-41C1-ADD8-E24D84FC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RNA-seq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7D76B-F658-42FE-95E7-F4B7BDB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DRAGEN Salmon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73A20-BFC4-4575-A663-0C2354D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0DD50-7211-4115-985C-9D88BF24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431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DBCB8-BBBB-4D09-9C10-C67DE419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146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DESeq2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2454D-8F47-4813-AD7C-273BBB73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38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replicate-adjusted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B5127-9A3C-4EAF-8B1C-5456B2D7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Design: Vehicle, 5 min Netrin-1, and 15 min Netrin-1.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 = 3 biological replicates per condition; each replicate is an independent well.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Important limitation: the same Vehicle 5-min control anchors both Netrin timepoints.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9A083-34D6-4479-B70C-C0FF4495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2728C-4946-44DD-BA32-0F2DE392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543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8BEE8-FB59-4695-A3EC-B8C159D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5FC75-C6B2-4F75-BF4F-C41D7252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Differential expression used raw counts; batch correction was reserved for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41E66-2FCB-4CFF-BCF5-B8011CF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separation is important for statistical interpretability.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44CFB-5ADC-4B30-9DAF-A0247445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78E36-4067-42F9-AA89-2A37632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81BC6-448D-49B4-BB2E-9F3C0CB6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BDA99-F35B-4C4B-B27A-27C9FD7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gene-level Salmon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3D1B-94A9-45A4-B159-B6FD4C5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51747-4FE3-4ABE-B034-BC4824B5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0FE6B-1306-4B9E-A360-132BF57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463F0-53F3-4A8A-ACB6-1D95644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tximport with length offset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41375-0445-468E-8DF1-7EA6BD6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33B4C-C034-4E97-9150-D03591D9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3CCDB-7015-475E-B6E9-8324BBC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C4CA-829B-46B8-9DB5-CE876A76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32623 to 14161 genes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D1A0B-9954-4CAE-ACAF-EEC6F4F6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F5962-12A3-49FD-9CE7-CB18D1D6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D1981-0804-423F-B22F-FBD9009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E84FE-C602-461A-87D8-F8938E69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~ replicate + timepoint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4A39A-1DA1-4844-8A2A-C91AB9F9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12C39-4350-425E-A4E4-986D8AC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70926-3639-4682-9B9B-B8C329E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Contrasts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8065D-99D2-4C38-8582-69069B4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5v0, 15v0, 15v5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7CCB-A284-4B73-82D9-B0BC70A9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9BD65-BA67-4E1C-9D77-C0FE290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7170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42558-6C7F-4C17-9050-80300AB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43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GSEA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66F39-BC01-461A-9830-B3B1736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GO BP and KEGG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91963-B416-44B1-8812-673262EF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83E99-DF23-4BEC-9BEF-DFFBB881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 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0CE65-1BC2-435B-B1C1-DC75E37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Raw counts with replicate in the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08B24F-4AE9-430E-8403-18F0A18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1DBB6-D57E-4A2A-93CA-6D9ACBE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489CE-66EC-47B4-B364-E6768302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91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Batch-corrected only where explicitly visualized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533B1F-248B-411B-B36C-D8F4089C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Methods: DESeq2, limma, clusterProfiler, org.Rn.eg.db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739E1B-D6CD-4AE2-9187-49BD2C82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153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79D2E-E9A4-413F-A3ED-804706A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SEQUENCING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77356-3C21-444A-A23F-FBA48D6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Library size and detected genes are broadly comparable across samples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5F73-ACA0-4232-9724-06B2370B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No single sample drives the analysis by obvious sequencing-depth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3E54A-6EFF-4124-AA7F-49221D7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D789-1000-417D-88A4-5599F6AF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51463deef4c38"/>
          <a:stretch xmlns:a="http://schemas.openxmlformats.org/drawingml/2006/main"/>
        </p:blipFill>
        <p:spPr>
          <a:xfrm xmlns:a="http://schemas.openxmlformats.org/drawingml/2006/main">
            <a:off x="838200" y="2075089"/>
            <a:ext cx="4953000" cy="31840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A0CBA-4398-4589-B9C2-8DAD99FC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8998b9a614b5f"/>
          <a:stretch xmlns:a="http://schemas.openxmlformats.org/drawingml/2006/main"/>
        </p:blipFill>
        <p:spPr>
          <a:xfrm xmlns:a="http://schemas.openxmlformats.org/drawingml/2006/main">
            <a:off x="6400800" y="2075089"/>
            <a:ext cx="4953000" cy="318407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A629F-1BA6-4E4B-B982-EEF5150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7849C-DE4C-4AD9-B580-B9CCFB66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2524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D0F14-6F01-4524-84D9-3D875DE9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REPLICATE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2BF7-2DE1-48C4-BB27-4B5FD4D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Sample correlation and PCA expose replicate effects that the model explicitly accounts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E2D02-A855-4B34-836A-8494FD57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is why replicate was included as a model term.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1F8A2-12BD-430A-B8BC-E493E71C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9AC2E-6710-4B27-B1B6-DB584A4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4958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0bfd018564751"/>
          <a:stretch xmlns:a="http://schemas.openxmlformats.org/drawingml/2006/main"/>
        </p:blipFill>
        <p:spPr>
          <a:xfrm xmlns:a="http://schemas.openxmlformats.org/drawingml/2006/main">
            <a:off x="935037" y="2019300"/>
            <a:ext cx="4111625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C71D-4ED4-4ED9-8713-6B9F6F4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52959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fb1f3b4541f3"/>
          <a:stretch xmlns:a="http://schemas.openxmlformats.org/drawingml/2006/main"/>
        </p:blipFill>
        <p:spPr>
          <a:xfrm xmlns:a="http://schemas.openxmlformats.org/drawingml/2006/main">
            <a:off x="6291695" y="2019300"/>
            <a:ext cx="4485409" cy="3524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E5560-50CF-41F1-85FB-204AFF15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E36AF-8446-4968-8E17-887CC6AB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6992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D5DCD-440E-4A09-AA03-186A406D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VISUALIZATION AFTER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01904-7B54-4D0A-8F0C-133A9CE1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Removing replicate effects for PCA reveals the expected timepoint axis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6605-59F4-49B5-93C5-3EC4F54A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Batch correction is used here only to make the time structure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EE89-447C-4437-8FB5-F42E5BF3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267B2-71AB-434B-BB36-2541A5E9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66900"/>
            <a:ext cx="70104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9646201f24fd5"/>
          <a:stretch xmlns:a="http://schemas.openxmlformats.org/drawingml/2006/main"/>
        </p:blipFill>
        <p:spPr>
          <a:xfrm xmlns:a="http://schemas.openxmlformats.org/drawingml/2006/main">
            <a:off x="1901536" y="1943100"/>
            <a:ext cx="5455227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07950-3E47-40CF-B64B-B209E0E8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8FD44-4987-4553-857D-5CE00E8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E7A6B-6DCB-4A14-AE6E-1A7FE38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1809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Timepoint becomes the dominant visible structure.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This supports, but does not replace, the replicate-adjusted DE model.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The key biological comparison remains 5v0 and 15v5.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BB3FB-A3B9-4D56-BE34-4223E1F5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results/01_QC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F50BA-8DBB-422B-A3A9-3E901164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6049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D68FD-2240-451A-9AE5-450EFCA8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CULTURE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63142-D9A2-4750-8852-39669B0A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Marker expression supports neuron-dominant, composition-stable cultures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73DEF-1C24-4A3B-9F51-D5405995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Cell-type markers do not suggest that the acute signal is driven by a change in composition.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7466-9CBA-4FDB-A730-B9F25CB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19C7C-A277-4686-A12C-CD5329A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70866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618024fcb406e"/>
          <a:stretch xmlns:a="http://schemas.openxmlformats.org/drawingml/2006/main"/>
        </p:blipFill>
        <p:spPr>
          <a:xfrm xmlns:a="http://schemas.openxmlformats.org/drawingml/2006/main">
            <a:off x="2286000" y="19240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0E5C4-3EA3-476E-AA59-53518188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6289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367FB-164E-419E-B1FE-B12AD3BF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Key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DB4E7-7617-41DA-9AF7-1FAD332F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943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Pan-neuronal markers are high, while glial/endothelial markers are orders of magnitude lower and stable across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DF826-7091-422E-94CC-67389CE8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results/02_composition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E2DC-3E52-45FB-A631-BC143B7D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0909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5745C-123A-4BE7-BF4E-42253E51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ANALYSIS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1EEBA-EC05-4998-A9F7-5B776D77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Minutes-scale transcriptional effects are expected to be small but coordinated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A3357-DDEC-441E-AE04-01AF51B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Therefore single-gene and pathway-level evidence are interpreted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F0C45-DBE2-4568-8D99-91BDE03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8044-03F1-4768-9138-FF9034D8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1A0E-378F-4219-AA20-40B20AF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A2ACD-9A83-4B95-A12D-D9464F7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relaxed DEGs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E36C3-1CAE-4181-85BA-D55DDA7D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17936-C626-4C7B-A865-87C8B14F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8BFD2-C4F8-4000-AF7F-EC2DF64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strict DEGs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51581-7C4C-4CBD-80DF-87FCAE57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C011A-04C3-4587-8C5F-C981091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BF7CC-85D8-4D4C-AA81-CBB8076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95D56-0165-4781-916E-728B5713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3D573-9EAF-4027-A843-09D5EC99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384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E8AAD-F425-41AA-A060-D83FFBCB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861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5v0 KEGG pathways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A189B-1AB0-482C-8E4B-373B04CD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Interpretation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13574-38C9-4FE8-A88B-8E93BEF3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52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 modest DEG count is not a weak result when pathway ranks show coherent biological directionality across thousands of genes.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379DF-E09A-445B-AFA3-346CB88D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Values verified from DEG and GSEA CSV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7341E-897C-4653-9FB7-74DCB7CC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0355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BEE524-7AA8-4251-AB9A-3EFA7576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TIMING OF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97B4-D2C3-46A9-8C0C-8A72B9F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strongest transcriptional change occurs at 5 min, not at 15 min versus Vehicle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355D7-E58F-4675-90F2-DE76E1F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an acute pulse rather than a persistent endpoint shift.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6533-ACC9-4D49-BCDC-F8C4B0A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E6159-B062-4104-9AC2-6305CA8D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3B64D-34E2-4612-9A84-CAF3A1F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5v0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32EBF-D78D-4B0A-B587-4EE64BC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32 relaxed DEGs; 5 strict DEGs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43D04-A7B0-4514-A922-2444DA7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B136A-9FD6-4D4A-BB6D-BB9B363F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15v0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858AF-F4FA-4219-BFC0-64FFF6CF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1 relaxed/strict DEG; 0 GO BP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CD8AD-1117-4B96-9E2A-76CBD999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58856-9C16-4FBF-BEEB-EE119A5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15v5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9052A-CC3B-44B8-89AA-0C328DE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6 relaxed DEGs; 295 GO BP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4C3D8-7282-4C82-8E3C-44007B4E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informative temporal contrast is 15v5: it asks whether the 5-min state is actively reversed by 15 min.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D53AB-C0F1-4774-A290-CD435F3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Values verified from DEG and GSEA CSV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D9AB0-3762-4042-B549-AEA47B2D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1098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99B22-91BB-404C-8898-2858D6C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DEG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DCBDD-6EAD-433C-B9FC-8C85140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small DEG set captures interpretable acute response genes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82682-C524-47DA-8D87-222C4DAF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volcano plot identifies the strongest single-gene anchors for the pathway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1BDB2-7FE1-47B9-807C-F632B07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4EDE7-AAF1-47EB-9F1D-370599DD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ef72dd3d4198"/>
          <a:stretch xmlns:a="http://schemas.openxmlformats.org/drawingml/2006/main"/>
        </p:blipFill>
        <p:spPr>
          <a:xfrm xmlns:a="http://schemas.openxmlformats.org/drawingml/2006/main">
            <a:off x="1729468" y="1885950"/>
            <a:ext cx="526596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84E4A-5E80-43AB-BBB2-3FD1AD1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647950" cy="33147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AFAF9-47BF-4D32-9948-8E9C728A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Highlighted genes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EFF57-0B46-4213-9EFE-B8A86E7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Fos: acute IEG suppression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Rock1: cytoskeletal signaling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Srsf5/Snrnp70: RNA processing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Cntn2: axon guidance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Nos1/Ryr3: NO-calcium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978C4-0838-4750-8842-51A2C86A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results/03_DEG/04_volcano_5v0_v6.png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CE4B8-3DC9-4A4A-A333-DE235B1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9094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085EC-6E19-4C03-8F5A-2F2718C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REPRESENTATIVE 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8D335-0499-4E8C-8A68-230BBC0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DEGs map to a bidirectional biological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E91AC-45A6-4E98-920A-2271AC6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Several modest log2FC values are highly significant because baseline expression is robust.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273CE-4330-4C65-9AD4-7BEDC64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914400" y="201930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809750"/>
                <a:gridCol w="1809750"/>
                <a:gridCol w="1809750"/>
              </a:tblGrid>
              <a:tr h="46264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padj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Fos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-2.35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2.4e-3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IEG suppression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Rock1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9.4e-6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cytoskeleton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Srsf5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-0.31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4.5e-5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splicing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Cntn2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axon guidance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Nos1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3.5e-2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signaling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Ryr3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+0.47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2.4e-2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calcium release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489B5-1EF4-43E4-BD73-EF3A09FD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152650" cy="22860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536AB-FCBD-4074-8BC3-0E6B810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05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522A7-76CA-42E6-B200-02CFB476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 and signaling genes rise, while immediate-early and RNA-processing genes fall.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30B08-1BD4-4096-A334-A517DA9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results/03_DEG/DEG_5v0_ALL.csv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67BA9-0780-456D-B7B4-0C24882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0739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53406-872B-4C4E-B836-4D29247B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DEG HEATMAP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5E31-77DA-4FF5-AA68-D1ACB60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DEG set forms a coherent sample-level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DEAF4-1784-4511-9CFB-4A59556C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heatmap checks whether DEG behavior is distributed across samples rather than confined to one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F5929-951E-4A50-8A26-D61B030E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A15FA-4FE5-4725-B7A6-7D6740B8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28800"/>
            <a:ext cx="7010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a4a19d9dd4c01"/>
          <a:stretch xmlns:a="http://schemas.openxmlformats.org/drawingml/2006/main"/>
        </p:blipFill>
        <p:spPr>
          <a:xfrm xmlns:a="http://schemas.openxmlformats.org/drawingml/2006/main">
            <a:off x="3120838" y="1905000"/>
            <a:ext cx="385482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4E462-A9D9-4515-B36B-14398DB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64684-4A51-4970-8E68-F3F7F5A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4A2E-41D8-436C-8732-544A22FA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selected DEGs separate the 5-min response while remaining consistent with the replicate-adjusted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8B897-B5F3-4E3C-94C9-C62E7F9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results/03_DEG/06_DEG_heatmap_5v0_v4.png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BE3E6-A618-42B8-AE2B-E8DD0D7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191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62239-E69E-42F9-AF4C-DE2E29FB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TEMPORAL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2A3A1-92C1-4767-A419-78F57AC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Representative genes show a 5-min deviation followed by partial or full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C19D7-F6FA-40FC-999B-ACAD08F2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pulse-like behavior at the gene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0C2E6-30D7-4A60-9570-0DF55C3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B85D4-1391-4500-83F1-FDB8B97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5057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fe01c2fbf40a0"/>
          <a:stretch xmlns:a="http://schemas.openxmlformats.org/drawingml/2006/main"/>
        </p:blipFill>
        <p:spPr>
          <a:xfrm xmlns:a="http://schemas.openxmlformats.org/drawingml/2006/main">
            <a:off x="1478973" y="1885950"/>
            <a:ext cx="595745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8792A-A9DD-4C77-9B8B-C2A9783D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00300" cy="26860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B2796-88C8-4A49-830E-6047084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Important nuance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FC806-96C5-4196-B796-CA506FC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1847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Most LRT-significant genes behave like a pulse.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Fos rebounds above Vehicle at 15 min.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Vehicle variation for Fos is visible and should be stated honestly.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50F77-829B-47FB-BE0E-5A6C90C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results/03_DEG/05_trajectory_6genes.png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EC0AB-BF2A-4728-B9B8-4CBBA5A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2047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D4639-523A-4DCC-976A-7DCF5D5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ROCK SPECIFICITY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F25C4-E3D8-4C6C-8AA2-FC6149EC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Rock1 decreases acutely, while Rock2 remains statistically unchanged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E5A7D-5B19-4411-B364-6327B47E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suggests selective regulation within a canonical cytoskeletal signaling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52ECB-D415-4A3F-8DD8-1919B434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8804C-B2AF-473E-BAFC-0E8784B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6819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da23541d743e1"/>
          <a:stretch xmlns:a="http://schemas.openxmlformats.org/drawingml/2006/main"/>
        </p:blipFill>
        <p:spPr>
          <a:xfrm xmlns:a="http://schemas.openxmlformats.org/drawingml/2006/main">
            <a:off x="1688523" y="1885950"/>
            <a:ext cx="595745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8AEC4-9D78-48C4-8D50-02CFD654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247900" cy="23622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A2282-0D8E-4919-B572-7093177C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5v0 contrast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CEB28-2551-41DB-A31D-6170FD7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147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Rock1: log2FC -0.43, padj 9.4e-6</a:t>
            </a:r>
          </a:p>
          <a:p xmlns:a="http://schemas.openxmlformats.org/drawingml/2006/main">
            <a:pPr algn="ctr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Rock2: log2FC +0.07, padj 0.999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0DEC4-A658-4A68-AE86-C82D8F0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results/03_DEG/05b_rock1_vs_rock2_trajectory.png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07538-E87C-4E3C-A8B4-E863E505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83987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2F64C-C0B3-40C9-A4B2-9F87278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GO BP AT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060B7-BEAE-48DD-86A2-3041C0E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activates neuron projection and axon guidance programs within 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C8C5F-729D-4297-A414-3EBD254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strongest evidence is coordinated ranking across biological processes.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875B1-4BE8-42EE-87A4-7D30E65A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D28F4-2317-4FF3-A189-201B4FF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67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b85ca7cbd45e9"/>
          <a:stretch xmlns:a="http://schemas.openxmlformats.org/drawingml/2006/main"/>
        </p:blipFill>
        <p:spPr>
          <a:xfrm xmlns:a="http://schemas.openxmlformats.org/drawingml/2006/main">
            <a:off x="2038350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6E81-0904-42D0-AB10-2867C7CD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A6082-0CEB-4D50-B75E-74F68E53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0826A-5394-499D-95F4-F4CA3CCA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72474-F093-4586-BC2E-4671761D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09160-546E-4224-9F5B-7F99C2A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B7285"/>
                </a:solidFill>
                <a:latin typeface="Aptos Display"/>
                <a:ea typeface="Aptos Display"/>
                <a:cs typeface="Aptos Display"/>
              </a:rPr>
              <a:t>285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E230E-51B3-4D58-A35F-3BF8501A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positive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D60FB-104E-4C1F-A19F-C5EC66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results/04_GSEA/GSEA_GO_BP_5v0.csv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1C223-B4FC-459E-BAB3-5D15C14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9383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589D1-F123-4C7E-847E-90CE5251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KEGG AT 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2D55C-D9EB-4F37-9465-07190ABF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Axon guidance is the top KEGG pathway in the acute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CFD13-F979-4450-9950-DF13152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pathway result aligns directly with Netrin-1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41D9A-CE9E-41B1-9901-B39CB1AB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BF065-68D1-43B3-B79D-B97BA36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73914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ab77282d24321"/>
          <a:stretch xmlns:a="http://schemas.openxmlformats.org/drawingml/2006/main"/>
        </p:blipFill>
        <p:spPr>
          <a:xfrm xmlns:a="http://schemas.openxmlformats.org/drawingml/2006/main">
            <a:off x="1273175" y="1809750"/>
            <a:ext cx="682625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8F3A-6C19-4EBD-9540-B1DEFD6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228850" cy="23812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AC0DA-53C7-4541-B201-957EF1A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Top KEGG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1CC6-D24C-4438-A449-B49BB23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Axon guidance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2.16</a:t>
            </a:r>
          </a:p>
          <a:p xmlns:a="http://schemas.openxmlformats.org/drawingml/2006/main">
            <a:pPr algn="ctr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BH-adjusted p = 4.1e-7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296E5-C5CF-46BA-B5AC-79CE3381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results/04_GSEA/GSEA_KEGG_5v0.csv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2D2BB-F361-402C-B53E-2C9C129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315303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D1592-3030-423A-AFC4-FFA5CB84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PROGRAM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FF959-0A93-4F4D-9585-1D7AC09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5-min response is bidirectional, not a generic activation signature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64809-8101-4061-8069-65EB14C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Guidance-related pathways rise while RNA processing and biosynthetic modules 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E1462-CEF3-4079-8B3A-3B9A245E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89682-A68E-4219-8812-CE8315A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95F11-7B2D-4EC4-B572-6FBCAD8C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289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Up at 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A0421-5F79-44BB-9857-C07252AA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Neuron projection guidance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Axon guidance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Synapse assembly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Cell adhesion / IgSF CAM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NO-calcium signaling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511E4-C405-4C01-983F-C45347E6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5D886-DB4C-4A7C-B8AA-60611CC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Down at 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19720-7B09-41A4-B183-7510F479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RNA processing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mRNA splicing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Ribosome biogenesis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Translation-related programs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Fatty-acid degradation signature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71B7A-EDD7-48E1-92F9-6E05BAC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GSEA GO BP and KEGG 5v0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872D8-45CC-4FB5-B60C-225E2FE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33392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2890A-AC67-4A95-90C3-99F2605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15V5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CFEB-8BEC-4A19-9081-D804692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By 15 min, the 5-min GO BP program is directionally flipped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A4DC8-E676-4CAB-9049-0761564D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temporal contrast shows active reversal from the acute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5034B-B757-40C8-AB86-881F83EE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1C0D5-FCA7-48F4-ACA7-8424CBE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886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9b1077b89433f"/>
          <a:stretch xmlns:a="http://schemas.openxmlformats.org/drawingml/2006/main"/>
        </p:blipFill>
        <p:spPr>
          <a:xfrm xmlns:a="http://schemas.openxmlformats.org/drawingml/2006/main">
            <a:off x="2047875" y="180975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55E7E-D69C-4EAF-83D3-D26C3359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A8D1-263C-49E8-80FA-662EBD4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8057A-BE72-4B73-8C6E-1EB5449E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significant GO BP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E07F5-110B-4E3A-ABDF-6A22E08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095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71F6D-30AB-4EC8-9104-52AAE65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338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264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02A3E-DC45-4E53-9D7D-F943F38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negative NES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C7E5-C8DF-4155-AEBD-AE8C80C6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results/04_GSEA/GSEA_GO_BP_15v5.csv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1092B-C19D-4686-93E1-08EB2CD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64692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CE689-4B82-49B2-8611-3DCAC973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QUANTITATIVE REVERSAL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510FB-514F-4158-9DB3-68D4D0A3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Shared pathways show near-perfect mirror symmetry between 5v0 and 15v5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0E6D6-1F44-44C4-A49B-2DE8BF99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is the strongest quantitative evidence for a transient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0D66B-527B-4057-9C2C-62530671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0A73-FC14-44C1-9943-24116C9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7724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a94f349ea4962"/>
          <a:stretch xmlns:a="http://schemas.openxmlformats.org/drawingml/2006/main"/>
        </p:blipFill>
        <p:spPr>
          <a:xfrm xmlns:a="http://schemas.openxmlformats.org/drawingml/2006/main">
            <a:off x="2218134" y="1790700"/>
            <a:ext cx="4822031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C2AE-AF8C-47CC-9349-2B2998C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133600" cy="2381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717EE-354C-4E56-970D-58AA259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Mirror statistic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0F3D0-7446-4E1E-B59E-3078113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676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603 shared pathways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NES correlation</a:t>
            </a:r>
          </a:p>
          <a:p xmlns:a="http://schemas.openxmlformats.org/drawingml/2006/main">
            <a:pPr algn="ctr">
              <a:defRPr sz="18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 = -0.991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FF246-B544-4A30-9F8E-33878F72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results/04_GSEA/13_GSEA_mirror_scatter_5v0_vs_15v5.png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678D3-EBC4-4B79-9DF9-FD7B6F8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200940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5C830-D0E2-41A2-9AFE-0944AE9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RETURN TOWARD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BC6B4-342B-4970-871B-D2E0D58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15v0 has no significant GO BP terms, with a mild mitochondrial KEGG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D5536-B4E0-4A74-9891-05F7A37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supports pathway-level return while preserving an honest caveat.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F29BC-897B-4FDD-A653-99E893DB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9BEC-7973-468D-A2EC-2D85AD9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2009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ac2cd2a21412d"/>
          <a:stretch xmlns:a="http://schemas.openxmlformats.org/drawingml/2006/main"/>
        </p:blipFill>
        <p:spPr>
          <a:xfrm xmlns:a="http://schemas.openxmlformats.org/drawingml/2006/main">
            <a:off x="990600" y="2347913"/>
            <a:ext cx="704850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885A7-AA53-4E32-B5C5-001655D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400300" cy="2781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19AA4-A0E3-40A7-9794-EF48982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 carefully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BE78C-BEFF-4A02-ABC3-4C87449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866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GO BP: 0 significant terms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KEGG: 6 significant terms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OXPHOS leads the KEGG signal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Disease labels reflect shared mitochondrial genes, not disease biology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0718-EAEE-47AF-BD2D-9C02CBD8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results/04_GSEA/GSEA_GO_BP_15v0.csv and GSEA_KEGG_15v0.csv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F797-9EAF-48E8-9209-1B07E3D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031803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D5819-66A6-4CA4-B258-E77441E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INTEGRATED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8FF5E-B99E-4D4D-A6D4-89CE122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Multiple result layers converge on the same transient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BACE1-A111-44A3-9C4F-49DCA855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This table is the defense-ready summary of the core evidence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E120C-68A4-4C39-9300-FBAAF835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04850" y="1885950"/>
          <a:ext xmlns:a="http://schemas.openxmlformats.org/drawingml/2006/main" cx="10763250" cy="3886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551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By 15 min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Axon guidance / projection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falls 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 BP, KEGG, Cntn2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RNA processing / splicing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recovers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Srsf5, Snrnp70, GO BP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IEG response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rebound/return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Fos, Npas4/LRT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ROCK / cytoskeleton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Rock1 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Rock2 stable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DEG + trajectory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NO-calcium / adhesion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falls 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Nos1, Ryr3, Tln2</a:t>
                      </a:r>
                    </a:p>
                  </a:txBody>
                  <a:tcPr marL="91440" marR="91440" marT="45720" marB="45720"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t>Mitochondria / OXPHOS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 rise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15v0/15v5 KEGG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7DB17-EB9D-466D-B8BB-AFCDB17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Source: Phase6 summary table and verified CSV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2A42D-7FFC-49E6-95B7-87D775A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161194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C118A-58BC-4F8A-8FB8-37D0085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PROPOSED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CAE16-A6E5-4E39-ADE2-83A43895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Netrin-1 launches a short-lived transcriptional reallocation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D98ED-0AF8-403A-B359-ABDF88D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model integrates guidance activation with transient suppression of general RNA-processing machinery.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639F-7DAC-42CA-AF7D-7C23302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806F3-DF89-4B88-94A1-6FA5CF39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DEE7-6B12-460E-ABA5-3A42FEDC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1EFFA-A6E0-4213-998C-87C62DD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acute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84925-1470-44AD-BA13-727EB59C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D70A2-EF07-42C3-9673-25EB165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3048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5A877-F33B-474F-B524-F270A824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5-min transcriptional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6BF1B-6EA8-4280-9B69-173DADA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 / projection up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RNA processing / ribosome down</a:t>
            </a:r>
          </a:p>
          <a:p xmlns:a="http://schemas.openxmlformats.org/drawingml/2006/main">
            <a:pPr algn="ctr">
              <a:defRPr sz="14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IEG suppression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6C72-BA9F-4513-88D9-D1032A29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38DEC-F4C5-4B75-9836-2D989629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193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781A0-82ED-414F-97F5-4FC13F8C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15-min reversal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A70FD-3AAA-4374-A7E0-7712324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GO BP returns; 15v5 mirrors 5v0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E11FA-6931-472D-B39C-DC682B8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Mechanistic interpretation: acute guidance cues may transiently bias nuclear programs toward remodeling and away from broad biosynthetic processing, then rapidly reset.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1F757-9614-432A-907F-2DCF3034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Model synthesized from DEG, trajectory and GSEA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4D082-B5E5-454A-837F-AD8F219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36125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9127E-D96D-4A4B-B135-71CE714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SCIENTIFIC SIGNIFICANCE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AC56A-BEC8-418D-8E50-F4AC5AA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novelty is minutes-scale coordination, not simply another DEG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1487-5679-4DFF-9D6F-46842C1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data connect a classic axon guidance cue to a fast transcriptome-wide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46222-5469-4A90-B68B-0D71CFC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00D5D-DAEA-4687-9C16-711F33B3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D034-AAD2-4F05-86BE-8BF4D3A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Acute transcription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84ACC-C584-46AD-B5D5-9D7ED989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Shows that a guidance cue can be transcriptomically visible within 5 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B0830-5D47-41BE-AC82-6B59FFB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8F627-43E4-4640-BB70-BCE1D6AE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Bidirectional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2A495-1876-4D97-975B-FD5A326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Guidance-related pathways rise while RNA processing and ribosome modules fall.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B2DDC-9544-4E96-B005-F4CE371C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51261-7219-4781-8833-99D20CC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Quantified reversibility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406D1-4BD4-48CC-A640-C9DECC6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response reverses with r = -0.991 across shared GSEA pathways.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5CC8-03B5-4664-851F-2922FC0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528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37BBD-1718-41AA-9157-586C0FE3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Mechanistic anchors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DDB16-E279-4148-AF54-185E269F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Fos/Npas4 suppression and Rock1 specificity provide hypotheses for 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EC3DE-6E3E-4902-8F43-174FD61E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8F0E8-DAEA-4641-9A21-EE75F1A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467801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8F2490-5525-4ACC-927D-E8170D83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A87C3-A81F-46B1-B008-54E11AE5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strongest conclusions are pathway-level and temporal, with clear design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709A-AB9B-4E1C-9280-A1432AD0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Being explicit here makes the defense more credible.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20FB0-C034-4E93-B32C-BC226EAF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AFF20-8999-488D-909E-2BAD09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 = 3 per condition: adequate for a focused RNA-seq pilot, but small for subtle single-gene effects.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No independent PBS-15 min control: 15v0 is useful but should be interpreted with this design caveat.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Only three timepoints: pulse shape is inferred from 0/5/15 min rather than dense time-course modeling.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Bulk RNA-seq: marker analysis supports composition stability, but cell-type-specific responses remain unresolved.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- RNA abundance is not protein activity: ROCK, DCC/UNC5 and cytoskeletal mechanisms require orthogonal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00142-5FD0-4924-826A-839491C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68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5D39E-CF42-45EE-A7FD-4F59D5D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57800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Defensible conclusion: acute Netrin-1 produces a coherent, reversible transcriptional signature; mechanism and causality require targeted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225DE-4BC7-4F17-886F-AD89FD3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A138C-DC57-435A-8AF7-2232BB1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087307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EF993-DDB5-4590-8A76-4DB3CF6F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B2754-16C8-4AD6-81DB-A91D133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Follow-up should test timing, mechanism, and cell specificity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9E8FC-0C4A-4CB1-B973-EA8B879C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These experiments convert the RNA-seq signature into mechanistic biology.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9079-B5C6-4F27-A32B-03D72E6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463B-F43E-4374-943D-C42486B1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413E-97EF-4116-A068-AFF2CFEF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Dense time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55EDF-8628-4092-A827-B5913E8C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0, 2, 5, 10, 15, 30 min qPCR/RNA-seq for Fos, Npas4, Rock1 and pathway markers.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B954C-E159-496E-994D-AFABFE9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DA507-CB81-4CE9-B580-575D0131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Perturb receptors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65D3F-1CC0-473C-BFF6-A9C79ED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DCC/UNC5 blockade or knockdown to test whether the transcriptional pulse is receptor-dependent.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D65CF-CB51-4825-AD8B-3DADE3C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00E5C-404C-4212-B8EA-8A1E8F49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Protein/signaling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6A8D-EA14-4EC2-892C-4E49B991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ROCK1 protein, phospho-signaling and cytoskeletal readouts after acute stimulation.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B5CAF-97C4-45B3-9E20-E2674CD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5148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5D67E-D06A-49FA-AAF8-9CAD152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Cell resolution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ABCD3-EEC3-4D30-A515-D9A3D955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Single-cell or sorted-neuron validation to localize the response within culture heterogeneity.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9F9DA-C9DF-4AFA-A530-45E97D2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D4FB9-7888-4223-9643-FA330E8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76086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1B5C9-365C-4F8E-8F25-266B093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FINAL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BC58A-F10C-4164-B920-237FFBF3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Acute Netrin-1 stimulation reveals a fast, reversible neuronal transcriptional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01AB2-94D4-4AD6-8F33-AEB37B13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result expands the time scale on which guidance cues can be discussed.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A14A7-2EB4-447E-BB3A-E2B5F5F5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1ED72-E8E8-4A65-AFFA-0C02B483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3EBEB-D78A-4007-A49F-2DABF02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One-sentence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EDF7C-1CA9-4B6E-AC6F-FF0FA58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880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Within 5 minutes, Netrin-1 activates guidance/projection programs and suppresses RNA-processing/biosynthetic modules, and by 15 minutes this pathway program is almost perfectly reversed.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629AA-F773-4627-B630-01B17F3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4DCD6-696A-47CA-B3A6-B13A649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78395"/>
                </a:solidFill>
                <a:latin typeface="Aptos"/>
                <a:ea typeface="Aptos"/>
                <a:cs typeface="Aptos"/>
              </a:rPr>
              <a:t>Acute Netrin-1 RNA-seq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BFE5-0DCE-43CA-A298-5BF355A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7839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839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09960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2026-06-16T03:03:46.7620000Z</dcterms:created>
  <dcterms:modified xsi:type="dcterms:W3CDTF">2026-06-16T03:03:46.7620000Z</dcterms:modified>
</coreProperties>
</file>