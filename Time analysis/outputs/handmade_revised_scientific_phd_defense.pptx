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ded1fb18274c85" /><Relationship Type="http://schemas.openxmlformats.org/officeDocument/2006/relationships/extended-properties" Target="/docProps/app.xml" Id="R331aa409b6ce47a9" /><Relationship Type="http://schemas.openxmlformats.org/officeDocument/2006/relationships/officeDocument" Target="/ppt/presentation.xml" Id="Ref43b998beb7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18e2ea273451e"/>
  </p:sldMasterIdLst>
  <p:notesMasterIdLst>
    <p:notesMasterId xmlns:r="http://schemas.openxmlformats.org/officeDocument/2006/relationships" r:id="Ra1de0c62972242c9"/>
  </p:notesMasterIdLst>
  <p:sldIdLst>
    <p:sldId xmlns:r="http://schemas.openxmlformats.org/officeDocument/2006/relationships" id="256" r:id="R0fa427c12b7a47ac"/>
    <p:sldId xmlns:r="http://schemas.openxmlformats.org/officeDocument/2006/relationships" id="257" r:id="R9f8dd4a2506b4951"/>
    <p:sldId xmlns:r="http://schemas.openxmlformats.org/officeDocument/2006/relationships" id="258" r:id="Ra328cfcaecae441a"/>
    <p:sldId xmlns:r="http://schemas.openxmlformats.org/officeDocument/2006/relationships" id="259" r:id="R930885ac02334bb9"/>
    <p:sldId xmlns:r="http://schemas.openxmlformats.org/officeDocument/2006/relationships" id="260" r:id="Rb33919608fd14ebb"/>
    <p:sldId xmlns:r="http://schemas.openxmlformats.org/officeDocument/2006/relationships" id="261" r:id="Rf9f077f57d2f4a13"/>
    <p:sldId xmlns:r="http://schemas.openxmlformats.org/officeDocument/2006/relationships" id="262" r:id="R4dcec489eeb44387"/>
    <p:sldId xmlns:r="http://schemas.openxmlformats.org/officeDocument/2006/relationships" id="263" r:id="R55b4a24858814c8a"/>
    <p:sldId xmlns:r="http://schemas.openxmlformats.org/officeDocument/2006/relationships" id="264" r:id="Rcbc75b03ce624588"/>
    <p:sldId xmlns:r="http://schemas.openxmlformats.org/officeDocument/2006/relationships" id="265" r:id="Ra22d2a89417d4d5b"/>
    <p:sldId xmlns:r="http://schemas.openxmlformats.org/officeDocument/2006/relationships" id="266" r:id="Re0fd30186774498b"/>
    <p:sldId xmlns:r="http://schemas.openxmlformats.org/officeDocument/2006/relationships" id="267" r:id="R6ec9d6ffe68b444b"/>
    <p:sldId xmlns:r="http://schemas.openxmlformats.org/officeDocument/2006/relationships" id="268" r:id="R44476b7605f140e6"/>
    <p:sldId xmlns:r="http://schemas.openxmlformats.org/officeDocument/2006/relationships" id="269" r:id="R00ea0476cd804dee"/>
    <p:sldId xmlns:r="http://schemas.openxmlformats.org/officeDocument/2006/relationships" id="270" r:id="R31e23eb798ad4db7"/>
    <p:sldId xmlns:r="http://schemas.openxmlformats.org/officeDocument/2006/relationships" id="271" r:id="Rd87daaf5d18149c5"/>
    <p:sldId xmlns:r="http://schemas.openxmlformats.org/officeDocument/2006/relationships" id="272" r:id="Rf307cf24560c448e"/>
    <p:sldId xmlns:r="http://schemas.openxmlformats.org/officeDocument/2006/relationships" id="273" r:id="R887b03749c444d91"/>
    <p:sldId xmlns:r="http://schemas.openxmlformats.org/officeDocument/2006/relationships" id="274" r:id="Rcfc8ac8c94d34d2b"/>
    <p:sldId xmlns:r="http://schemas.openxmlformats.org/officeDocument/2006/relationships" id="275" r:id="R0c6dca2934804392"/>
    <p:sldId xmlns:r="http://schemas.openxmlformats.org/officeDocument/2006/relationships" id="276" r:id="R95ce63ef5b394fad"/>
    <p:sldId xmlns:r="http://schemas.openxmlformats.org/officeDocument/2006/relationships" id="277" r:id="R659c0d9f596a41d3"/>
    <p:sldId xmlns:r="http://schemas.openxmlformats.org/officeDocument/2006/relationships" id="278" r:id="R38bd4ab0cd764e1d"/>
    <p:sldId xmlns:r="http://schemas.openxmlformats.org/officeDocument/2006/relationships" id="279" r:id="Rc31325b528f44fbc"/>
    <p:sldId xmlns:r="http://schemas.openxmlformats.org/officeDocument/2006/relationships" id="280" r:id="Rf9866fe4d75e4696"/>
    <p:sldId xmlns:r="http://schemas.openxmlformats.org/officeDocument/2006/relationships" id="281" r:id="R908590f5bad04cd7"/>
    <p:sldId xmlns:r="http://schemas.openxmlformats.org/officeDocument/2006/relationships" id="282" r:id="Rf95312b519c34780"/>
    <p:sldId xmlns:r="http://schemas.openxmlformats.org/officeDocument/2006/relationships" id="283" r:id="R3ca47295e14a4c4b"/>
    <p:sldId xmlns:r="http://schemas.openxmlformats.org/officeDocument/2006/relationships" id="284" r:id="Rdd29df8de6494c93"/>
    <p:sldId xmlns:r="http://schemas.openxmlformats.org/officeDocument/2006/relationships" id="285" r:id="Re6ec706efecc4b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d534aae2c4f40" /><Relationship Type="http://schemas.openxmlformats.org/officeDocument/2006/relationships/slideMaster" Target="/ppt/slideMasters/slideMaster1.xml" Id="R68318e2ea273451e" /><Relationship Type="http://schemas.openxmlformats.org/officeDocument/2006/relationships/notesMaster" Target="/ppt/notesMasters/notesMaster1.xml" Id="Ra1de0c62972242c9" /><Relationship Type="http://schemas.openxmlformats.org/officeDocument/2006/relationships/presProps" Target="/ppt/presProps.xml" Id="R5038daa892d540ae" /><Relationship Type="http://schemas.openxmlformats.org/officeDocument/2006/relationships/tableStyles" Target="/ppt/tableStyles.xml" Id="Ra7e588cd62d340b1" /><Relationship Type="http://schemas.openxmlformats.org/officeDocument/2006/relationships/slide" Target="/ppt/slides/slide1.xml" Id="R0fa427c12b7a47ac" /><Relationship Type="http://schemas.openxmlformats.org/officeDocument/2006/relationships/slide" Target="/ppt/slides/slide2.xml" Id="R9f8dd4a2506b4951" /><Relationship Type="http://schemas.openxmlformats.org/officeDocument/2006/relationships/slide" Target="/ppt/slides/slide3.xml" Id="Ra328cfcaecae441a" /><Relationship Type="http://schemas.openxmlformats.org/officeDocument/2006/relationships/slide" Target="/ppt/slides/slide4.xml" Id="R930885ac02334bb9" /><Relationship Type="http://schemas.openxmlformats.org/officeDocument/2006/relationships/slide" Target="/ppt/slides/slide5.xml" Id="Rb33919608fd14ebb" /><Relationship Type="http://schemas.openxmlformats.org/officeDocument/2006/relationships/slide" Target="/ppt/slides/slide6.xml" Id="Rf9f077f57d2f4a13" /><Relationship Type="http://schemas.openxmlformats.org/officeDocument/2006/relationships/slide" Target="/ppt/slides/slide7.xml" Id="R4dcec489eeb44387" /><Relationship Type="http://schemas.openxmlformats.org/officeDocument/2006/relationships/slide" Target="/ppt/slides/slide8.xml" Id="R55b4a24858814c8a" /><Relationship Type="http://schemas.openxmlformats.org/officeDocument/2006/relationships/slide" Target="/ppt/slides/slide9.xml" Id="Rcbc75b03ce624588" /><Relationship Type="http://schemas.openxmlformats.org/officeDocument/2006/relationships/slide" Target="/ppt/slides/slide10.xml" Id="Ra22d2a89417d4d5b" /><Relationship Type="http://schemas.openxmlformats.org/officeDocument/2006/relationships/slide" Target="/ppt/slides/slide11.xml" Id="Re0fd30186774498b" /><Relationship Type="http://schemas.openxmlformats.org/officeDocument/2006/relationships/slide" Target="/ppt/slides/slide12.xml" Id="R6ec9d6ffe68b444b" /><Relationship Type="http://schemas.openxmlformats.org/officeDocument/2006/relationships/slide" Target="/ppt/slides/slide13.xml" Id="R44476b7605f140e6" /><Relationship Type="http://schemas.openxmlformats.org/officeDocument/2006/relationships/slide" Target="/ppt/slides/slide14.xml" Id="R00ea0476cd804dee" /><Relationship Type="http://schemas.openxmlformats.org/officeDocument/2006/relationships/slide" Target="/ppt/slides/slide15.xml" Id="R31e23eb798ad4db7" /><Relationship Type="http://schemas.openxmlformats.org/officeDocument/2006/relationships/slide" Target="/ppt/slides/slide16.xml" Id="Rd87daaf5d18149c5" /><Relationship Type="http://schemas.openxmlformats.org/officeDocument/2006/relationships/slide" Target="/ppt/slides/slide17.xml" Id="Rf307cf24560c448e" /><Relationship Type="http://schemas.openxmlformats.org/officeDocument/2006/relationships/slide" Target="/ppt/slides/slide18.xml" Id="R887b03749c444d91" /><Relationship Type="http://schemas.openxmlformats.org/officeDocument/2006/relationships/slide" Target="/ppt/slides/slide19.xml" Id="Rcfc8ac8c94d34d2b" /><Relationship Type="http://schemas.openxmlformats.org/officeDocument/2006/relationships/slide" Target="/ppt/slides/slide20.xml" Id="R0c6dca2934804392" /><Relationship Type="http://schemas.openxmlformats.org/officeDocument/2006/relationships/slide" Target="/ppt/slides/slide21.xml" Id="R95ce63ef5b394fad" /><Relationship Type="http://schemas.openxmlformats.org/officeDocument/2006/relationships/slide" Target="/ppt/slides/slide22.xml" Id="R659c0d9f596a41d3" /><Relationship Type="http://schemas.openxmlformats.org/officeDocument/2006/relationships/slide" Target="/ppt/slides/slide23.xml" Id="R38bd4ab0cd764e1d" /><Relationship Type="http://schemas.openxmlformats.org/officeDocument/2006/relationships/slide" Target="/ppt/slides/slide24.xml" Id="Rc31325b528f44fbc" /><Relationship Type="http://schemas.openxmlformats.org/officeDocument/2006/relationships/slide" Target="/ppt/slides/slide25.xml" Id="Rf9866fe4d75e4696" /><Relationship Type="http://schemas.openxmlformats.org/officeDocument/2006/relationships/slide" Target="/ppt/slides/slide26.xml" Id="R908590f5bad04cd7" /><Relationship Type="http://schemas.openxmlformats.org/officeDocument/2006/relationships/slide" Target="/ppt/slides/slide27.xml" Id="Rf95312b519c34780" /><Relationship Type="http://schemas.openxmlformats.org/officeDocument/2006/relationships/slide" Target="/ppt/slides/slide28.xml" Id="R3ca47295e14a4c4b" /><Relationship Type="http://schemas.openxmlformats.org/officeDocument/2006/relationships/slide" Target="/ppt/slides/slide29.xml" Id="Rdd29df8de6494c93" /><Relationship Type="http://schemas.openxmlformats.org/officeDocument/2006/relationships/slide" Target="/ppt/slides/slide30.xml" Id="Re6ec706efecc4b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d1354e067448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ea76ee5f44be4" /><Relationship Type="http://schemas.openxmlformats.org/officeDocument/2006/relationships/notesMaster" Target="/ppt/notesMasters/notesMaster1.xml" Id="R8ec9125e075841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5d5a053bd43c2" /><Relationship Type="http://schemas.openxmlformats.org/officeDocument/2006/relationships/notesMaster" Target="/ppt/notesMasters/notesMaster1.xml" Id="R8609765050c445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7050d75a5543d9" /><Relationship Type="http://schemas.openxmlformats.org/officeDocument/2006/relationships/notesMaster" Target="/ppt/notesMasters/notesMaster1.xml" Id="R09c12f8dc87245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05e34a09e45e9" /><Relationship Type="http://schemas.openxmlformats.org/officeDocument/2006/relationships/notesMaster" Target="/ppt/notesMasters/notesMaster1.xml" Id="Rb5299c5e6eb041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aaf39b9fd842b7" /><Relationship Type="http://schemas.openxmlformats.org/officeDocument/2006/relationships/notesMaster" Target="/ppt/notesMasters/notesMaster1.xml" Id="R581f904d8e3c41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66ad2e66f44dbf" /><Relationship Type="http://schemas.openxmlformats.org/officeDocument/2006/relationships/notesMaster" Target="/ppt/notesMasters/notesMaster1.xml" Id="R26505f4817fa4e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dcaa2488424d9e" /><Relationship Type="http://schemas.openxmlformats.org/officeDocument/2006/relationships/notesMaster" Target="/ppt/notesMasters/notesMaster1.xml" Id="R92023d2217d342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4b215fe0954f74" /><Relationship Type="http://schemas.openxmlformats.org/officeDocument/2006/relationships/notesMaster" Target="/ppt/notesMasters/notesMaster1.xml" Id="Rddc531e47d5f45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1bb04256b44390" /><Relationship Type="http://schemas.openxmlformats.org/officeDocument/2006/relationships/notesMaster" Target="/ppt/notesMasters/notesMaster1.xml" Id="R69a4165e422f4c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61bd8cf8344bf" /><Relationship Type="http://schemas.openxmlformats.org/officeDocument/2006/relationships/notesMaster" Target="/ppt/notesMasters/notesMaster1.xml" Id="R88e911e0df2544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853b29ff6e41f8" /><Relationship Type="http://schemas.openxmlformats.org/officeDocument/2006/relationships/notesMaster" Target="/ppt/notesMasters/notesMaster1.xml" Id="R1ecca775091b43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6b4e2ddc2b4699" /><Relationship Type="http://schemas.openxmlformats.org/officeDocument/2006/relationships/notesMaster" Target="/ppt/notesMasters/notesMaster1.xml" Id="R663a36a9094540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657fe2dc1c4fcb" /><Relationship Type="http://schemas.openxmlformats.org/officeDocument/2006/relationships/notesMaster" Target="/ppt/notesMasters/notesMaster1.xml" Id="R76df3dcc39bf47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cc979ce60e44ad" /><Relationship Type="http://schemas.openxmlformats.org/officeDocument/2006/relationships/notesMaster" Target="/ppt/notesMasters/notesMaster1.xml" Id="R30289790b16847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57fc23fd2441b7" /><Relationship Type="http://schemas.openxmlformats.org/officeDocument/2006/relationships/notesMaster" Target="/ppt/notesMasters/notesMaster1.xml" Id="R63e13fcd4ba240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3bf8745e77407e" /><Relationship Type="http://schemas.openxmlformats.org/officeDocument/2006/relationships/notesMaster" Target="/ppt/notesMasters/notesMaster1.xml" Id="R03acdc4a241d48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0fab9074c344ca" /><Relationship Type="http://schemas.openxmlformats.org/officeDocument/2006/relationships/notesMaster" Target="/ppt/notesMasters/notesMaster1.xml" Id="Re8c414a8e5cf44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8524d66bc5b4363" /><Relationship Type="http://schemas.openxmlformats.org/officeDocument/2006/relationships/notesMaster" Target="/ppt/notesMasters/notesMaster1.xml" Id="R1a69f3f0b27a4d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f31b0ef007409a" /><Relationship Type="http://schemas.openxmlformats.org/officeDocument/2006/relationships/notesMaster" Target="/ppt/notesMasters/notesMaster1.xml" Id="Ra7d7e0cb4d8b41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27c071a4f3457b" /><Relationship Type="http://schemas.openxmlformats.org/officeDocument/2006/relationships/notesMaster" Target="/ppt/notesMasters/notesMaster1.xml" Id="R38179b6f80d94f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765fc496b4456d" /><Relationship Type="http://schemas.openxmlformats.org/officeDocument/2006/relationships/notesMaster" Target="/ppt/notesMasters/notesMaster1.xml" Id="R0f688b5c795246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e365f649c34168" /><Relationship Type="http://schemas.openxmlformats.org/officeDocument/2006/relationships/notesMaster" Target="/ppt/notesMasters/notesMaster1.xml" Id="R0a8ffd41fc2645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16a65d683a4aff" /><Relationship Type="http://schemas.openxmlformats.org/officeDocument/2006/relationships/notesMaster" Target="/ppt/notesMasters/notesMaster1.xml" Id="R6d7c1f7bfb4843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54186ef16d4546" /><Relationship Type="http://schemas.openxmlformats.org/officeDocument/2006/relationships/notesMaster" Target="/ppt/notesMasters/notesMaster1.xml" Id="R88a5953a70704e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440a521a2d441a" /><Relationship Type="http://schemas.openxmlformats.org/officeDocument/2006/relationships/notesMaster" Target="/ppt/notesMasters/notesMaster1.xml" Id="Radb711eeca9640d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5e0ee2b0c084f72" /><Relationship Type="http://schemas.openxmlformats.org/officeDocument/2006/relationships/notesMaster" Target="/ppt/notesMasters/notesMaster1.xml" Id="R9b361ebcdba44e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8e0f6170364274" /><Relationship Type="http://schemas.openxmlformats.org/officeDocument/2006/relationships/notesMaster" Target="/ppt/notesMasters/notesMaster1.xml" Id="R11ce226373b748c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88c37e77ac946ee" /><Relationship Type="http://schemas.openxmlformats.org/officeDocument/2006/relationships/notesMaster" Target="/ppt/notesMasters/notesMaster1.xml" Id="R1ee4a176009843e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bad3e2c92e4e69" /><Relationship Type="http://schemas.openxmlformats.org/officeDocument/2006/relationships/notesMaster" Target="/ppt/notesMasters/notesMaster1.xml" Id="R91bca12cc7cc46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ceb189f0c6b4e38" /><Relationship Type="http://schemas.openxmlformats.org/officeDocument/2006/relationships/notesMaster" Target="/ppt/notesMasters/notesMaster1.xml" Id="Rcb1ee4525e26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by stating the thesis in one sentence.</a:t>
            </a:r>
          </a:p>
          <a:p xmlns:a="http://schemas.openxmlformats.org/drawingml/2006/main">
            <a:r>
              <a:t>Emphasize that the strongest claim is pathway-level and time-resolved: a 5-min pulse that reverses by 15 min.</a:t>
            </a:r>
          </a:p>
          <a:p xmlns:a="http://schemas.openxmlformats.org/drawingml/2006/main">
            <a:r>
              <a:t>Tell the committee that the deck will move from design and QC to single-gene evidence, pathway evidence, and a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conceptual gap, not as a claim that local mechanisms are insufficient.</a:t>
            </a:r>
          </a:p>
          <a:p xmlns:a="http://schemas.openxmlformats.org/drawingml/2006/main">
            <a:r>
              <a:t>The experiment asks whether a transcriptional component runs in parallel with canonical local signaling.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up why GSEA matters before showing the data.</a:t>
            </a:r>
          </a:p>
          <a:p xmlns:a="http://schemas.openxmlformats.org/drawingml/2006/main">
            <a:r>
              <a:t>A five-minute RNA-seq study should not be expected to produce hundreds of large-effect DEGs.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 about the design limitation early.</a:t>
            </a:r>
          </a:p>
          <a:p xmlns:a="http://schemas.openxmlformats.org/drawingml/2006/main">
            <a:r>
              <a:t>This will make the later emphasis on 5v0 and 15v5 easier to defend.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replicate is modeled, not ignored.</a:t>
            </a:r>
          </a:p>
          <a:p xmlns:a="http://schemas.openxmlformats.org/drawingml/2006/main">
            <a:r>
              <a:t>Explain relaxed and strict thresholds if asked: padj &lt; 0.05, strict adds absolute log2FC &gt; 0.585.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short: the purpose is to reassure the committee before the biological slides.</a:t>
            </a:r>
          </a:p>
          <a:p xmlns:a="http://schemas.openxmlformats.org/drawingml/2006/main">
            <a:r>
              <a:t>Mention that detailed QC files remain available in the results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Acknowledge that replicate explains a large part of top-level variance.</a:t>
            </a:r>
          </a:p>
          <a:p xmlns:a="http://schemas.openxmlformats.org/drawingml/2006/main">
            <a:r>
              <a:t>Then immediately connect this to the model: replicate was included in the design, so DE inference is adjusted.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prevent a common concern: the analysis is not hiding batch effects.</a:t>
            </a:r>
          </a:p>
          <a:p xmlns:a="http://schemas.openxmlformats.org/drawingml/2006/main">
            <a:r>
              <a:t>Clarify the distinction between visualization correction and statistical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Tubb3, Stmn2 and Map2 as high neuronal markers.</a:t>
            </a:r>
          </a:p>
          <a:p xmlns:a="http://schemas.openxmlformats.org/drawingml/2006/main">
            <a:r>
              <a:t>The main purpose is to argue that downstream changes are transcriptional, not culture-composition shifts.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the committee from over-focusing on the small number of strict DEGs.</a:t>
            </a:r>
          </a:p>
          <a:p xmlns:a="http://schemas.openxmlformats.org/drawingml/2006/main">
            <a:r>
              <a:t>It also sets up why the GSEA slides are central evidence rather than secondary decoration.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contrast logic explicit.</a:t>
            </a:r>
          </a:p>
          <a:p xmlns:a="http://schemas.openxmlformats.org/drawingml/2006/main">
            <a:r>
              <a:t>15v0 alone is limited by the shared control design; 15v5 closes the temporal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is not the number of points; it is that the genes are biologically coherent.</a:t>
            </a:r>
          </a:p>
          <a:p xmlns:a="http://schemas.openxmlformats.org/drawingml/2006/main">
            <a:r>
              <a:t>Use Fos and Rock1 as concrete anchors before moving to GSEA.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table is designed for oral defense: you can point to one or two genes rather than reading every row.</a:t>
            </a:r>
          </a:p>
          <a:p xmlns:a="http://schemas.openxmlformats.org/drawingml/2006/main">
            <a:r>
              <a:t>Mention Npas4 verbally as LRT-supported if the committee asks about IEGs.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bridge from individual genes to temporal behavior.</a:t>
            </a:r>
          </a:p>
          <a:p xmlns:a="http://schemas.openxmlformats.org/drawingml/2006/main">
            <a:r>
              <a:t>Avoid overclaiming clustering; the main claim is coherence, not perfect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what the LRT tests before showing the trajectory.</a:t>
            </a:r>
          </a:p>
          <a:p xmlns:a="http://schemas.openxmlformats.org/drawingml/2006/main">
            <a:r>
              <a:t>The y-axis choice matters: row-scaled VST expression shows shape, whereas log2FC would impose a pairwise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this figure uses Z-score of VST-normalized expression.</a:t>
            </a:r>
          </a:p>
          <a:p xmlns:a="http://schemas.openxmlformats.org/drawingml/2006/main">
            <a:r>
              <a:t>Describe the plot as time-dependent genes identified by LRT, not as a Wald contrast.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good place to show scientific caution.</a:t>
            </a:r>
          </a:p>
          <a:p xmlns:a="http://schemas.openxmlformats.org/drawingml/2006/main">
            <a:r>
              <a:t>The pathway-level reversal is cleaner than every individual gene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for mechanism discussion because ROCK is close to canonical guidance signaling.</a:t>
            </a:r>
          </a:p>
          <a:p xmlns:a="http://schemas.openxmlformats.org/drawingml/2006/main">
            <a:r>
              <a:t>Do not overstate causality: the RNA-seq shows selective transcriptional response, not protein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central nervous system neuron differentiation, neuron migration, neuron projection guidance, and axon guidance.</a:t>
            </a:r>
          </a:p>
          <a:p xmlns:a="http://schemas.openxmlformats.org/drawingml/2006/main">
            <a:r>
              <a:t>This is one of the main result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the transcriptomic result back to the ligand's known function.</a:t>
            </a:r>
          </a:p>
          <a:p xmlns:a="http://schemas.openxmlformats.org/drawingml/2006/main">
            <a:r>
              <a:t>Mention that calcium and adhesion-related pathways also appear.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synthesis slide. It turns the gene and pathway lists into one interpretable program.</a:t>
            </a:r>
          </a:p>
          <a:p xmlns:a="http://schemas.openxmlformats.org/drawingml/2006/main">
            <a:r>
              <a:t>Emphasize that the result is coordinated and bidirectional.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important point is not that nothing happens by 15 min; rather, 15v5 shows reversal relative to the 5-min state.</a:t>
            </a:r>
          </a:p>
          <a:p xmlns:a="http://schemas.openxmlformats.org/drawingml/2006/main">
            <a:r>
              <a:t>This is central to the transient pulse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this slide. It is the headline result.</a:t>
            </a:r>
          </a:p>
          <a:p xmlns:a="http://schemas.openxmlformats.org/drawingml/2006/main">
            <a:r>
              <a:t>Explain that the same pathways that rise at 5 min tend to fall in 15v5, and vice 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nuanced.</a:t>
            </a:r>
          </a:p>
          <a:p xmlns:a="http://schemas.openxmlformats.org/drawingml/2006/main">
            <a:r>
              <a:t>Say that the transcriptional guidance program largely returns, while a late mitochondrial/OXPHOS signal remains detectable.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if the committee asks you to summarize all results in one view.</a:t>
            </a:r>
          </a:p>
          <a:p xmlns:a="http://schemas.openxmlformats.org/drawingml/2006/main">
            <a:r>
              <a:t>The table intentionally combines genes, trajectories and GSEA rather than separating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conceptual payoff of the deck.</a:t>
            </a:r>
          </a:p>
          <a:p xmlns:a="http://schemas.openxmlformats.org/drawingml/2006/main">
            <a:r>
              <a:t>Be clear that this is a proposed model, not proven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slide.</a:t>
            </a:r>
          </a:p>
          <a:p xmlns:a="http://schemas.openxmlformats.org/drawingml/2006/main">
            <a:r>
              <a:t>Frame novelty conservatively: the dataset suggests a fast transcriptional layer that merits mechanistic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meant to pre-empt the most likely committee critiques.</a:t>
            </a:r>
          </a:p>
          <a:p xmlns:a="http://schemas.openxmlformats.org/drawingml/2006/main">
            <a:r>
              <a:t>Do not apologize for the study; define exactly what the design supports.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project has a clear next phase.</a:t>
            </a:r>
          </a:p>
          <a:p xmlns:a="http://schemas.openxmlformats.org/drawingml/2006/main">
            <a:r>
              <a:t>The most direct validation is dense time-course qPCR plus receptor perturbation.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returning to the central claim.</a:t>
            </a:r>
          </a:p>
          <a:p xmlns:a="http://schemas.openxmlformats.org/drawingml/2006/main">
            <a:r>
              <a:t>Do not add new data here; leave the final sentence clean and memorable.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606edc72042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5ba63d5eb4839" /><Relationship Type="http://schemas.openxmlformats.org/officeDocument/2006/relationships/slideLayout" Target="/ppt/slideLayouts/slideLayout1.xml" Id="R41515f854b2441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515f854b2441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b57d58e464c72" /><Relationship Type="http://schemas.openxmlformats.org/officeDocument/2006/relationships/notesSlide" Target="/ppt/notesSlides/notesSlide1.xml" Id="R18414236bbcf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42531f71c436c" /><Relationship Type="http://schemas.openxmlformats.org/officeDocument/2006/relationships/notesSlide" Target="/ppt/notesSlides/notesSlide2.xml" Id="R9350838e152a40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7ca51c498477a" /><Relationship Type="http://schemas.openxmlformats.org/officeDocument/2006/relationships/notesSlide" Target="/ppt/notesSlides/notesSlide3.xml" Id="R91264d8e47d348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4932e99b04be6" /><Relationship Type="http://schemas.openxmlformats.org/officeDocument/2006/relationships/notesSlide" Target="/ppt/notesSlides/notesSlide4.xml" Id="R9a4f79758fb94a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eb82c100143aa" /><Relationship Type="http://schemas.openxmlformats.org/officeDocument/2006/relationships/notesSlide" Target="/ppt/notesSlides/notesSlide5.xml" Id="R07a53df173364a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62418b65a4479" /><Relationship Type="http://schemas.openxmlformats.org/officeDocument/2006/relationships/image" Target="/ppt/media/image.png" Id="R575241df10424d68" /><Relationship Type="http://schemas.openxmlformats.org/officeDocument/2006/relationships/image" Target="/ppt/media/image2.png" Id="Rcfada23ce5204c82" /><Relationship Type="http://schemas.openxmlformats.org/officeDocument/2006/relationships/notesSlide" Target="/ppt/notesSlides/notesSlide6.xml" Id="Rd7ef97094f7040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196eef0ef4535" /><Relationship Type="http://schemas.openxmlformats.org/officeDocument/2006/relationships/image" Target="/ppt/media/image3.png" Id="R1621a72918a748e3" /><Relationship Type="http://schemas.openxmlformats.org/officeDocument/2006/relationships/image" Target="/ppt/media/image4.png" Id="Ra2b56769c91c4683" /><Relationship Type="http://schemas.openxmlformats.org/officeDocument/2006/relationships/notesSlide" Target="/ppt/notesSlides/notesSlide7.xml" Id="R73afccd3adeb4d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3f956224b4750" /><Relationship Type="http://schemas.openxmlformats.org/officeDocument/2006/relationships/image" Target="/ppt/media/image5.png" Id="R1ef048e491114e66" /><Relationship Type="http://schemas.openxmlformats.org/officeDocument/2006/relationships/notesSlide" Target="/ppt/notesSlides/notesSlide8.xml" Id="Rb5014a4409d74d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fe587691146b1" /><Relationship Type="http://schemas.openxmlformats.org/officeDocument/2006/relationships/image" Target="/ppt/media/image6.png" Id="Re88388bcfe2045d7" /><Relationship Type="http://schemas.openxmlformats.org/officeDocument/2006/relationships/notesSlide" Target="/ppt/notesSlides/notesSlide9.xml" Id="R73f246382a4248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3495387d44d43" /><Relationship Type="http://schemas.openxmlformats.org/officeDocument/2006/relationships/notesSlide" Target="/ppt/notesSlides/notesSlide10.xml" Id="R16b377f517ae4b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b9bada0d54589" /><Relationship Type="http://schemas.openxmlformats.org/officeDocument/2006/relationships/notesSlide" Target="/ppt/notesSlides/notesSlide11.xml" Id="Re1036bc5121346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9fef8db5a4b03" /><Relationship Type="http://schemas.openxmlformats.org/officeDocument/2006/relationships/image" Target="/ppt/media/image7.png" Id="Rce9c17266cc14cb6" /><Relationship Type="http://schemas.openxmlformats.org/officeDocument/2006/relationships/notesSlide" Target="/ppt/notesSlides/notesSlide12.xml" Id="R7c667f0b0a4a4c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1c9bc3e2b40d1" /><Relationship Type="http://schemas.openxmlformats.org/officeDocument/2006/relationships/notesSlide" Target="/ppt/notesSlides/notesSlide13.xml" Id="R6fc2be8a41b344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b28b3cac84dd4" /><Relationship Type="http://schemas.openxmlformats.org/officeDocument/2006/relationships/image" Target="/ppt/media/image8.png" Id="R470bf6b51bf54100" /><Relationship Type="http://schemas.openxmlformats.org/officeDocument/2006/relationships/notesSlide" Target="/ppt/notesSlides/notesSlide14.xml" Id="Rf29e29b0a7ce41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915a8d1584091" /><Relationship Type="http://schemas.openxmlformats.org/officeDocument/2006/relationships/notesSlide" Target="/ppt/notesSlides/notesSlide15.xml" Id="Rd6164e6d205646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36331f21c439b" /><Relationship Type="http://schemas.openxmlformats.org/officeDocument/2006/relationships/image" Target="/ppt/media/image9.png" Id="R1f88579c865a48b0" /><Relationship Type="http://schemas.openxmlformats.org/officeDocument/2006/relationships/notesSlide" Target="/ppt/notesSlides/notesSlide16.xml" Id="Ra72f63e66ca14e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6ec98d1014ac4" /><Relationship Type="http://schemas.openxmlformats.org/officeDocument/2006/relationships/image" Target="/ppt/media/image10.png" Id="R48b483aecaf14545" /><Relationship Type="http://schemas.openxmlformats.org/officeDocument/2006/relationships/notesSlide" Target="/ppt/notesSlides/notesSlide17.xml" Id="R2d9c80ce1ff948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2168716f9478b" /><Relationship Type="http://schemas.openxmlformats.org/officeDocument/2006/relationships/image" Target="/ppt/media/image11.png" Id="R8dd4eab0e9044203" /><Relationship Type="http://schemas.openxmlformats.org/officeDocument/2006/relationships/notesSlide" Target="/ppt/notesSlides/notesSlide18.xml" Id="R679ca0b7219c4d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f464b56094c16" /><Relationship Type="http://schemas.openxmlformats.org/officeDocument/2006/relationships/image" Target="/ppt/media/image12.png" Id="R4effecccf88e42d2" /><Relationship Type="http://schemas.openxmlformats.org/officeDocument/2006/relationships/notesSlide" Target="/ppt/notesSlides/notesSlide19.xml" Id="R8d8e2e31cbf940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17eae146b4f11" /><Relationship Type="http://schemas.openxmlformats.org/officeDocument/2006/relationships/image" Target="/ppt/media/image13.png" Id="R3a644d3f827d430f" /><Relationship Type="http://schemas.openxmlformats.org/officeDocument/2006/relationships/notesSlide" Target="/ppt/notesSlides/notesSlide20.xml" Id="Rea33e2afd2f24d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808bfda9c40fa" /><Relationship Type="http://schemas.openxmlformats.org/officeDocument/2006/relationships/notesSlide" Target="/ppt/notesSlides/notesSlide21.xml" Id="R46606bb2efc848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fa44ec8dc4eae" /><Relationship Type="http://schemas.openxmlformats.org/officeDocument/2006/relationships/image" Target="/ppt/media/image14.png" Id="Ree823838fe3b4a53" /><Relationship Type="http://schemas.openxmlformats.org/officeDocument/2006/relationships/notesSlide" Target="/ppt/notesSlides/notesSlide22.xml" Id="R760a8ff74a9940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35927ca314989" /><Relationship Type="http://schemas.openxmlformats.org/officeDocument/2006/relationships/image" Target="/ppt/media/image15.png" Id="R8fbb1a5ff420407a" /><Relationship Type="http://schemas.openxmlformats.org/officeDocument/2006/relationships/notesSlide" Target="/ppt/notesSlides/notesSlide23.xml" Id="Rb2dde4d320b34c6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1350de52a4eb4" /><Relationship Type="http://schemas.openxmlformats.org/officeDocument/2006/relationships/image" Target="/ppt/media/image16.png" Id="Rfdf590dbaf234132" /><Relationship Type="http://schemas.openxmlformats.org/officeDocument/2006/relationships/notesSlide" Target="/ppt/notesSlides/notesSlide24.xml" Id="R5512cf8fcace4fb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7e3c689134756" /><Relationship Type="http://schemas.openxmlformats.org/officeDocument/2006/relationships/notesSlide" Target="/ppt/notesSlides/notesSlide25.xml" Id="R03486ba27271420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2c4918ef8446c" /><Relationship Type="http://schemas.openxmlformats.org/officeDocument/2006/relationships/notesSlide" Target="/ppt/notesSlides/notesSlide26.xml" Id="Rb64352dc6f424d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2a4cfff3f49c3" /><Relationship Type="http://schemas.openxmlformats.org/officeDocument/2006/relationships/notesSlide" Target="/ppt/notesSlides/notesSlide27.xml" Id="Re4e0867c231245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4676508ad48ed" /><Relationship Type="http://schemas.openxmlformats.org/officeDocument/2006/relationships/notesSlide" Target="/ppt/notesSlides/notesSlide28.xml" Id="R8fa39be1e52c42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2ab8f6dac4723" /><Relationship Type="http://schemas.openxmlformats.org/officeDocument/2006/relationships/notesSlide" Target="/ppt/notesSlides/notesSlide29.xml" Id="R0a28b5c583464d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20123965b4f62" /><Relationship Type="http://schemas.openxmlformats.org/officeDocument/2006/relationships/notesSlide" Target="/ppt/notesSlides/notesSlide30.xml" Id="R5d4caa7b47f64c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EBF61-B712-44DA-A2A4-74CF01A3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DEFENSE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8B56D-2567-4934-B91B-5DD4BB28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Acute Netrin-1 induces a rapid, reversible transcriptional 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6380E-C17A-4224-8027-C615E91F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deck is organized as a question-to-evidence arc, not as a file-by-file result tour.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B7704-1A90-437D-98A3-C54DCC7A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1FA90-542D-49C3-9809-E87AAC55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209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ADE55-1D90-49A9-8DA4-012CBF3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08927-5AFB-487E-9F24-C16B9BE1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main response window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6561F-8E5D-4A33-AE47-6B99947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476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DC937-757E-41D9-8101-A827CABA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98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r = -0.991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52D10-9AD5-42C0-8B34-96AB3829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575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pathway reversal by 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EA97C-E1DC-496E-977E-8AD7BB2C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2209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04A43-3E98-4E7C-B3F5-6759F3A1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82375-8FC3-4763-BD64-B58C736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significant GO BP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9A838-319D-4005-A7E8-1E03512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2209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594B5-FF1A-42B7-A02C-F61BB06C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098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6F479-A25E-4891-AED2-D78D0191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15v0 significant GO BP 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FEBD2-0E2B-407C-9C88-5A0E192B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Central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AC182-5252-4E6A-AD4D-F5D7F17E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Netrin-1 does not simply trigger local cytoskeletal signaling; within minutes, it engages a coordinated and transient transcriptional program in cortical neurons.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10FA7-9807-4778-8C5E-91E44BC6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F5808-AD42-4BF5-A78D-FB079E11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3504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6BA0E7-4960-4F00-947B-C1180D6C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BIOLOGICAL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40599-127E-403B-AE19-06A2E62C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Netrin-1 is classically fast, local and guidance-related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349F8-6354-4EA7-82FD-7AAA5DF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open question is whether a minutes-scale transcriptional layer also exists.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7C6E0-861F-436E-9F71-A7DAD01D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92955-497D-41F2-AF4B-0B6F605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79252-3CDA-44F5-BC01-25CFD0EB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Ligand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2CEE2-0811-428C-BB61-7637A0AA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Netrin-1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8AA5A-AFFC-4D85-A77E-0627B29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A8DCE-0F56-40E4-883F-4F0DEAC1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1A013-2D92-4FD2-A37F-34DC5D96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Receptors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13FB4-F95E-408D-BD56-6B61F7A0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DCC / UNC5 axis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3E1D7-13B0-47BC-B955-4B341132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CDCF5-D66F-456C-A249-77C2EF3E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6E0B7-BDB9-4B3B-BCCE-CD377B52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Local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282A3-C66D-4F42-9810-ED32E62B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growth cone and cytoskeleton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64566-87DD-44A0-86A1-365AC4E9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63FE0-599F-492E-874E-8F0BD64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B7811-894B-4309-88B4-63E7AC7C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Known timescale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9F0DA-A113-4877-9528-F893993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seconds to minutes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995DD-E748-48CA-95AA-025A3819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85757-6FA2-4E48-A56E-234555A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21B5C-72B5-4DF7-AA26-EEFF755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Unknown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A0C2B-3CBD-422B-A77D-7B1F5EF3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acute nuclear RNA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E2A7E-394D-43F4-8746-60BA514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E262F-907D-4767-B34D-C38C2420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A153D-07F4-4CE6-8BC2-659B9F92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This study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A76E9-B4BF-4FD6-85DD-304E1AC2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 and 15 min RNA-seq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C60EB-7F29-4928-8873-3A689CEF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962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Canonical Netrin-1 biology centers on axon guidance and growth-cone remodeling.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Most transcriptomic studies resolve hour-to-day programs, not acute 5-15 min changes.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This creates a testable gap: can a guidance cue rapidly reshape the neuronal transcriptome?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618D16-C72E-4AB4-A935-B9B81728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thesis writing pack; literature citations to be added in manuscript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0804C-92EF-47D5-8FEB-1DFFC921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6343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652107-8921-43C7-BBD7-C5201AC4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THESIS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FC16D-169A-4422-A97F-CD88D69F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Is acute Netrin-1 stimulation transcriptionally visible within minutes?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154E2-6A02-4D6F-A536-F9A63295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Three concrete questions define the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FE073-F013-4E6C-A860-7200FB38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61A61-FF56-4F6B-AD93-0047B055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1811B-BC49-4743-BB69-67331D0D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Magnitude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6B458-0EBE-48C7-96B1-23207986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5280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Are there detectable genes or pathways after only 5 min?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ED874-DA1A-4C6F-B9FF-38FB7DAC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247E1-9DDA-424A-9BFB-9B83B0FE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EA24C-7AA1-4F4A-9FB3-A3EBFA40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Which biological programs go up or down?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989B5-CE80-40D0-B171-BEC70C6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D7C3F-5043-49BF-AD62-E07A4083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Duration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FC61E-6A56-4340-AAE5-639F8851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Does the response persist, or return toward baseline by 15 min?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BE8C6-5E6E-458B-B328-CA79423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Working hypothesis: if an acute transcriptional program exists, it should be small at the DEG level but coherent at the pathway level.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A08B0-2B1D-48B7-9388-0AB5075D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2CE57-7EBD-4653-A1BA-E92A5593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2172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6B6C9-1FB7-4D2A-B9B9-7BF59D8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EXPERIMENTAL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4A313-A400-46A9-8C83-2B31EFCE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minimal acute time course tests the onset and reversal of transcriptional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311C7-D9D8-4054-85FF-C85D371D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Nine RNA-seq samples: three conditions with three biological replicates 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6555A-26A1-48E6-8C6A-038A9F85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E179E-8214-466B-A976-658665BA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853FB-05CE-4A61-83BD-0BD683B5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E18 rat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64DB-B3AE-400F-8D10-AD843FC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primary cortical culture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91834-97BF-47F8-B8D5-69DCC2A0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1AD40-E686-42DE-95A7-F89298F0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459A-1219-4B7E-A442-4DCFB066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Vehicle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CD0E5-9C95-4BFE-88E9-0AAC53B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PBS, 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5B681-71D8-4DC9-B008-2744F4CB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D18CE-BA17-4DAD-AF20-520D7EBE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F400B-32E5-4BF7-A288-ADB20E09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Netrin-1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DB508-4B39-44BB-A8CD-E989909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C9216-AC5B-4AB6-A0CB-EEAECE98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ED566-B935-4172-ABB2-B7004ED9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BBEBC-5A31-479D-AEFE-4A77BE90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Netrin-1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549E0-15D8-45BD-BAC4-071DC3D1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EE61A-AF62-47A3-95BC-83E07EDB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F66CF-5AEF-4626-B576-C92BBF50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F3E80-F339-46B6-B844-98111DE6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RNA-seq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7EF0A-1C07-42CD-A52A-7299A753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DRAGEN Salmon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E8E9B-ADBC-4AEA-844D-721AF117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E721E9-E18F-42A0-9699-CB672A3D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7DDCA-0AEE-4D1A-8EC3-5634D64F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DESeq2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9EBD2-4CD3-43D1-BFD5-033AA16D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replicate-adjusted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7120A-5E1C-45A1-8687-283CC14F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Design: Vehicle, 5 min Netrin-1, and 15 min Netrin-1.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 = 3 biological replicates per condition; each replicate is an independent well.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Important limitation: the same Vehicle 5-min control anchors both Netrin timepoints.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F63F1-1227-4FA7-ABE6-13E7CFC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FAC9A-8ABF-4E82-8E66-65476267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6598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F3A5DE-B0CC-46C1-9155-BAE4FCC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ANALYSIS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BD743-FCCA-4877-B2F5-C2E217FE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Differential expression used raw counts; batch correction was reserved for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9268B-D2B2-4776-AA14-DDF30EC1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separation is important for statistical interpretability.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B707E-2029-4EF7-91CF-A3B34B25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8FE92-354F-4B28-8BBB-8E77102D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E696D-DEFB-4F72-AAB2-0DF87577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9CEF5-BF11-492F-9840-96712ACB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gene-level Salmon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50A3B-8CB7-4A54-98E1-E20F09E1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B68C9-E4B8-42A2-9A90-71A3B82C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61220-A9AE-45B8-B60F-8AFE1BD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1FD71-4F5C-4F77-AEAF-BE189BC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tximport with length offset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ECAFA-C5A5-42CB-81A9-50AD8CB7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62AF8-BC94-456D-8954-FBE7FB4A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3CD58-85F3-4BF8-8846-E0CB414E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14062-E0AE-4323-93CF-2BEED7A6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32623 to 14161 genes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B2CA8-EA1B-46A1-8B61-BDD15515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5EEEE-5D12-4723-AE60-2864B3B1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44CBF-D96F-4498-AA9B-7B79F3F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37B11-8E04-467A-94F2-1D4C565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~ replicate + timepoint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737C1-CFCE-4D9C-A50B-ECE073BB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AD3B5-6F69-4267-A434-8F031E02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0F513-51D8-44BB-AEF7-06A5627E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Contrasts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87455-C374-4074-9127-6C962940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5v0, 15v0, 15v5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B02B13-66B2-4ED4-878D-4254A65B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63682-79B7-4943-B439-85C11795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BDFE4-4798-4471-BBDB-D305E469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GSEA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F08EB-028F-4132-8D24-A4AC7384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GO BP and KEGG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6864C0-0EC1-47BD-97E0-5EC94A1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145E5B-51CE-4122-A13C-9FD75DA6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 tests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62B942-A412-4A5D-BECA-23019C93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Raw counts with replicate in the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A5FDA-3126-4A6A-8D45-E8B82A00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E91748-5945-41C5-9F50-2364CEC0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2915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Visualizations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877B7-554E-4C3A-8DE9-0B6964A3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91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Batch-corrected only where explicitly visualized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6199F5-66CA-42E7-A1F2-935B33B7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Methods: DESeq2, limma, clusterProfiler, org.Rn.eg.db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86136A-BAD2-43DB-85A3-D264A5BC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5283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19AE5-B83F-432F-9818-461D69D7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SEQUENCING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56266-B200-49F2-917F-F04E2B09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Library size and detected genes are broadly comparable across samples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B7421-C025-4E91-BA42-33576D66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No single sample drives the analysis by obvious sequencing-depth failure.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D9E38-8878-45FE-A893-F7CB8628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54970-E969-44FF-8E9B-7FB83276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5105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241df10424d68"/>
          <a:stretch xmlns:a="http://schemas.openxmlformats.org/drawingml/2006/main"/>
        </p:blipFill>
        <p:spPr>
          <a:xfrm xmlns:a="http://schemas.openxmlformats.org/drawingml/2006/main">
            <a:off x="838200" y="2075089"/>
            <a:ext cx="4953000" cy="318407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849A9-F0B6-4288-BFD4-640BFBE4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05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da23ce5204c82"/>
          <a:stretch xmlns:a="http://schemas.openxmlformats.org/drawingml/2006/main"/>
        </p:blipFill>
        <p:spPr>
          <a:xfrm xmlns:a="http://schemas.openxmlformats.org/drawingml/2006/main">
            <a:off x="6400800" y="2075089"/>
            <a:ext cx="4953000" cy="318407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3188E-5527-4D5C-8B88-AD9475CA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6C7F0-E8C0-41AC-8DA2-28A826C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7512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99F4E-7C8B-40C6-A1EE-C93AA8C1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REPLICATE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FC24B-CD25-4C20-819A-FF3EDBA3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Sample correlation and PCA expose replicate effects that the model explicitly accounts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54A02-298C-43F9-9D1D-676F6197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is why replicate was included as a model term.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4F3D1-78B3-4B7A-9FAF-637DCA2C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E5EA4-F98D-4229-B381-0A0CBBA2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4958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1a72918a748e3"/>
          <a:stretch xmlns:a="http://schemas.openxmlformats.org/drawingml/2006/main"/>
        </p:blipFill>
        <p:spPr>
          <a:xfrm xmlns:a="http://schemas.openxmlformats.org/drawingml/2006/main">
            <a:off x="935037" y="2019300"/>
            <a:ext cx="4111625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B1A1E-BD3B-4787-A768-11A226E5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43100"/>
            <a:ext cx="52959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56769c91c4683"/>
          <a:stretch xmlns:a="http://schemas.openxmlformats.org/drawingml/2006/main"/>
        </p:blipFill>
        <p:spPr>
          <a:xfrm xmlns:a="http://schemas.openxmlformats.org/drawingml/2006/main">
            <a:off x="6291695" y="2019300"/>
            <a:ext cx="4485409" cy="3524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E634F-D5AB-4BFF-99EA-644EF354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50469-6CAD-4CC1-A343-B21E13F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6175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18EFEE-80C6-43A4-8119-8C75C398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VISUALIZATION AFTER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15F94-CF30-42A2-B516-420DFF2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Removing replicate effects for PCA reveals the expected timepoint axis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BE260-D4FC-47DE-A45A-2C070A2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Batch correction is used here only to make the time structure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E9669-382D-4604-93BF-B0543A25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8A6A8-5D8B-4516-8CD4-2C72BA85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66900"/>
            <a:ext cx="701040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048e491114e66"/>
          <a:stretch xmlns:a="http://schemas.openxmlformats.org/drawingml/2006/main"/>
        </p:blipFill>
        <p:spPr>
          <a:xfrm xmlns:a="http://schemas.openxmlformats.org/drawingml/2006/main">
            <a:off x="1901536" y="1943100"/>
            <a:ext cx="5455227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244C6-9BDA-4B32-B3BD-CA80A15F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47E2F-598C-4AFB-8C10-E3C01CCD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3CFBD-6227-4AF6-9FBE-D96305BA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1809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Timepoint becomes the dominant visible structure.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This supports, but does not replace, the replicate-adjusted DE model.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The key biological comparison remains 5v0 and 15v5.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386E1-2B6C-4E23-A044-FAFBB4C2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B89E6-25F9-4D36-94D6-AA74B5EF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877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F3039-2281-4F98-94AB-042E1B90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CULTURE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67858-8C8B-4892-8F53-07CD52F4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Marker expression supports neuron-dominant, composition-stable cultures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29E56-65D5-452F-9447-48DCABD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Cell-type markers do not suggest that the acute signal is driven by a change in composition.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F3575-AD75-4C10-8750-06451DE4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1A214-0BCF-4AAA-8661-CDEC15A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708660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388bcfe2045d7"/>
          <a:stretch xmlns:a="http://schemas.openxmlformats.org/drawingml/2006/main"/>
        </p:blipFill>
        <p:spPr>
          <a:xfrm xmlns:a="http://schemas.openxmlformats.org/drawingml/2006/main">
            <a:off x="2286000" y="192405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C0A1D-3D82-4841-AEBE-8CCA68A2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6289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D0EA1-8578-4774-9BDC-BE5BD31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Key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C12FF-69E9-436B-A820-5C7EC31A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Pan-neuronal markers are high, while glial/endothelial markers are orders of magnitude lower and stable across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AB028-9229-43C0-9F70-E5B5B487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results/02_composition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3E9EF-BA1E-43B5-9CC0-D0F4916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3396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E6B70-749B-40C2-987A-7049E042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ANALYSIS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EB5E0-1D91-4B65-99CD-DD6DD4F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Minutes-scale transcriptional effects are expected to be small but coordinated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904F6-5195-4D13-A223-8050C54D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Therefore single-gene and pathway-level evidence are interpreted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07319-D44F-4128-B655-E1E5AA9F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BA451-1A1C-49A8-863C-C0219BD2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9EF96-4EC6-457B-A506-9B063B6F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50FD3-D155-4CB4-AF55-EBFA25ED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relaxed DEGs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E962F-2702-417C-A46E-B888E66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8DDDE-2F84-498F-B4D0-56A71ADC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38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EFB49-8E3F-4E86-8915-15B16D1A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strict DEGs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0CA66-3B15-4146-BDC9-8C9A9DF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2B6FD-60F2-4D40-A5F2-00E7E07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E41C2-B9DC-4123-821B-55043262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GO BP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046E7-90D4-4F38-A3BA-B87181E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19D54-C5E2-4FAC-B01D-5E6F0F1E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38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BCAA0-503C-483D-9E08-B05169D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86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KEGG pathways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2704A-DDAA-454F-ACDC-3D8D0B5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Interpretation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E553C-15A5-4F12-B050-D214E0EC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52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 modest DEG count is not a weak result when pathway ranks show coherent biological directionality across thousands of genes.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2F56B-5639-4F4A-9189-5520F240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Values verified from DEG and GSEA CSV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21CC3-12E8-4A28-96C6-BDAF4B07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80001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E071D-2A65-4AF9-8B0E-20FF621C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TIMING OF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983D3-B7A8-47A5-AFEF-7B1F3E41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strongest transcriptional change occurs at 5 min, not at 15 min versus Vehicle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2CACE-EE41-4021-9C5D-E48E3B0C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supports an acute pulse rather than a persistent endpoint shift.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8B42A-AEFF-4C47-B412-86DB45C6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508F1-E90E-4AF7-BDB0-47A51F0C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CB0AA-3E70-4E05-901E-7E7FD086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5v0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1AD30-2922-4D9B-84BA-84E41331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32 relaxed DEGs; 5 strict DEGs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09F45-5F7A-48A3-8D3A-E7796C82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FAAFF-D380-4F91-8985-6CCA5898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15v0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9E9F7-E307-4568-984C-454AB513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1 relaxed/strict DEG; 0 GO BP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B759E-0273-424F-AF42-77044A7B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B2654-CBE1-4CF7-BEA3-356B7E8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15v5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38D11-7948-4569-B985-9D186F7C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6 relaxed DEGs; 295 GO BP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AD634-B068-41D3-AED7-5308573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informative temporal contrast is 15v5: it asks whether the 5-min state is actively reversed by 15 min.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7D4D8-5F66-4AC7-B76C-9EE4B17C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Values verified from DEG and GSEA CSV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0A225-7E57-48C3-BA80-93314570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101753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47E4F-A0F3-49C2-BF15-170E1DC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DEG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B5C3B-5F6C-4E43-AF5E-F63E3A09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small DEG set captures interpretable acute response genes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56CD3-6C29-48FA-B787-ED0BA07C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volcano plot identifies the strongest single-gene anchors for the pathway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CB3EE-D53E-48EB-AC3A-133DDFA5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27AC4-F109-4DF1-BA4D-4779A523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391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c17266cc14cb6"/>
          <a:stretch xmlns:a="http://schemas.openxmlformats.org/drawingml/2006/main"/>
        </p:blipFill>
        <p:spPr>
          <a:xfrm xmlns:a="http://schemas.openxmlformats.org/drawingml/2006/main">
            <a:off x="1729468" y="1885950"/>
            <a:ext cx="526596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31419-3C67-409D-91B8-A6D9B079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647950" cy="33147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A5D2F-A674-495E-A2FB-2CE0B27F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Highlighted genes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6208D-74BD-4F89-ACD0-CC2BCC01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076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Fos: acute IEG suppression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Rock1: cytoskeletal signaling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Srsf5/Snrnp70: RNA processing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Cntn2: axon guidance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Nos1/Ryr3: NO-calcium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FA98C-D704-410F-A881-E8B4800B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results/03_DEG/04_volcano_5v0_v6.png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A207A-9D51-4FB2-BA07-379C1582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11460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1B6B8-6DE2-4136-AF66-D341688C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REPRESENTATIVE 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92F55-9AB8-433B-8D6D-FD8086B8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5-min DEGs map to a bidirectional biological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30CF1-45ED-4E33-B4FD-DDEAE689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Several modest log2FC values are highly significant because baseline expression is robust.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8E0E5-4C12-4E49-9EAF-1CCD37F8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914400" y="2019300"/>
          <a:ext xmlns:a="http://schemas.openxmlformats.org/drawingml/2006/main" cx="7239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809750"/>
                <a:gridCol w="1809750"/>
                <a:gridCol w="1809750"/>
              </a:tblGrid>
              <a:tr h="46264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Gene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log2FC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padj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Fos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-2.35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2.4e-3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IEG suppression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Rock1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9.4e-6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cytoskeleton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Srsf5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4.5e-5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splicing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Cntn2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1.4e-2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axon guidance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Nos1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3.5e-2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signaling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Ryr3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2.4e-2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calcium release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BDDDC-7096-4A17-9DDE-EF5486E1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2152650" cy="22860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25CB8-55BC-49B8-89FC-A4A7F9C8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05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B9484-5A35-4D5B-AA1A-816FC19E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14700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Guidance and signaling genes rise, while immediate-early and RNA-processing genes fall.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64A22-A401-4F14-B429-CC5B3EAD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results/03_DEG/DEG_5v0_ALL.csv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C1B26-468A-4725-9908-10A39B29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45322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93CF38-B52E-4B9B-B891-DFE51F21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DEG HEATMAP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38FCA-C2D2-4E16-8B14-93C2CFD6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5-min DEG set forms a coherent sample-level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2B660-9A8E-4965-AC5C-78503D1D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heatmap checks whether DEG behavior is distributed across samples rather than confined to one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8D02D-5B70-4FE4-B15F-EB9545BB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03386-DAEA-497C-A586-CB08BCE3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28800"/>
            <a:ext cx="7010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bf6b51bf54100"/>
          <a:stretch xmlns:a="http://schemas.openxmlformats.org/drawingml/2006/main"/>
        </p:blipFill>
        <p:spPr>
          <a:xfrm xmlns:a="http://schemas.openxmlformats.org/drawingml/2006/main">
            <a:off x="3120838" y="1905000"/>
            <a:ext cx="385482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F1A2F-C05F-435B-9DE2-35F07623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1935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4A1CC-1901-4166-BCBE-D070F3C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AB749-B658-48F7-8ACD-51BCB881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selected DEGs separate the 5-min response while remaining consistent with the replicate-adjusted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7C20F-68EE-4F17-A006-F5BE228A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results/03_DEG/06_DEG_heatmap_5v0_v4.png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3888C-5EE5-44B8-86AC-C98B43CB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573816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D5677-78E9-46BF-8087-F746DBE4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LRT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924B5-3C3A-490D-9ECE-06120474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LRT asks whether genes change anywhere across the acute time course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7486D-78A6-42DA-BC05-305F1E1C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 trajectory visualization, row-scaled VST expression is the most defensible y-axis.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B02C4-0C9F-4490-8AF4-64ED6F3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1C2BB-88ED-4386-88A2-25E99F51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FB113-6196-4643-9726-530EF634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193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Statistical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A9C60-3238-4260-B8D2-9FC3F921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Full model:</a:t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~ replicate + timepoint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Reduced model:</a:t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~ replicate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14D55-B3A5-4888-BDC0-90473034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C54DC-BC90-452D-8C56-680B88A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193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Visualization y-axis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00DBF-B9F1-41B5-9ED3-A7477A23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457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Z-score of VST-normalized expression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Also label as:</a:t>
            </a:r>
          </a:p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row-scaled VST expression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674FD-13C3-4115-9818-6E5EBA20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DBF14-350F-4C6B-B083-7719FA42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Why not log2FC?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F6011-FD58-4FB0-A40B-A3AB3D0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419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LRT is an overall time-effect test, not a single contrast. Z-score preserves the temporal pattern across Vehicle, 5 min and 15 min.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50E3F-8CE5-46E1-B2CD-EB7E9D97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53000"/>
            <a:ext cx="2933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53D9A-81DD-4A44-9FE0-3FE8AAF7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435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4E1ED-850E-414D-B548-215F8FF4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79120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LRT-significant time-varying genes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4E991-043B-4652-BB49-6E85B300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DESeq2 LRT; trajectory plotted as VST z-score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9AF8E-472B-4F8F-9EFF-BD3573C7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406679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7AD75-D2B3-405A-BDCB-7DC07341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LRT TRAJECTORIES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BC3D8-E768-4967-8BB2-A68569E4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Nineteen LRT genes show coordinated time-dependent expression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A02A5-D4EC-4954-8EA5-4CFA3507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plot emphasizes temporal shape rather than absolute gene abundance.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61E66-7BFF-4608-A207-61F6DA1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37D18-8AF3-4548-B2F6-E700807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2486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8579c865a48b0"/>
          <a:stretch xmlns:a="http://schemas.openxmlformats.org/drawingml/2006/main"/>
        </p:blipFill>
        <p:spPr>
          <a:xfrm xmlns:a="http://schemas.openxmlformats.org/drawingml/2006/main">
            <a:off x="1607993" y="1752600"/>
            <a:ext cx="6289964" cy="4324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9C644-6D85-455D-BF1E-DD1FE39E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038350" cy="26289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9CFD9-10B9-4A00-A059-985A44B9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3C03B-59EE-4388-A8FC-D751654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1543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Rows are genes; values are scaled per gene.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Patterns converge on a 5-min pulse and recovery/rebound.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This supports temporal coordination beyond pairwise DEGs.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2C69A-F5A0-4210-B7E8-152991F2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results/objects/LRT_19_trajectory_VSTzscore_v1.png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0FE34-1A0E-46AC-8DCB-A4EB897D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640905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6F2BD0-0FEE-4733-85C7-E62BAAA9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TEMPORAL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24946-0F02-4A3F-9B1A-FF56C2A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Representative genes show a 5-min deviation followed by partial or full 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F5EB5-9350-43F5-B10C-40177681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supports pulse-like behavior at the gene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D1D3B-969F-4F18-9D66-C4E37184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6EF2E-6976-4660-AF81-AA07DCBE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5057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483aecaf14545"/>
          <a:stretch xmlns:a="http://schemas.openxmlformats.org/drawingml/2006/main"/>
        </p:blipFill>
        <p:spPr>
          <a:xfrm xmlns:a="http://schemas.openxmlformats.org/drawingml/2006/main">
            <a:off x="1478973" y="1885950"/>
            <a:ext cx="595745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50666-F056-4486-87F1-BFF1867E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00300" cy="26860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905A6-8ABD-4D09-BFAF-E65F2AB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Important nuance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8631B-140E-4630-B715-64856A09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847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Most LRT-significant genes behave like a pulse.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Fos rebounds above Vehicle at 15 min.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Vehicle variation for Fos is visible and should be stated honestly.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6B86A-1A40-4CC1-A20A-AC62BAD6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results/03_DEG/05_trajectory_6genes.png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51187-2739-4436-9093-CAD7CC6B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738284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DEB63-9BD6-493E-A9E8-7D1CED62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ROCK SPECIFICITY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B013C-3E7D-4134-BF40-B7AE96D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Rock1 decreases acutely, while Rock2 remains statistically unchanged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F9230-812B-408F-B74D-4A6E9BDD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suggests selective regulation within a canonical cytoskeletal signaling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1DCC9-752B-47EA-A480-3E06E495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025AF-419B-4196-AA4D-B1A9999D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68199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4eab0e9044203"/>
          <a:stretch xmlns:a="http://schemas.openxmlformats.org/drawingml/2006/main"/>
        </p:blipFill>
        <p:spPr>
          <a:xfrm xmlns:a="http://schemas.openxmlformats.org/drawingml/2006/main">
            <a:off x="1688523" y="1885950"/>
            <a:ext cx="595745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E7189-8810-4C55-8ECA-F5E8EE1E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247900" cy="23622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FDB98-EB60-4189-B420-8C18469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5v0 contrast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C7902-0F0F-403B-8EDC-BD9FEF8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147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Rock1: log2FC -0.43, padj 9.4e-6</a:t>
            </a:r>
          </a:p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Rock2: log2FC +0.07, padj 0.999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335F6-D2C1-417E-BCBB-C49FE2D6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results/03_DEG/05b_rock1_vs_rock2_trajectory.png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70831-07CE-4927-9AB4-EE1C917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21081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A1BD9-9F45-4938-9970-971A5040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GO BP AT 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001E0-78F6-4A48-A67D-88B978E9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Netrin-1 activates neuron projection and axon guidance programs within 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8431F-2DA4-4166-ABBC-DE182B9E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strongest evidence is coordinated ranking across biological processes.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33A1F-7398-4E1B-8AAF-B6895DA2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B24E3-2BA1-4863-A93A-D7CDE70A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8676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fecccf88e42d2"/>
          <a:stretch xmlns:a="http://schemas.openxmlformats.org/drawingml/2006/main"/>
        </p:blipFill>
        <p:spPr>
          <a:xfrm xmlns:a="http://schemas.openxmlformats.org/drawingml/2006/main">
            <a:off x="2038350" y="1809750"/>
            <a:ext cx="523875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737E0-FE42-48CF-A26A-B0EA4C47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08AA7-0441-4D40-93BD-F77D14DA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6A46A-D73C-451A-9E92-22F97705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significant GO BP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CA9CA-94AD-43D0-8B08-045A8871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09B08-F333-4F9E-AEF2-1537FB67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338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285 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BC60F-3803-4808-9708-2CF8766E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positive NES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78C78-D3D9-46AD-AB5B-C783C7E1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results/04_GSEA/GSEA_GO_BP_5v0.csv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B4D30-6ED4-4B87-90DF-99253027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172451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48D803-0A49-413D-89B3-E6E54167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KEGG AT 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BED5D-02CB-4D06-A66E-E8A793B5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Axon guidance is the top KEGG pathway in the acute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C19D6-07DC-4054-B3C2-61FCB3FB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pathway result aligns directly with Netrin-1 biology.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9BA9E-BAE9-461F-8D24-B812ABBC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F6C4C-23EF-45FD-9BD6-09D23CDF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7391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44d3f827d430f"/>
          <a:stretch xmlns:a="http://schemas.openxmlformats.org/drawingml/2006/main"/>
        </p:blipFill>
        <p:spPr>
          <a:xfrm xmlns:a="http://schemas.openxmlformats.org/drawingml/2006/main">
            <a:off x="1273175" y="1809750"/>
            <a:ext cx="682625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B5570-D047-401C-89F0-D181B3C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228850" cy="23812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896A6-BB94-4332-AFA3-B545D5E4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860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Top KEGG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67110-4720-4E68-9D3A-F45F50B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Axon guidance</a:t>
            </a:r>
          </a:p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NES 2.16</a:t>
            </a:r>
          </a:p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BH-adjusted p = 4.1e-7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A5572-3761-42EE-9A52-947EE463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results/04_GSEA/GSEA_KEGG_5v0.csv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89A53-5915-4A11-B59C-D10A10C1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166302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ECDE5E-1357-4EE1-87C7-A7F58F7E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PROGRAM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355FF-173D-4779-B47E-8384F94C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5-min response is bidirectional, not a generic activation signature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F013B-9B61-4268-A485-92E0A1A8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Guidance-related pathways rise while RNA processing and biosynthetic modules 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0AD45-F60C-48BB-8D8E-258D6F24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EB79F-DF33-4512-B34A-23552E06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CDBAE-A067-4410-888E-4E317C49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289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Up at 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21CAE-D171-4EBF-A689-92A2E8A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3375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Neuron projection guidance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Axon guidance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Synapse assembly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Cell adhesion / IgSF CAM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NO-calcium signaling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FF743-8BCF-4F55-9834-554C146C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2A99F-372E-4FA4-B4E6-B394F5D4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Down at 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89BFB-180E-4938-BDA8-3D6A1F89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RNA processing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mRNA splicing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Ribosome biogenesis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Translation-related programs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Fatty-acid degradation signature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0F4AD-7141-4121-AE4C-496F5C5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GSEA GO BP and KEGG 5v0 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7467E-7271-475B-B441-959A14F5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877579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9A269-DDA0-4557-9EE8-73FAB6CA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15V5 REVERSAL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7ADE4-1809-4524-BB89-51089CB2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By 15 min, the 5-min GO BP program is directionally flipped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4B339-E5E4-4C9D-99E7-279D51FD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temporal contrast shows active reversal from the acute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35E7A-A3DB-410A-93FB-421931F3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412C3-C956-4922-85FC-0B104E1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8867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23838fe3b4a53"/>
          <a:stretch xmlns:a="http://schemas.openxmlformats.org/drawingml/2006/main"/>
        </p:blipFill>
        <p:spPr>
          <a:xfrm xmlns:a="http://schemas.openxmlformats.org/drawingml/2006/main">
            <a:off x="2047875" y="1809750"/>
            <a:ext cx="523875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6D4D-B35B-4E52-8CB5-920B41A3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82AB0-8C3D-4223-8A06-F53291C7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561E3-DC83-4572-9537-E684DAF7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significant GO BP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C82EB-EE5F-42DA-BB56-239F9279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6AA64-C63A-413C-8623-8EF4B7A8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338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264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2BADF-30DE-41BA-B665-6CA09BA3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negative NES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D6D17-4B15-42FD-9D6B-9118DDF7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results/04_GSEA/GSEA_GO_BP_15v5.csv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AD9CF-8EDE-4635-BC47-4EAB2231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971309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F21D6-1A8B-4D43-9D6A-07CB2ABB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QUANTITATIVE REVERSAL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181FE-D131-44CA-BFD6-43ADE18D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Shared pathways show near-perfect mirror symmetry between 5v0 and 15v5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2A03-0795-4D4C-AB22-FF34E296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is the strongest quantitative evidence for a transient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619BE-9C61-4421-93D2-8EBF5DBB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660CF-201C-4FF7-9F10-27658D59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7724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b1a5ff420407a"/>
          <a:stretch xmlns:a="http://schemas.openxmlformats.org/drawingml/2006/main"/>
        </p:blipFill>
        <p:spPr>
          <a:xfrm xmlns:a="http://schemas.openxmlformats.org/drawingml/2006/main">
            <a:off x="2218134" y="1790700"/>
            <a:ext cx="4822031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9E4B5-6BB0-413C-A4F2-998498E0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2033D-5FA3-4033-A8FB-29134032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Mirror statistic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350B9-B18C-4E30-965D-3F0C0962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1676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603 shared pathways</a:t>
            </a:r>
          </a:p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NES correlation</a:t>
            </a:r>
          </a:p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 = -0.991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9282E-DC67-437A-81CB-E0223923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results/04_GSEA/13_GSEA_mirror_scatter_5v0_vs_15v5.png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BB69B-5E42-4493-8CA6-D0796FF1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156392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FAD1CF-C51B-4057-9454-663CD97C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RETURN TOWARD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61203-09B6-44BF-B07E-D1D2273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15v0 has no significant GO BP terms, with a mild mitochondrial KEGG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795D6-61EC-42E8-A44E-64D99FE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supports pathway-level return while preserving an honest caveat.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5F45E-A925-4411-841D-066366B3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46076-90C4-46D7-9BC7-414FFC67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2009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590dbaf234132"/>
          <a:stretch xmlns:a="http://schemas.openxmlformats.org/drawingml/2006/main"/>
        </p:blipFill>
        <p:spPr>
          <a:xfrm xmlns:a="http://schemas.openxmlformats.org/drawingml/2006/main">
            <a:off x="990600" y="2347913"/>
            <a:ext cx="7048500" cy="3171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02E7C-9208-4CE3-831D-094E2CD6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400300" cy="2781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82F8F-59B1-4AFD-A86F-3923BBAB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Interpret carefully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CB97B-4EE8-4208-8A04-DC60E364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1866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GO BP: 0 significant terms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KEGG: 6 significant terms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OXPHOS leads the KEGG signal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Disease labels reflect shared mitochondrial genes, not disease biology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A42CB-12C5-4D58-9EF8-BB24E2C9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results/04_GSEA/GSEA_GO_BP_15v0.csv and GSEA_KEGG_15v0.csv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34FD5-391A-46DE-9C4F-5D1A7352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984670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8C16B1-031B-4A38-B1A7-867C14A3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INTEGRATED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C1A58-53F8-427D-A3C7-2324534A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Multiple result layers converge on the same transient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496C1-68DC-47FA-A938-5763FFE8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table is the defense-ready summary of the core evidence 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03BB2-6D37-446A-B595-352F90B5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1885950"/>
          <a:ext xmlns:a="http://schemas.openxmlformats.org/drawingml/2006/main" cx="10763250" cy="3886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2690813"/>
                <a:gridCol w="2690813"/>
                <a:gridCol w="2690813"/>
              </a:tblGrid>
              <a:tr h="5551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5 min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By 15 min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Axon guidance / projection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falls 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GO BP, KEGG, Cntn2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RNA processing / splicing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recovers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Srsf5, Snrnp70, GO BP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IEG response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rebound/return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Fos, Npas4/LRT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ROCK / cytoskeleton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Rock1 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Rock2 stable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DEG + trajectory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NO-calcium / adhesion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falls 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Nos1, Ryr3, Tln2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Mitochondria / OXPHOS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late rise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15v0/15v5 KEGG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3864C-D868-4ABB-B08C-B6511C39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Phase6 summary table and verified CSV 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D9AFB-9BA4-4538-B7A7-2D933A34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026839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6B6D0-9525-44DC-A69E-91D4514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PROPOSED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9B206-9A30-4AB9-B85F-E411F866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Netrin-1 launches a short-lived transcriptional reallocation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A1D99-3925-4ACB-8B20-AB899CDE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model integrates guidance activation with transient suppression of general RNA-processing machinery.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9FC5F-33FD-4128-AEF8-61873C05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C5B37-F5C6-4106-9626-22DCCD6B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2108A-996B-4F10-9726-38AE5A3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Netrin-1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EA13B-D251-46E0-93C5-82FE1FD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acute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72B36-EC84-44A0-88B3-DE4A0368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19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1C639-EFBE-495A-94BE-71496375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3048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9D2E6-83FB-428D-9194-F8785A8F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transcriptional pulse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642FA-7AC0-497E-8311-1289CCA0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guidance / projection up</a:t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RNA processing / ribosome down</a:t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IEG suppression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9CBC0-03A9-4F37-B338-891271F5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6B094-F468-4575-83DF-E340E970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193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3DB70-A147-46FA-862D-9674224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15-min reversal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5C746-7759-4EFD-9053-4F7D99AB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GO BP returns; 15v5 mirrors 5v0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DD5C0-A412-4BB9-93A5-7A435F3C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Mechanistic interpretation: acute guidance cues may transiently bias nuclear programs toward remodeling and away from broad biosynthetic processing, then rapidly reset.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01A37-D5A8-41F6-ABCB-F4354CAA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Model synthesized from DEG, trajectory and GSEA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16044-0A04-4427-87DB-1613C090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752238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97056-7FE4-450C-B096-9973F9E2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SCIENTIFIC SIGNIFICANCE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37332-3C1E-4239-ABF6-14D800D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novelty is minutes-scale coordination, not simply another DEG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32A1C-4F91-466E-80AF-EF3843AB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data connect a classic axon guidance cue to a fast transcriptome-wide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121F1-2A20-42A4-A6B6-1B0F7AE0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2BE20-8DFB-46C0-A209-8C20C625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38923-ED48-496E-AD7F-0FD48658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Acute transcription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7D774-FC18-44D9-80E0-BDA2B5C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Shows that a guidance cue can be transcriptomically visible within 5 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1C619-65D9-46BC-8E4A-2230F559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A2D28-4D90-4C6C-952C-9BDA59D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Bidirectional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991AD-B48E-4454-84F7-83551E30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Guidance-related pathways rise while RNA processing and ribosome modules fall.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B6A8D-BC9B-4FBA-90E9-85AB6AF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E153F-2996-40B3-948B-C65D771A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Quantified reversibility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9C057-58B4-47FC-8AB4-8A07EF6B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response reverses with r = -0.991 across shared GSEA pathways.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A1B28-9ECC-44EC-95F4-CF1A0B52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528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8EEAE-E753-4C7A-AE9E-4FB4979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Mechanistic anchors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2A3A9-A9FA-4938-8317-60A00AA5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Fos/Npas4 suppression and Rock1 specificity provide hypotheses for follow-up.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37467-DE3D-47AA-B7A7-DCC9DC0C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0E8FC-CED6-4BE5-B0EF-92E5C645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609847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2E3F83-8A82-4ED5-BAA4-60AF44D2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EC682-49D4-4B0A-BF50-5730E240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strongest conclusions are pathway-level and temporal, with clear design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DECE2-34F0-4935-96E5-73424446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Being explicit here makes the defense more credible.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4CF08-F328-40F4-AF87-CD30D3AE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30395-9BB9-4AD8-AFA9-0112789B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62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 = 3 per condition: adequate for a focused RNA-seq pilot, but small for subtle single-gene effects.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No independent PBS-15 min control: 15v0 is useful but should be interpreted with this design caveat.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Only three timepoints: pulse shape is inferred from 0/5/15 min rather than dense time-course modeling.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Bulk RNA-seq: marker analysis supports composition stability, but cell-type-specific responses remain unresolved.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RNA abundance is not protein activity: ROCK, DCC/UNC5 and cytoskeletal mechanisms require orthogonal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2D0F4-1591-4703-9B09-A8EAC258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868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DE27C-4DC7-4790-A5C2-E67210F2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57800"/>
            <a:ext cx="807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Defensible conclusion: acute Netrin-1 produces a coherent, reversible transcriptional signature; mechanism and causality require targeted follow-up.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4B2C9-20B3-4412-9852-D2BAF3D0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3A935-420B-45B7-AB10-DDF9DB2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1335116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DCF43D-F012-40CB-9818-E3C81B63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FAC73-CA38-4CF6-836A-0E86B0EE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Follow-up should test timing, mechanism, and cell specificity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54665-3686-4ED6-98EA-7680A725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These experiments convert the RNA-seq signature into mechanistic biology.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ED392-6474-4307-998C-F4D71BF2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1B1F2-E647-40D5-AFBD-B76B84B3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4514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DB0CA-B36C-4521-A48A-393E6858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Dense time course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29530-55F7-4C56-8E1F-E5918C08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0, 2, 5, 10, 15, 30 min qPCR/RNA-seq for Fos, Npas4, Rock1 and pathway markers.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171-D303-4817-BED6-B0C8CEB2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514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EAAD1-35D5-4821-BC4D-98E6CD9D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Perturb receptors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74248-56EA-49A8-8AFF-9B49E029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DCC/UNC5 blockade or knockdown to test whether the transcriptional pulse is receptor-dependent.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0ABDB-15AC-4B76-9622-769C04CF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4514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34A39-AEEC-4F0F-B5B4-BCABE017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Protein/signaling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581DE-15FD-4A11-B4CE-B6344CA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434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ROCK1 protein, phospho-signaling and cytoskeletal readouts after acute stimulation.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CEDB8-CE94-455C-B7D6-9E7D2DE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514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08921-6F25-40EF-96A7-20BD0E2D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Cell resolution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A838F-E75A-4E83-A3EE-083A37A9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Single-cell or sorted-neuron validation to localize the response within culture heterogeneity.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3FBCC-220D-4372-B1E5-42D16405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813F3-84A3-4A04-96D9-C058519A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714916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C52F8-FBF3-4968-8987-1101F3B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FINAL 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1EA4C-B17D-4622-B057-6C8989AA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Acute Netrin-1 stimulation reveals a fast, reversible neuronal transcriptional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90B24-1991-4B4B-8A66-2C456C55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result expands the time scale on which guidance cues can be discussed.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2AA4B-09DB-42CE-86F9-80F8F5EB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D0631-32AF-4F54-A904-86185F7B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0058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6C0EA-1CBA-4A81-9572-2D4875C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1935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One-sentence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CD92-19B9-4949-BC02-0488EEBB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86100"/>
            <a:ext cx="880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Within 5 minutes, Netrin-1 activates guidance/projection programs and suppresses RNA-processing/biosynthetic modules, and by 15 minutes this pathway program is almost perfectly reversed.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379C9-F9DE-4705-8CAE-0FC99493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970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AEEB5-602B-44F0-8088-046F4DDF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FBE3E-3D95-45A1-88BD-B7B4C3B9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00062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2026-06-16T23:02:46.7350000Z</dcterms:created>
  <dcterms:modified xsi:type="dcterms:W3CDTF">2026-06-16T23:02:46.7350000Z</dcterms:modified>
</coreProperties>
</file>