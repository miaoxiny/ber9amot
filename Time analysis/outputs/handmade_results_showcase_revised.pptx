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5920ec83474919" /><Relationship Type="http://schemas.openxmlformats.org/officeDocument/2006/relationships/extended-properties" Target="/docProps/app.xml" Id="R707b6d8b287f4a8d" /><Relationship Type="http://schemas.openxmlformats.org/officeDocument/2006/relationships/officeDocument" Target="/ppt/presentation.xml" Id="Rb87e10e0a7e246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4867d615694ec7"/>
  </p:sldMasterIdLst>
  <p:notesMasterIdLst>
    <p:notesMasterId xmlns:r="http://schemas.openxmlformats.org/officeDocument/2006/relationships" r:id="Radf4b024dcf24de4"/>
  </p:notesMasterIdLst>
  <p:sldIdLst>
    <p:sldId xmlns:r="http://schemas.openxmlformats.org/officeDocument/2006/relationships" id="256" r:id="Ra7dac74001a048e6"/>
    <p:sldId xmlns:r="http://schemas.openxmlformats.org/officeDocument/2006/relationships" id="257" r:id="R9ebf18813b474931"/>
    <p:sldId xmlns:r="http://schemas.openxmlformats.org/officeDocument/2006/relationships" id="258" r:id="R21d6841ca5914056"/>
    <p:sldId xmlns:r="http://schemas.openxmlformats.org/officeDocument/2006/relationships" id="259" r:id="R321d0a72fdf94f52"/>
    <p:sldId xmlns:r="http://schemas.openxmlformats.org/officeDocument/2006/relationships" id="260" r:id="R7e6f892e4f954539"/>
    <p:sldId xmlns:r="http://schemas.openxmlformats.org/officeDocument/2006/relationships" id="261" r:id="R97fe337dec1741ef"/>
    <p:sldId xmlns:r="http://schemas.openxmlformats.org/officeDocument/2006/relationships" id="262" r:id="R9d98ae824a8345ee"/>
    <p:sldId xmlns:r="http://schemas.openxmlformats.org/officeDocument/2006/relationships" id="263" r:id="Rda4bb44d96d1451b"/>
    <p:sldId xmlns:r="http://schemas.openxmlformats.org/officeDocument/2006/relationships" id="264" r:id="Re518cd30a18249d8"/>
    <p:sldId xmlns:r="http://schemas.openxmlformats.org/officeDocument/2006/relationships" id="265" r:id="Ra7fcc7a61ccd42d9"/>
    <p:sldId xmlns:r="http://schemas.openxmlformats.org/officeDocument/2006/relationships" id="266" r:id="R3bdb5d6687774d61"/>
    <p:sldId xmlns:r="http://schemas.openxmlformats.org/officeDocument/2006/relationships" id="267" r:id="R8284b17c33b34426"/>
    <p:sldId xmlns:r="http://schemas.openxmlformats.org/officeDocument/2006/relationships" id="268" r:id="R0a8a245a4a0b49d1"/>
    <p:sldId xmlns:r="http://schemas.openxmlformats.org/officeDocument/2006/relationships" id="269" r:id="Rf6a2c65801554a40"/>
    <p:sldId xmlns:r="http://schemas.openxmlformats.org/officeDocument/2006/relationships" id="270" r:id="R3a78797adee94e84"/>
    <p:sldId xmlns:r="http://schemas.openxmlformats.org/officeDocument/2006/relationships" id="271" r:id="Ra3833882369b4c5b"/>
    <p:sldId xmlns:r="http://schemas.openxmlformats.org/officeDocument/2006/relationships" id="272" r:id="Raf2f387600c14088"/>
    <p:sldId xmlns:r="http://schemas.openxmlformats.org/officeDocument/2006/relationships" id="273" r:id="Rd6a673ef14b34d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83357e42894074" /><Relationship Type="http://schemas.openxmlformats.org/officeDocument/2006/relationships/slideMaster" Target="/ppt/slideMasters/slideMaster1.xml" Id="R5b4867d615694ec7" /><Relationship Type="http://schemas.openxmlformats.org/officeDocument/2006/relationships/notesMaster" Target="/ppt/notesMasters/notesMaster1.xml" Id="Radf4b024dcf24de4" /><Relationship Type="http://schemas.openxmlformats.org/officeDocument/2006/relationships/presProps" Target="/ppt/presProps.xml" Id="Rfe290d43b5924ee4" /><Relationship Type="http://schemas.openxmlformats.org/officeDocument/2006/relationships/tableStyles" Target="/ppt/tableStyles.xml" Id="Ra2bd3a0cae1847ee" /><Relationship Type="http://schemas.openxmlformats.org/officeDocument/2006/relationships/slide" Target="/ppt/slides/slide1.xml" Id="Ra7dac74001a048e6" /><Relationship Type="http://schemas.openxmlformats.org/officeDocument/2006/relationships/slide" Target="/ppt/slides/slide2.xml" Id="R9ebf18813b474931" /><Relationship Type="http://schemas.openxmlformats.org/officeDocument/2006/relationships/slide" Target="/ppt/slides/slide3.xml" Id="R21d6841ca5914056" /><Relationship Type="http://schemas.openxmlformats.org/officeDocument/2006/relationships/slide" Target="/ppt/slides/slide4.xml" Id="R321d0a72fdf94f52" /><Relationship Type="http://schemas.openxmlformats.org/officeDocument/2006/relationships/slide" Target="/ppt/slides/slide5.xml" Id="R7e6f892e4f954539" /><Relationship Type="http://schemas.openxmlformats.org/officeDocument/2006/relationships/slide" Target="/ppt/slides/slide6.xml" Id="R97fe337dec1741ef" /><Relationship Type="http://schemas.openxmlformats.org/officeDocument/2006/relationships/slide" Target="/ppt/slides/slide7.xml" Id="R9d98ae824a8345ee" /><Relationship Type="http://schemas.openxmlformats.org/officeDocument/2006/relationships/slide" Target="/ppt/slides/slide8.xml" Id="Rda4bb44d96d1451b" /><Relationship Type="http://schemas.openxmlformats.org/officeDocument/2006/relationships/slide" Target="/ppt/slides/slide9.xml" Id="Re518cd30a18249d8" /><Relationship Type="http://schemas.openxmlformats.org/officeDocument/2006/relationships/slide" Target="/ppt/slides/slide10.xml" Id="Ra7fcc7a61ccd42d9" /><Relationship Type="http://schemas.openxmlformats.org/officeDocument/2006/relationships/slide" Target="/ppt/slides/slide11.xml" Id="R3bdb5d6687774d61" /><Relationship Type="http://schemas.openxmlformats.org/officeDocument/2006/relationships/slide" Target="/ppt/slides/slide12.xml" Id="R8284b17c33b34426" /><Relationship Type="http://schemas.openxmlformats.org/officeDocument/2006/relationships/slide" Target="/ppt/slides/slide13.xml" Id="R0a8a245a4a0b49d1" /><Relationship Type="http://schemas.openxmlformats.org/officeDocument/2006/relationships/slide" Target="/ppt/slides/slide14.xml" Id="Rf6a2c65801554a40" /><Relationship Type="http://schemas.openxmlformats.org/officeDocument/2006/relationships/slide" Target="/ppt/slides/slide15.xml" Id="R3a78797adee94e84" /><Relationship Type="http://schemas.openxmlformats.org/officeDocument/2006/relationships/slide" Target="/ppt/slides/slide16.xml" Id="Ra3833882369b4c5b" /><Relationship Type="http://schemas.openxmlformats.org/officeDocument/2006/relationships/slide" Target="/ppt/slides/slide17.xml" Id="Raf2f387600c14088" /><Relationship Type="http://schemas.openxmlformats.org/officeDocument/2006/relationships/slide" Target="/ppt/slides/slide18.xml" Id="Rd6a673ef14b34d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ed8fc4b10440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f438975c2b4217" /><Relationship Type="http://schemas.openxmlformats.org/officeDocument/2006/relationships/notesMaster" Target="/ppt/notesMasters/notesMaster1.xml" Id="R84c3fb06c55e4f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ced54f84e94518" /><Relationship Type="http://schemas.openxmlformats.org/officeDocument/2006/relationships/notesMaster" Target="/ppt/notesMasters/notesMaster1.xml" Id="R00256ee3561241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3517f836494a8d" /><Relationship Type="http://schemas.openxmlformats.org/officeDocument/2006/relationships/notesMaster" Target="/ppt/notesMasters/notesMaster1.xml" Id="R4952e00900d545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a9046c2cc34227" /><Relationship Type="http://schemas.openxmlformats.org/officeDocument/2006/relationships/notesMaster" Target="/ppt/notesMasters/notesMaster1.xml" Id="R886f1563556e4f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fd05eed25e48dc" /><Relationship Type="http://schemas.openxmlformats.org/officeDocument/2006/relationships/notesMaster" Target="/ppt/notesMasters/notesMaster1.xml" Id="R09fba3009ed64c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ac0c79cc8149a7" /><Relationship Type="http://schemas.openxmlformats.org/officeDocument/2006/relationships/notesMaster" Target="/ppt/notesMasters/notesMaster1.xml" Id="R5463252f290947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afe9aef8154204" /><Relationship Type="http://schemas.openxmlformats.org/officeDocument/2006/relationships/notesMaster" Target="/ppt/notesMasters/notesMaster1.xml" Id="R10e934eec98b44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b8b9f8606d42ee" /><Relationship Type="http://schemas.openxmlformats.org/officeDocument/2006/relationships/notesMaster" Target="/ppt/notesMasters/notesMaster1.xml" Id="R8d6677f573384a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bf9d77f0704774" /><Relationship Type="http://schemas.openxmlformats.org/officeDocument/2006/relationships/notesMaster" Target="/ppt/notesMasters/notesMaster1.xml" Id="R8b05f11f452f4e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75e32f5f33457f" /><Relationship Type="http://schemas.openxmlformats.org/officeDocument/2006/relationships/notesMaster" Target="/ppt/notesMasters/notesMaster1.xml" Id="R060fa0f4c46a4b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da0849c51f44ee" /><Relationship Type="http://schemas.openxmlformats.org/officeDocument/2006/relationships/notesMaster" Target="/ppt/notesMasters/notesMaster1.xml" Id="R05b2fc3f816e41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3f2dfcf32842c3" /><Relationship Type="http://schemas.openxmlformats.org/officeDocument/2006/relationships/notesMaster" Target="/ppt/notesMasters/notesMaster1.xml" Id="Rd9bc4bda980442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4c4de4ad90486e" /><Relationship Type="http://schemas.openxmlformats.org/officeDocument/2006/relationships/notesMaster" Target="/ppt/notesMasters/notesMaster1.xml" Id="R6ce3e45876bc4e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e287214f0e4838" /><Relationship Type="http://schemas.openxmlformats.org/officeDocument/2006/relationships/notesMaster" Target="/ppt/notesMasters/notesMaster1.xml" Id="Rcda28f19dd7647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d4af9cbc8042cd" /><Relationship Type="http://schemas.openxmlformats.org/officeDocument/2006/relationships/notesMaster" Target="/ppt/notesMasters/notesMaster1.xml" Id="R2be8ab96c1794e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7c9393de5047b8" /><Relationship Type="http://schemas.openxmlformats.org/officeDocument/2006/relationships/notesMaster" Target="/ppt/notesMasters/notesMaster1.xml" Id="R38a31c829e6842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2f79af8fd54009" /><Relationship Type="http://schemas.openxmlformats.org/officeDocument/2006/relationships/notesMaster" Target="/ppt/notesMasters/notesMaster1.xml" Id="Raf66558e5ab948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d448aea7df4c16" /><Relationship Type="http://schemas.openxmlformats.org/officeDocument/2006/relationships/notesMaster" Target="/ppt/notesMasters/notesMaster1.xml" Id="R25eabe258d0040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result, not the methods. This deck is organized around the evidence chain in the handmade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concise. It replaces several scattered method statements from the handmade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combines handmade filtering with the two QC plots so the audience sees both gene filtering and sample-level QC.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clearly that replicate is modeled statistically; corrected PCA is only a visualization.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preserves handmade slide 4 but makes the conclusion more compact.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cleans up the DEG table and gives it one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corresponds to handmade slide 6, but with a conclusion-style title and a cleaner right 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table is intentionally compact and readable at presentation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replaces the more crowded handmade heatmap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fills the weak handmade LRT slide, which had only a title.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y-axis wording exactly: Z-score of VST-normalized expression or row-scaled VST expression.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merges two handmade concepts into one better-flowing result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pathway result from handmade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keeps the handmade KEGG result but reduces text clutter.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makes the reversal logic explicit and avoids overcrowding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should be one of the strongest slides in the results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scientifically important because it states the caveat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the results showcase with one clean model rather than a long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8b75d18b34c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425203fb454d3b" /><Relationship Type="http://schemas.openxmlformats.org/officeDocument/2006/relationships/slideLayout" Target="/ppt/slideLayouts/slideLayout1.xml" Id="R6c763d3edfdd46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763d3edfdd46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9f817d127402c" /><Relationship Type="http://schemas.openxmlformats.org/officeDocument/2006/relationships/notesSlide" Target="/ppt/notesSlides/notesSlide1.xml" Id="R9a046057e8354b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a9549c8d740cd" /><Relationship Type="http://schemas.openxmlformats.org/officeDocument/2006/relationships/notesSlide" Target="/ppt/notesSlides/notesSlide2.xml" Id="R9f2cdbfd72fc4b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75118aa064bd1" /><Relationship Type="http://schemas.openxmlformats.org/officeDocument/2006/relationships/image" Target="/ppt/media/image.png" Id="R737fe66290084ba6" /><Relationship Type="http://schemas.openxmlformats.org/officeDocument/2006/relationships/image" Target="/ppt/media/image2.png" Id="R30db91573cef4dd9" /><Relationship Type="http://schemas.openxmlformats.org/officeDocument/2006/relationships/notesSlide" Target="/ppt/notesSlides/notesSlide3.xml" Id="R19b161bbbc564d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fdd0189134962" /><Relationship Type="http://schemas.openxmlformats.org/officeDocument/2006/relationships/image" Target="/ppt/media/image3.png" Id="Rc2769265d1b64dad" /><Relationship Type="http://schemas.openxmlformats.org/officeDocument/2006/relationships/image" Target="/ppt/media/image4.png" Id="Ra9011388eefb45fe" /><Relationship Type="http://schemas.openxmlformats.org/officeDocument/2006/relationships/notesSlide" Target="/ppt/notesSlides/notesSlide4.xml" Id="Ra78ade5100b248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b4111ee4948b7" /><Relationship Type="http://schemas.openxmlformats.org/officeDocument/2006/relationships/image" Target="/ppt/media/image5.png" Id="Rcbdc81defa854f97" /><Relationship Type="http://schemas.openxmlformats.org/officeDocument/2006/relationships/notesSlide" Target="/ppt/notesSlides/notesSlide5.xml" Id="R791f1adf0c7648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87c0e0ef04c54" /><Relationship Type="http://schemas.openxmlformats.org/officeDocument/2006/relationships/notesSlide" Target="/ppt/notesSlides/notesSlide6.xml" Id="R6e4848fa223e47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c15565bc241df" /><Relationship Type="http://schemas.openxmlformats.org/officeDocument/2006/relationships/image" Target="/ppt/media/image6.png" Id="R6aea177fd6b84081" /><Relationship Type="http://schemas.openxmlformats.org/officeDocument/2006/relationships/notesSlide" Target="/ppt/notesSlides/notesSlide7.xml" Id="Ra33856d3d4a94d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acd19ba5240ce" /><Relationship Type="http://schemas.openxmlformats.org/officeDocument/2006/relationships/notesSlide" Target="/ppt/notesSlides/notesSlide8.xml" Id="R455aaac9dc6c43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10b9a112b4ae0" /><Relationship Type="http://schemas.openxmlformats.org/officeDocument/2006/relationships/image" Target="/ppt/media/image7.png" Id="R7243621a1f0d4cc8" /><Relationship Type="http://schemas.openxmlformats.org/officeDocument/2006/relationships/notesSlide" Target="/ppt/notesSlides/notesSlide9.xml" Id="R76bd2ef5da174d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4d4434a2742eb" /><Relationship Type="http://schemas.openxmlformats.org/officeDocument/2006/relationships/notesSlide" Target="/ppt/notesSlides/notesSlide10.xml" Id="R926695f72c5b48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b60c0c9024f3f" /><Relationship Type="http://schemas.openxmlformats.org/officeDocument/2006/relationships/image" Target="/ppt/media/image8.png" Id="Rc7f224451acb481b" /><Relationship Type="http://schemas.openxmlformats.org/officeDocument/2006/relationships/notesSlide" Target="/ppt/notesSlides/notesSlide11.xml" Id="R971ae1cc47ea4b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e6ee42acb4207" /><Relationship Type="http://schemas.openxmlformats.org/officeDocument/2006/relationships/image" Target="/ppt/media/image9.png" Id="Rf29c9a0c528c4e58" /><Relationship Type="http://schemas.openxmlformats.org/officeDocument/2006/relationships/image" Target="/ppt/media/image10.png" Id="R69a0435418e4423d" /><Relationship Type="http://schemas.openxmlformats.org/officeDocument/2006/relationships/notesSlide" Target="/ppt/notesSlides/notesSlide12.xml" Id="R1b9b4e82a9b24e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2c2fc63174a5a" /><Relationship Type="http://schemas.openxmlformats.org/officeDocument/2006/relationships/image" Target="/ppt/media/image11.png" Id="R5b5754da078b48e4" /><Relationship Type="http://schemas.openxmlformats.org/officeDocument/2006/relationships/notesSlide" Target="/ppt/notesSlides/notesSlide13.xml" Id="R972f09cb8b8649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0475f54e44b4a" /><Relationship Type="http://schemas.openxmlformats.org/officeDocument/2006/relationships/image" Target="/ppt/media/image12.png" Id="R8ed92ab1e3ea4740" /><Relationship Type="http://schemas.openxmlformats.org/officeDocument/2006/relationships/notesSlide" Target="/ppt/notesSlides/notesSlide14.xml" Id="R64f51b3b96524b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05b710d1b4887" /><Relationship Type="http://schemas.openxmlformats.org/officeDocument/2006/relationships/image" Target="/ppt/media/image13.png" Id="Rebbdcd44f7b74c7c" /><Relationship Type="http://schemas.openxmlformats.org/officeDocument/2006/relationships/notesSlide" Target="/ppt/notesSlides/notesSlide15.xml" Id="Rd21afb0e441e49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a6e434ac24a4c" /><Relationship Type="http://schemas.openxmlformats.org/officeDocument/2006/relationships/image" Target="/ppt/media/image14.png" Id="R326fc258dec841fe" /><Relationship Type="http://schemas.openxmlformats.org/officeDocument/2006/relationships/notesSlide" Target="/ppt/notesSlides/notesSlide16.xml" Id="Re74403518a3648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5fccc35024af2" /><Relationship Type="http://schemas.openxmlformats.org/officeDocument/2006/relationships/image" Target="/ppt/media/image15.png" Id="Rc1c43ba31001471e" /><Relationship Type="http://schemas.openxmlformats.org/officeDocument/2006/relationships/notesSlide" Target="/ppt/notesSlides/notesSlide17.xml" Id="R72c21e27da414d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a3527948d4495" /><Relationship Type="http://schemas.openxmlformats.org/officeDocument/2006/relationships/notesSlide" Target="/ppt/notesSlides/notesSlide18.xml" Id="Rf9b69fc8fe1748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55B7EA-867C-4898-AE97-3A3E0F05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RESULTS STORYLINE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43B95-300D-465F-927B-EB5FB09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Acute Netrin-1 produces a 5-min transcriptional pulse that reverses by 15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D3AE0-2891-4EB5-B2FD-D170A233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 results-focused version of the handmade deck: cleaner sequence, unified layout, and fewer detours.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960B1-C219-4027-8E01-F6D79526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ABA7C-B8C6-48A4-A3DC-36B03B27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FAA48-0142-4DB1-8FD5-2ECC246C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933BA-3745-4F8D-9137-B4DDA9C8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DEGs, relaxed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7D695-484D-4D42-BB77-6B6CB9F2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39D41-655B-4B60-8ADC-CAC29752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52FE0-7E51-492B-A8A9-69ED3709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813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LRT time-varying genes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4B94B-1E92-4F28-AA87-E0E50739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9D4A7-A4EE-4E26-8D0A-CAACDA63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E7A83-E1D2-4ACD-ACF2-105E3997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813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GO BP 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5A3B9-D5BA-4B32-BEC1-AAE53793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ABF3F-6B2C-42F2-8A77-18FBADFC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r = -0.991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BD48B-B1C1-41AE-AB92-1E34DBB3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813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vs 15v5 pathway mirror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D8863-DA81-4EB7-87FA-7452C8FC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918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Result logic: QC supports interpretability -&gt; 5-min DEGs define acute anchors -&gt; LRT captures time-dependent genes -&gt; GSEA reveals coordinated pathway reversal.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CBEDC-21F1-4C4D-9460-63483351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results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63B91-35E5-4EAD-BF2C-A3EA92E2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6685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A8539A-5E2A-431E-BBD4-D517F321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ANALYSIS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98160-ED41-4920-809D-A8C339FC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three contrasts ask onset, reversal and return-to-baseline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E6014-D9E6-442E-9E44-CF3C09B7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slide gives the audience the vocabulary used throughout the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9A0C2-704C-4912-A75C-5AEFA87D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55954-ECE7-4FCC-BD52-986E4225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868B8-4B79-4A77-BE1D-B4AB7138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Vehicle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9A870-9C2F-41A5-B048-4772692C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PBS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847AA-3425-4F48-9ED6-D2291829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D0C4D-E8C7-46C3-B3D0-618DE75D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A9DA9-3841-4D41-8433-5662E782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702AF-2830-4930-939C-428B9587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acute Netrin-1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25314-7A40-4447-95EF-13E4BD9D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EE2C0-DA75-40BC-BB17-C657837B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6680C-E748-4A89-9C78-1A34C356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15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809F5-5AC9-4964-B030-E69AAC6D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later Netrin-1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DA770-ACFE-4502-8664-318A464C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DD3E9-137F-453D-9DCC-EE08F46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3D655-3EA3-4189-AFF9-496E2F99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5v0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DBA1E-F9D0-4530-8174-CBC0DF97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onset vs Vehicle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63C81-3673-40CA-AFD9-313C8ABE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ACA77-99E0-49AB-84C2-421C188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E3600-ABE4-4E6C-8EA9-6B7B45BC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15v5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6E05E-8506-4AA8-8631-E577C8B5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reversal vs 5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7927B-94AD-4710-92F0-90DE24A0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1892F-604B-44C5-A564-C40F72CE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B0C46-7F39-419A-9652-BF2DA93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146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15v0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5D726-C50E-4FC6-B6C7-B0B3CDAD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return vs Vehicle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05489-5E12-44F1-B001-C534F551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48200"/>
            <a:ext cx="9182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7C75E-DBF4-4211-B063-62E151D4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853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Statistical model: DESeq2 ~ replicate + timepoint; batch correction was used only for PCA visualization, not for DE testing.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1CCDF0-CD7F-463A-A1A9-F6C58F7E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handmade methods slides and THESIS_writing_pack.md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B36A11-667B-4858-AB27-0F564AB8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5228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F77E3-B03F-4702-9240-CBD1C266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FILTERING AND SAMPLE QC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CA78C-6D28-4A95-90D1-49165292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Filtering retains 14,161 genes and sample depth is comparable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D1334-1F6D-462D-AC8A-2D585B36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first result block establishes that downstream differences are interpretable.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E0B69-F3B1-4FFD-B6DF-936CE61F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91928-4A53-49BE-9F95-D8319627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149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fe66290084ba6"/>
          <a:stretch xmlns:a="http://schemas.openxmlformats.org/drawingml/2006/main"/>
        </p:blipFill>
        <p:spPr>
          <a:xfrm xmlns:a="http://schemas.openxmlformats.org/drawingml/2006/main">
            <a:off x="846667" y="2114550"/>
            <a:ext cx="4593167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15729-735E-4150-980C-A40BD8EB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49149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b91573cef4dd9"/>
          <a:stretch xmlns:a="http://schemas.openxmlformats.org/drawingml/2006/main"/>
        </p:blipFill>
        <p:spPr>
          <a:xfrm xmlns:a="http://schemas.openxmlformats.org/drawingml/2006/main">
            <a:off x="6256867" y="2114550"/>
            <a:ext cx="4593167" cy="2952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0E5FB-09F5-40DA-8274-162636D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29250"/>
            <a:ext cx="609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5DEB6-89DA-466B-B921-DEC1CDC2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62600"/>
            <a:ext cx="556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Two-step filtering: 32,623 quantified genes -&gt; 14,161 genes for differential expression.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20412-7052-4FDC-BC92-7CBC41B8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results/01_QC and handmade slide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849D4-2A7B-4FCE-8361-2A528441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8620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82955-9978-433E-8EB4-9F44F82A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REPLICATE AND TIMEPOINT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A19C1-C406-4A3B-B73A-3C785FB5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Replicate effects are visible, but corrected PCA reveals timepoint separation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A5E7D-FC2E-4306-96EC-588D56C5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justifies modeling replicate and interpreting the acute timepoint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113AC-882D-4176-9485-15AEEFF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0F4E4-159A-4ED9-B9D7-C89BBD35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4958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69265d1b64dad"/>
          <a:stretch xmlns:a="http://schemas.openxmlformats.org/drawingml/2006/main"/>
        </p:blipFill>
        <p:spPr>
          <a:xfrm xmlns:a="http://schemas.openxmlformats.org/drawingml/2006/main">
            <a:off x="935037" y="2000250"/>
            <a:ext cx="4111625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96593-FC2E-4B9E-B0A0-0831D509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24050"/>
            <a:ext cx="52959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11388eefb45fe"/>
          <a:stretch xmlns:a="http://schemas.openxmlformats.org/drawingml/2006/main"/>
        </p:blipFill>
        <p:spPr>
          <a:xfrm xmlns:a="http://schemas.openxmlformats.org/drawingml/2006/main">
            <a:off x="6131502" y="2000250"/>
            <a:ext cx="4805795" cy="3524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31C98-611B-4BAE-B090-C1DD9195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results/01_QC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1854A-C1CE-4E07-B318-1900FA72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7476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56267-6CA1-4FDF-9312-5EF695EF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CULTURE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DEFAA-16D9-4F33-9259-3D871E17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Marker expression supports neuron-dominant, composition-stable cultures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7C04D-3E0D-445D-8632-F558D51A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rules against a simple cell-composition explanation for the acute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FFC2A-DC74-40A2-B1F3-4FAD6D6F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EDBD0-5F6A-4C1B-B552-31AFDA6F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73914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c81defa854f97"/>
          <a:stretch xmlns:a="http://schemas.openxmlformats.org/drawingml/2006/main"/>
        </p:blipFill>
        <p:spPr>
          <a:xfrm xmlns:a="http://schemas.openxmlformats.org/drawingml/2006/main">
            <a:off x="2495550" y="1962150"/>
            <a:ext cx="3962400" cy="3962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35301-4512-4301-89F3-E805AAB2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228850" cy="22669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36CFA-5AFD-4164-8395-8D5A5179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DE67D-2D66-4000-BF12-8B712D5F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14700"/>
            <a:ext cx="1695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Pan-neuronal markers are high.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Glial/endothelial markers remain low.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Marker profiles are stable across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8E386-B543-4F82-A19A-B04FC13F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results/02_composition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4530A-FEDE-4A49-AB9A-042343B4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085521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711921-6B98-47ED-90D3-079AED99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DEG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29C1D-C182-4D97-9D78-D7110E5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largest single-gene response is detected at 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60670-9952-4B8A-883F-AD77A11F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15v5 is the key contrast for reversal; 15v0 is comparatively quiet at DEG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106B4-18DF-41D3-8DC6-98C5C93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123950" y="2152650"/>
          <a:ext xmlns:a="http://schemas.openxmlformats.org/drawingml/2006/main" cx="99441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88820"/>
                <a:gridCol w="1988820"/>
                <a:gridCol w="1988820"/>
                <a:gridCol w="1988820"/>
                <a:gridCol w="1988820"/>
              </a:tblGrid>
              <a:tr h="5143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Contrast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Relaxed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Strict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Direction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5v0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 up / 18 down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15v5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reversal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 up / 0 down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15v0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return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 up / 1 down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LRT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any time effect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time-varying genes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464A4-0987-411C-A13D-762DDF55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Takeaway: single-gene changes are modest but time-structured, motivating LRT and GSEA as the main result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CE94C-1119-46CD-8938-81200D06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DEG CSV files and handmade slide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1714E-7995-4CD2-A3F9-E020FD8B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1337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1DD9B3-800F-431C-94EC-88150873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5-MIN DIFFERENTIAL EXPRESSION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05CBF-C435-427E-8C4A-8D87792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5-min volcano plot identifies biologically interpretable acute anchors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E41CB-C510-4B21-A2A4-E7EF178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small DEG set is coherent rather than random.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C5C62-8031-43DD-9D41-2EEA58EB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88459-F7A8-414F-96C5-38F3A83F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3914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a177fd6b84081"/>
          <a:stretch xmlns:a="http://schemas.openxmlformats.org/drawingml/2006/main"/>
        </p:blipFill>
        <p:spPr>
          <a:xfrm xmlns:a="http://schemas.openxmlformats.org/drawingml/2006/main">
            <a:off x="1729468" y="1885950"/>
            <a:ext cx="526596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A13AB-359A-45F8-985C-E620AB72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647950" cy="30099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8D0AF-80F3-4024-B820-88FB34FC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14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Highlighted 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B0C82-BC6B-4A64-8B1C-9A2E075D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09900"/>
            <a:ext cx="2076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IEG suppression: Fos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Cytoskeleton: Rock1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Splicing: Srsf5, Snrnp70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Guidance: Cntn2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NO-calcium: Nos1, Ryr3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F716D-70DA-49EC-91AC-31EED8C7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results/03_DEG/04_volcano_5v0_v6.png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03E9B-BDB7-4ED2-B791-4F405F16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7816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A1C8D-562E-49E2-A46C-8F985A68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KEY 5-MIN GENES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612E7-6347-45F7-BAB1-BD13ABE0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Representative DEGs point to a bidirectional acute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2BCEB-EEC1-4842-96E7-C6774DC5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Guidance/signaling genes rise while IEG and RNA-processing genes fall.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CC874-97A3-4A8B-8E7D-C715A93A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066800" y="1962150"/>
          <a:ext xmlns:a="http://schemas.openxmlformats.org/drawingml/2006/main" cx="8096250" cy="37528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24063"/>
                <a:gridCol w="2024063"/>
                <a:gridCol w="2024063"/>
                <a:gridCol w="2024063"/>
              </a:tblGrid>
              <a:tr h="46910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Gene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log2FC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padj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69106">
                <a:tc>
                  <a:txBody>
                    <a:bodyPr/>
                    <a:lstStyle/>
                    <a:p>
                      <a:r>
                        <a:t>Fos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-2.35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2.4e-3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IEG suppression</a:t>
                      </a:r>
                    </a:p>
                  </a:txBody>
                  <a:tcPr marL="91440" marR="91440" marT="45720" marB="45720"/>
                </a:tc>
              </a:tr>
              <a:tr h="469106">
                <a:tc>
                  <a:txBody>
                    <a:bodyPr/>
                    <a:lstStyle/>
                    <a:p>
                      <a:r>
                        <a:t>Rock1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9.4e-6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cytoskeleton</a:t>
                      </a:r>
                    </a:p>
                  </a:txBody>
                  <a:tcPr marL="91440" marR="91440" marT="45720" marB="45720"/>
                </a:tc>
              </a:tr>
              <a:tr h="469106">
                <a:tc>
                  <a:txBody>
                    <a:bodyPr/>
                    <a:lstStyle/>
                    <a:p>
                      <a:r>
                        <a:t>Srsf5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4.5e-5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splicing</a:t>
                      </a:r>
                    </a:p>
                  </a:txBody>
                  <a:tcPr marL="91440" marR="91440" marT="45720" marB="45720"/>
                </a:tc>
              </a:tr>
              <a:tr h="469106">
                <a:tc>
                  <a:txBody>
                    <a:bodyPr/>
                    <a:lstStyle/>
                    <a:p>
                      <a:r>
                        <a:t>Snrnp70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1.2e-2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splicing</a:t>
                      </a:r>
                    </a:p>
                  </a:txBody>
                  <a:tcPr marL="91440" marR="91440" marT="45720" marB="45720"/>
                </a:tc>
              </a:tr>
              <a:tr h="469106">
                <a:tc>
                  <a:txBody>
                    <a:bodyPr/>
                    <a:lstStyle/>
                    <a:p>
                      <a:r>
                        <a:t>Cntn2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1.4e-2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axon guidance</a:t>
                      </a:r>
                    </a:p>
                  </a:txBody>
                  <a:tcPr marL="91440" marR="91440" marT="45720" marB="45720"/>
                </a:tc>
              </a:tr>
              <a:tr h="469106">
                <a:tc>
                  <a:txBody>
                    <a:bodyPr/>
                    <a:lstStyle/>
                    <a:p>
                      <a:r>
                        <a:t>Nos1 / Ryr3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+0.32 / +0.47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3.5e-2 / 2.4e-2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NO-calcium</a:t>
                      </a:r>
                    </a:p>
                  </a:txBody>
                  <a:tcPr marL="91440" marR="91440" marT="45720" marB="45720"/>
                </a:tc>
              </a:tr>
              <a:tr h="469106">
                <a:tc>
                  <a:txBody>
                    <a:bodyPr/>
                    <a:lstStyle/>
                    <a:p>
                      <a:r>
                        <a:t>Tln2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1.2e-2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adhesion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99FCA-25B4-4E32-8847-24BF28FA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428750" cy="1809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018F0-A61F-456D-83F3-A038016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70EFD-5539-4F3E-A549-432605B6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2425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This table becomes the gene-level bridge into pathway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6B861-F23D-43B8-84EC-D0E1360E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DEG_5v0_ALL.csv and handmade slide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A0AB0-B826-457A-B96F-EAF0A2A7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7205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82D7FF-8CE2-4F66-ABCB-3401AF51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5-MIN DEG HEATMAP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32050-A31A-4511-A65F-62BD401F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DEG set forms a coherent sample-level 5-min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CD992-121B-4945-AFFC-F2EE8CBF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checks whether selected genes move together across samples.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B1029-74FC-4249-A346-B2B7BEF9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0C79B-E709-4F28-B597-9005B374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47850"/>
            <a:ext cx="70104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3621a1f0d4cc8"/>
          <a:stretch xmlns:a="http://schemas.openxmlformats.org/drawingml/2006/main"/>
        </p:blipFill>
        <p:spPr>
          <a:xfrm xmlns:a="http://schemas.openxmlformats.org/drawingml/2006/main">
            <a:off x="3120838" y="1924050"/>
            <a:ext cx="385482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678DB-037B-4847-8B58-3A6ECDB5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2114550" cy="21526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5FA06-15F4-4CAF-B471-9D753BB2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E86B8-F067-473D-A1AF-6B775C25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158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heatmap supports a coordinated 5-min expression pattern rather than an isolated single-gene outlier.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6E849-8E7F-41DE-A0E4-ECBCA886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results/03_DEG/06_DEG_heatmap_5v0_v4.png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42A4F-B750-4159-BD5C-75F8870C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81459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1A13FF-DBAC-4FA9-BD04-7A78EDB9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LRT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ABC7E-EB32-4C03-A57A-0F19CE45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LRT identifies 19 genes with significant time-dependent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BE90E-56E6-46F7-AD9E-B4E4A98B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 trajectories, row-scaled VST expression is the clearest y-axis.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15D3D-8716-4258-AF29-AF3DC05F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AF0A8-DC9C-45A6-8FE7-7D42A5A1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8575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87B6E-6396-4B38-9807-432DEFEB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LRT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8C823-B61A-4DE4-8D08-31F83CA2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Full: ~ replicate + timepoint</a:t>
            </a:r>
          </a:p>
          <a:p xmlns:a="http://schemas.openxmlformats.org/drawingml/2006/main">
            <a:pPr algn="ctr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Reduced: ~ replicate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E2B56-6D7B-4B3A-BC8E-F51FB83D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C349E-297B-47AB-A22D-88AFB208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52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Visualization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D8A95-363D-4347-991B-1B2F9831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Y-axis:</a:t>
            </a:r>
          </a:p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Z-score of VST-normalized expression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09405-13A7-4B43-982B-2ED0B850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286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102A5-1A3A-4370-8003-6C85EA8F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B2FF8-9C59-4DA2-B43E-0A4EFB20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LRT-significant genes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A12A5-6258-4C16-AE29-F4F58E6D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This makes the LRT slide scientifically explicit: it tests time dependence, not a single pairwise contrast.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959DE-74AA-4663-A5FD-2B755764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DEG_LRT_ALL.csv and LRT trajectory 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F8EF9-898C-4A24-AB0F-E9074B27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75985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86DAA0-1626-4FBC-A353-BEBE1353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LRT TRAJECTORIES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45266-E266-4593-BC17-01B8EAED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19 time-varying genes show coordinated 5-min deviation and recovery/rebound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AED11-5F4F-4DD5-AD1C-08ABA07B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trajectory plot emphasizes shape rather than absolute gene abundance.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34833-F287-4BCD-923D-02FD6F57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11DD9-80CC-42EC-9B16-BA8A0C34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2486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224451acb481b"/>
          <a:stretch xmlns:a="http://schemas.openxmlformats.org/drawingml/2006/main"/>
        </p:blipFill>
        <p:spPr>
          <a:xfrm xmlns:a="http://schemas.openxmlformats.org/drawingml/2006/main">
            <a:off x="1607993" y="1752600"/>
            <a:ext cx="6289964" cy="4324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F7993-57AB-4DC2-B625-874D0E34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2038350" cy="25336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091C0-2CA7-4C7B-8FA9-7E1FB393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289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6CF0D-E184-4CC3-B336-41B955D0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1543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Rows are genes.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Values are scaled per gene.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Most profiles converge on a pulse-like shape.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Fos/Npas4 support IEG suppression.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13A69-BF27-4F36-B0FA-C1961B11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results/objects/LRT_19_trajectory_VSTzscore_v1.png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E0DA2-3F62-4BC0-8443-1C30EAB9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37910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B5425A-AECE-4B08-82CF-2EB4AA0F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TEMPORAL GENE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93B8E-451B-46E1-816A-6634ECDA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Representative genes and ROCK paralogues support a transient, selective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6B0BB-EB45-4A74-AFB7-A331AC38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slide keeps the gene-level story compact before moving to pathways.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8D3B1-E9EA-42E2-A261-388C86F9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BCB27-EA1C-493A-8045-60CBAA01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54864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c9a0c528c4e58"/>
          <a:stretch xmlns:a="http://schemas.openxmlformats.org/drawingml/2006/main"/>
        </p:blipFill>
        <p:spPr>
          <a:xfrm xmlns:a="http://schemas.openxmlformats.org/drawingml/2006/main">
            <a:off x="770659" y="2038350"/>
            <a:ext cx="5126182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7AAD4-6091-4378-965B-9645D44C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9149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0435418e4423d"/>
          <a:stretch xmlns:a="http://schemas.openxmlformats.org/drawingml/2006/main"/>
        </p:blipFill>
        <p:spPr>
          <a:xfrm xmlns:a="http://schemas.openxmlformats.org/drawingml/2006/main">
            <a:off x="6572250" y="2163366"/>
            <a:ext cx="4762500" cy="327421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4102A-F579-4CE8-A498-5F2FBE5B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2930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3C6E2-7A52-4F9B-BEDD-C5DD765A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340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Rock1 is down at 5 min (padj 9.4e-6), while Rock2 is unchanged (padj ~1.0).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E6DC8-295F-4B2B-A10D-72D99F39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 trajectory plots and handmade slide 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BAE55-EC60-4707-8017-A9748E1B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53875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8F886F-6D19-446E-BD56-5140A94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5-MIN GO BP ENRICHMENT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633FF-E83E-4F6A-9B8E-3F376800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At 5 min, Netrin-1 activates neuron projection and axon guidance programs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8B76D-012D-4692-8483-7F6DED5D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Pathway aggregation reveals coordination beyond the modest DEG 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A1E0B-6ABE-4FBC-912F-E9704531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74DE3-4585-4E62-AC7F-2FFE644B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78676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754da078b48e4"/>
          <a:stretch xmlns:a="http://schemas.openxmlformats.org/drawingml/2006/main"/>
        </p:blipFill>
        <p:spPr>
          <a:xfrm xmlns:a="http://schemas.openxmlformats.org/drawingml/2006/main">
            <a:off x="2038350" y="1809750"/>
            <a:ext cx="523875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043D7-1420-4A93-A715-2E695396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9AAE8-352F-41C5-B893-344C5ABE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622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32A5D-51C5-4975-B701-C2FBF468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significant GO BP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3D712-2D3E-465A-9694-D0252318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C559F-18EB-4DB6-8DA4-FBDEBE90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148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285 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A8A97-1FEF-4CBB-8489-7ACEC0F2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2440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positive NES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D03FD-04D9-43E0-A1E8-633A1BF6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results/04_GSEA/GSEA_GO_BP_5v0.csv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53F0C-9FFE-46C3-87F0-C756DD4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972681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8F708-2696-4CA4-B7F9-CB93913A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5-MIN KEGG ENRICHMENT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C71D9-87C3-422C-8EB8-7FAF454D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Axon guidance is the top KEGG pathway in the acute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5FEAC-E5B0-44A7-9618-8503FEA9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connects the RNA-seq signal directly to canonical Netrin-1 biology.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7243E-BA5F-4AA6-A96C-59E16084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B2F05-94E2-45F6-931A-6EB62628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73914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92ab1e3ea4740"/>
          <a:stretch xmlns:a="http://schemas.openxmlformats.org/drawingml/2006/main"/>
        </p:blipFill>
        <p:spPr>
          <a:xfrm xmlns:a="http://schemas.openxmlformats.org/drawingml/2006/main">
            <a:off x="1273175" y="1809750"/>
            <a:ext cx="682625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A1C0B-D584-401F-8525-8085D20F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228850" cy="23812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474CA-AA29-4EC3-AC97-C4B900D3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Top KEGG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2B556-13C6-4E47-9C7D-E4F4FA6A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Axon guidance</a:t>
            </a:r>
          </a:p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NES 2.16</a:t>
            </a:r>
          </a:p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BH-adjusted p = 4.1e-7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FC879-C9D2-444B-8549-677D5A40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results/04_GSEA/GSEA_KEGG_5v0.csv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2F5E3-7A6F-420A-9CBA-560D4269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368151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66CA43-F75D-4BFC-B28F-155399CB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15V5 REVERSAL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CAF68-A292-4E69-B9B1-B6B545BB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By 15 min, the 5-min GO BP program is directionally flipped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0887C-2A7A-4A76-B19D-359264B6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same pathway themes reverse when 15 min is compared with 5 min.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9E65C-6343-43C8-B118-F5350091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1A30F-8D80-4B2B-B876-DB8FDEF9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78867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dcd44f7b74c7c"/>
          <a:stretch xmlns:a="http://schemas.openxmlformats.org/drawingml/2006/main"/>
        </p:blipFill>
        <p:spPr>
          <a:xfrm xmlns:a="http://schemas.openxmlformats.org/drawingml/2006/main">
            <a:off x="2047875" y="1809750"/>
            <a:ext cx="523875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7F51A-B35A-42BB-89B2-333AA1BE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CE6DD-5DA2-4709-B9C3-C268A98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622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295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23840-1F8C-49A7-BA8B-50D6B111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significant GO BP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2828D-86AF-4754-803D-D0477222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ED163-A0CC-4916-A4C2-18224628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148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264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5586B-BC41-4DE5-AEA0-B324257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2440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negative NES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A2119-FAEF-4AC3-BCF0-A7DB625C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results/04_GSEA/GSEA_GO_BP_15v5.csv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EB062-E7C7-4B56-B6F3-FD3F2596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987993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AC8ED-C415-4A9B-B18D-1D5B4F4D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PATHWAY MIRROR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9495A-7E65-489C-A3A6-D1B7A523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Shared pathways show near-perfect mirror symmetry between 5v0 and 15v5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D650B-2596-47CD-884E-8023EA96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is the quantitative anchor for the transient-response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2EEA2-E5A8-4775-B6E9-93625D37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B05F8-058D-41EF-BFD9-BD478FC0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7724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fc258dec841fe"/>
          <a:stretch xmlns:a="http://schemas.openxmlformats.org/drawingml/2006/main"/>
        </p:blipFill>
        <p:spPr>
          <a:xfrm xmlns:a="http://schemas.openxmlformats.org/drawingml/2006/main">
            <a:off x="2218134" y="1790700"/>
            <a:ext cx="4822031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8A6CB-01FA-477F-A16A-C4DA668F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0300"/>
            <a:ext cx="2133600" cy="2381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C097C-4013-40B8-990D-0FCC9D3C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Mirror statistic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CD6A5-6A4B-4823-A1D4-E2ACE92D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95650"/>
            <a:ext cx="1676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603 shared pathways</a:t>
            </a:r>
          </a:p>
          <a:p xmlns:a="http://schemas.openxmlformats.org/drawingml/2006/main">
            <a:pPr algn="ctr">
              <a:defRPr sz="18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NES correlation</a:t>
            </a:r>
          </a:p>
          <a:p xmlns:a="http://schemas.openxmlformats.org/drawingml/2006/main">
            <a:pPr algn="ctr">
              <a:defRPr sz="18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 = -0.991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37E0F-BBEF-4CB4-9510-D4F48DE8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results/04_GSEA/13_GSEA_mirror_scatter_5v0_vs_15v5.png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FA4B7-ABD4-49EA-8F0B-B8B5515A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992076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8A0BE-E44C-4C71-9675-24E52950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15V0 ENDPOINT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6F4AB-FDB7-4FE2-98AA-3BADB740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15v0 supports return toward baseline, with a mild mitochondrial KEGG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DF3CD-7FFE-4026-B662-F8F61EE1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keeps the interpretation accurate and avoids overclaiming complete silence.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8DDF6-2CF0-4FAA-BC43-5A24A1E8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5E12D-F64E-446D-B592-04AF4748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2009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43ba31001471e"/>
          <a:stretch xmlns:a="http://schemas.openxmlformats.org/drawingml/2006/main"/>
        </p:blipFill>
        <p:spPr>
          <a:xfrm xmlns:a="http://schemas.openxmlformats.org/drawingml/2006/main">
            <a:off x="990600" y="2347913"/>
            <a:ext cx="7048500" cy="3171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E6FD2-3AFD-4918-845E-BC28FFFE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400300" cy="2781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399A0-3C8E-4C2A-A077-19C4C7F2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Interpret carefully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DAE20-06C2-4637-B8B8-F8AD9ECB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1866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GO BP: 0 significant terms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DEG: 1 significant gene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KEGG: OXPHOS/mitochondrial signal</a:t>
            </a:r>
          </a:p>
          <a:p xmlns:a="http://schemas.openxmlformats.org/drawingml/2006/main">
            <a:pPr algn="l">
              <a:defRPr sz="1163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Disease labels reflect shared mitochondrial genes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5B0C1-0B61-4B8F-A680-B6697D98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GSEA_GO_BP_15v0.csv and GSEA_KEGG_15v0.csv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33D96-0CD2-455A-8AE8-477537AB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261616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5A64B-0537-49D7-ADF1-654198E8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INTEGRATED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C6B1F-02B7-46FF-AC01-E9AB43B6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Acute Netrin-1 engages a reversible transcriptional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BC78C-9B25-4E3E-8EDA-83A705AC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result is strongest when DEG, LRT and GSEA are interpreted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4BB3D-7B69-4503-BA32-7A1AD2E2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D54AE-B7D4-4EB7-BCF5-5FD4B647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B236E-7A6B-4816-AC49-C5DADD5B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Netrin-1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C852D-7425-4936-A066-C9B2DBA1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acute 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21430-4CF6-45EE-AE24-191AA556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622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6C3C2-4AAB-4AF0-8CDA-4BD101C7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19300"/>
            <a:ext cx="31051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444B6-6CF7-4F08-BEA2-352160BD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5-min pulse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C6F67-13EA-4A7F-B843-23754A73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9085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guidance / projection up</a:t>
            </a:r>
          </a:p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RNA processing / ribosome down</a:t>
            </a:r>
          </a:p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IEG suppression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8C2E0-083B-4C7D-9D27-095F578F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349F6-9535-4843-84F3-86A1E3C5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2AE97-617B-49FF-BAEB-86DC955C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15-min reversal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A4F95-0689-4FCD-BE51-3BBD1BD9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813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pathway mirror r = -0.991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5C088-569B-4043-A524-E6D0427B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914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28B1D-E1A0-4EA5-9B87-44AF7127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292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Take-home: the 5-min signal is modest at the DEG level but highly coordinated at the pathway level, and it is rapidly reversed by 15 min.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CB559-724D-4018-9AC8-3E145CD1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Integrated from DEG, LRT and GSEA result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8172C-AD42-418C-9584-B47EE174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51917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2026-06-16T23:13:18.0160000Z</dcterms:created>
  <dcterms:modified xsi:type="dcterms:W3CDTF">2026-06-16T23:13:18.0160000Z</dcterms:modified>
</coreProperties>
</file>