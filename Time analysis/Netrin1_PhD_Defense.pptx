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Good morning. My thesis asks what the neuronal transcriptome does in the first MINUTES after meeting Netrin-1, the classic axon-guidance cue. Using a 5- and 15-minute bulk RNA-seq time course in E18 rat cortical neurons, I find a rapid, coordinated and almost perfectly reversible transcriptional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Netrin-1 is the textbook guidance cue, binding DCC/UNC5 to steer the growth cone. Its classic mechanism is post-translational and local — seconds to minutes. Because the action is at the protein level, the field has overlooked what the nucleus does on this fast timescale; most transcriptomic studies sample hours to days, the right of this timeline. So my question: does acute Netrin reshape the transcriptome in minutes, and is it transient or sustained?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My hypothesis: fast, coordinated, and crucially TRANSIENT. The strategy has four pillars — a 0/5/15-minute time course, gene-level DE with DESeq2, pathway-level GSEA, and the key reversibility test: comparing the 5-vs-0 contrast against 15-vs-5. If the program reverses, those two should be mirror images. Hold that 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E18 cortical cultures, three conditions — vehicle, 5-min and 15-min Netrin — three replicates, nine samples. One limitation I flag immediately: there is a single shared PBS control at 5 minutes for both timepoints, no independent 15-minute vehicle. That confounds the 15-vs-0 contrast with elapsed time, so my main results rely on the two clean contrasts, 5-vs-0 and 15-vs-5.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The pipeline in five steps: Salmon quantification, DESeq2 import, differential expression, GSEA, and an integration step comparing 5v0 with 15v5. Filtering takes us from about 32,600 to 14,200 genes. Key technical point: batch correction is only for the pictures; the statistics always run on raw counts with replicate in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Two pillars. Left, differential expression: model is replicate plus timepoint; replicate genuinely dominates, 52 versus 34 percent, so it must be a batch term. Two significance tiers, FDR-only and FDR-plus-fold-change. Right, GSEA ranked by the Wald statistic. The crucial point at the bottom: the acute signal is weak gene-by-gene, so GSEA — aggregating whole pathways — is where the biology becomes visible. That's why pathways are my primary readout.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What are we sequencing, and is it stable? Pan-neuronal markers sit two to four orders of magnitude above glial and endothelial markers — neuron-dominated cultures. And the profile is essentially identical across all three conditions; five or fifteen minutes is far too short to change composition. So everything downstream is a real transcriptional response, not cells appearing or disappearing.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The largest source of variation is the biological replicate, not the treatment — 52 versus 34 percent. Ignore it and the signal drowns, so replicate is a batch term. This PCA is shown after correcting for replicate, for visualization, and now PC1 lines up with the timepoint axis. The statistics still run on raw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Here is the DE landscape across contrasts. The 5-vs-0 contrast carries the response — 32 genes relaxed, 5 strict. By 15-vs-5 it's down to a handful, and 15-vs-0 is essentially nothing. The LRT flags 19 time-varying genes. The message: the signal is real but small per gene, and it lives at 5 minutes — which is exactly why I move to GSEA.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Zooming into the 5-minute contrast — volcano on the left, the significant genes on the right. The key point is the Module column: the down genes are Fos (an IEG), Rock1 (cytoskeleton), Srsf5 and Snrnp70 (splicing); the up genes are Cntn2 (guidance), Nos1 and Ryr3 (NO-calcium), Tln2 (adhesion). Small individually, but they sort into clean, interpretable modules — a preview of what GSEA confirms genome-wide.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A consolidating view: the 5-vs-0 DEGs across all nine samples. You can see coherent up- and down-blocks that mark out the 5-minute Netrin state, consistent within replicates. The point is that the response holds together as a structured pattern across the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This answers the transient-versus-sustained question. The LRT flags 19 time-varying genes, and the dominant trajectory is a pulse: away from baseline at 5 minutes, back by 15. First direct evidence of transience. One honest caveat: Fos overshoots baseline at 15 minutes and its vehicle replicates are noisy, so its band is wide.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One of the most striking findings. IEGs like Fos and Npas4 are textbook markers of neuronal ACTIVATION — they go up within minutes. Here acute Netrin does the opposite. Fos is down more than fourfold, the strongest DEG in the study. Npas4 is down about 3.4-fold; it misses the per-contrast cut but is significant by the time-course LRT. Two independent IEGs acutely repressed — novel and counterintuitive.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A nice illustration of precision. ROCK kinases come in two paralogues. Netrin selectively knocks down Rock1 — highly significant — while Rock2 doesn't move at all. Same cell, same family, opposite outcomes. And ROCK1 is a canonical Netrin-DCC effector, so this dovetails with the known protein-level biology. The response is selective.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This is where it comes together. At the pathway level the 5-minute response is unmistakable — 313 GO terms. Activated: axon guidance, neuron projection, synapse assembly — Netrin's own territory, at the transcriptional level in minutes. Suppressed: RNA processing and ribosome biogenesis — the general biosynthetic machinery. The same modules, now genome-wide. This is the core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KEGG sharpens it. Of 14 pathways, axon guidance ranks first — NES 2.16, p around 4e-7 — and brings the ephrin system with it. Netrin's classic job is steering growth cones through fast protein signaling; here the same guidance program is switched on transcriptionally in five minutes. So transcription runs in parallel with the canonical mechanism, not hours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The loop closes. In 15-vs-5, 295 terms — but the sign is reversed: guidance going down, biosynthesis recovering. And the clincher: 15-vs-0 has ZERO significant GO terms. By 15 minutes the transcriptome is statistically indistinguishable from baseline. On at 5, off by 15. Now let me quantify how precise that reversal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The slide to remember. Taking the 603 pathways shared between 5v0 and 15v5 and plotting their enrichment scores against each other gives a correlation of minus 0.99 — a near-perfect anti-correlation. Every pathway up in the first five minutes comes back down over the next ten by almost exactly the same magnitude. This is the quantitative backbone: the 5-minute program is not fading randomly, it is being precisely reversed. That is the definition of a tightly-controlled transient, and the study's strongest single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The whole study on one table, DESeq2 next to GSEA. Read down the rows: the 5-minute contrast carries everything — 32 genes, 313 pathways. By 15-vs-5 the pathway direction has flipped — 264 of 295 now going down. And 15-vs-0 is zero on both sides: back to baseline. Gene level and pathway level tell the identical transient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Five take-homes, left: dual-IEG suppression, novel; a coordinated transient biosynthesis shutdown, perhaps resource reallocation to local translation; a fast transcriptional arm of the guidance program; the minus-0.99 mirror; and ROCK1-selective control. Right, the limitations that shaped my choices: n=3 and a weak signal, hence GSEA primary; no 15-minute vehicle, hence the clean contrasts; only three timepoints; Fos's variability; and bulk, not single-cell. None undercut the central transient result, but they bound its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To conclude: the first characterization of Netrin's minute-scale transcriptional response. The headline — rapid, coordinated, transient; guidance up, biosynthesis down; reversed with r = minus 0.99 within 15 minutes. Transcription parallels the protein mechanism; two novel findings in dual-IEG suppression and ROCK1 selectivity; and the mirror reframes the response as a precisely-controlled transient.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~0.5 min + Q&amp;A. Thank you. One sentence: a five-minute Netrin pulse switches a coordinated program on, then off by fifteen minutes, with r = minus 0.99 precision. Likely questions: why IEGs go down; mirror robustness at n=3; the shared-control limitation; bulk vs subtype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2103120" cy="50800"/>
          </a:xfrm>
          <a:prstGeom prst="rect">
            <a:avLst/>
          </a:prstGeom>
          <a:solidFill>
            <a:srgbClr val="4A86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86C5"/>
                </a:solidFill>
                <a:latin typeface="Calibri"/>
              </a:rPr>
              <a:t>ACUTE TRANSCRIPTIONAL RESPONSE  ·  BULK RNA-SEQ TIME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783080"/>
            <a:ext cx="108813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A Rapid, Coordinated and Transient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Transcriptional Program Triggered by Acute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8CC0E8"/>
                </a:solidFill>
                <a:latin typeface="Calibri"/>
              </a:rPr>
              <a:t>Netrin-1 Stimulation in Cortical Neurons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C7D6E6"/>
                </a:solidFill>
                <a:latin typeface="Calibri"/>
              </a:rPr>
              <a:t>5- and 15-minute Netrin-1 time course in E18 rat cortical neurons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PhD Thesis Defense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AAEC2"/>
                </a:solidFill>
                <a:latin typeface="Calibri"/>
              </a:rPr>
              <a:t>[ Your name ] · [ Department / Institution ] · [ Date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Background: Netrin-1 acts in seconds — but the nucleus?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3A424B"/>
                </a:solidFill>
                <a:latin typeface="Calibri"/>
              </a:rPr>
              <a:t>▸  Netrin-1 is a prototypical axon-guidance cue.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3A424B"/>
                </a:solidFill>
                <a:latin typeface="Calibri"/>
              </a:rPr>
              <a:t>–  Steers the growth cone via DCC / UNC5 receptors.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3A424B"/>
                </a:solidFill>
                <a:latin typeface="Calibri"/>
              </a:rPr>
              <a:t>▸  Its canonical mechanism is post-translational &amp; local.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3A424B"/>
                </a:solidFill>
                <a:latin typeface="Calibri"/>
              </a:rPr>
              <a:t>–  Cytoskeletal remodeling, local translation — seconds to minutes.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1B4F86"/>
                </a:solidFill>
                <a:latin typeface="Calibri"/>
              </a:rPr>
              <a:t>▸  The acute, minute-scale TRANSCRIPTIONAL response is uncharted.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3A424B"/>
                </a:solidFill>
                <a:latin typeface="Calibri"/>
              </a:rPr>
              <a:t>–  Most transcriptomic studies sample hours to days.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5212080"/>
            <a:ext cx="10424160" cy="3810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148072"/>
            <a:ext cx="76200" cy="182880"/>
          </a:xfrm>
          <a:prstGeom prst="rect">
            <a:avLst/>
          </a:prstGeom>
          <a:solidFill>
            <a:srgbClr val="3A4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535838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A424B"/>
                </a:solidFill>
                <a:latin typeface="Calibri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11096" y="5148072"/>
            <a:ext cx="76200" cy="182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6" y="535838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5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1995" y="5148072"/>
            <a:ext cx="76200" cy="182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9075" y="535838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15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5148072"/>
            <a:ext cx="76200" cy="18288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535838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480"/>
                </a:solidFill>
                <a:latin typeface="Calibri"/>
              </a:rPr>
              <a:t>1 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6491" y="5148072"/>
            <a:ext cx="76200" cy="18288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3571" y="535838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480"/>
                </a:solidFill>
                <a:latin typeface="Calibri"/>
              </a:rPr>
              <a:t>hours–days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645152"/>
            <a:ext cx="2377440" cy="384048"/>
          </a:xfrm>
          <a:prstGeom prst="rect">
            <a:avLst/>
          </a:prstGeom>
          <a:solidFill>
            <a:srgbClr val="D8E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690873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4F86"/>
                </a:solidFill>
                <a:latin typeface="Calibri"/>
              </a:rPr>
              <a:t>THIS STUDY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1417320"/>
            <a:ext cx="4389120" cy="329184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417320"/>
            <a:ext cx="4389120" cy="4572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5472" y="1481328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057400"/>
            <a:ext cx="40690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0243B"/>
                </a:solidFill>
                <a:latin typeface="Calibri"/>
              </a:rPr>
              <a:t>Does acute Netrin-1 rapidly reshape the neuronal transcriptome — and is the change transient or sustained?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0" i="0">
                <a:solidFill>
                  <a:srgbClr val="3A424B"/>
                </a:solidFill>
                <a:latin typeface="Calibri"/>
              </a:rPr>
              <a:t> 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1">
                <a:solidFill>
                  <a:srgbClr val="3A424B"/>
                </a:solidFill>
                <a:latin typeface="Calibri"/>
              </a:rPr>
              <a:t>A minute-scale window almost no one has looked 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Hypothesis &amp;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10607040" cy="1371600"/>
          </a:xfrm>
          <a:prstGeom prst="rect">
            <a:avLst/>
          </a:prstGeom>
          <a:solidFill>
            <a:srgbClr val="10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481328"/>
            <a:ext cx="100584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A86C5"/>
                </a:solidFill>
                <a:latin typeface="Calibri"/>
              </a:rPr>
              <a:t>HYPOTHESIS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Netrin-1 induces a fast, coordinated transcriptional response that is TRANSIENT — switched on, then off — rather than a stable reprogramming.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0896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108960"/>
            <a:ext cx="2606040" cy="109728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4F86"/>
                </a:solidFill>
                <a:latin typeface="Calibri"/>
              </a:rPr>
              <a:t>Time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424B"/>
                </a:solidFill>
                <a:latin typeface="Calibri"/>
              </a:rPr>
              <a:t>Bulk RNA-seq at 0 / 5 / 15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3592" y="310896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93592" y="3108960"/>
            <a:ext cx="2606040" cy="109728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6472" y="338328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4F86"/>
                </a:solidFill>
                <a:latin typeface="Calibri"/>
              </a:rPr>
              <a:t>Gene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402336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424B"/>
                </a:solidFill>
                <a:latin typeface="Calibri"/>
              </a:rPr>
              <a:t>Differential expression (DESeq2)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310896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64224" y="3108960"/>
            <a:ext cx="2606040" cy="109728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338328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4F86"/>
                </a:solidFill>
                <a:latin typeface="Calibri"/>
              </a:rPr>
              <a:t>Pathway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02336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424B"/>
                </a:solidFill>
                <a:latin typeface="Calibri"/>
              </a:rPr>
              <a:t>Coordination via GSEA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310896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34856" y="3108960"/>
            <a:ext cx="2606040" cy="109728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7736" y="338328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4F86"/>
                </a:solidFill>
                <a:latin typeface="Calibri"/>
              </a:rPr>
              <a:t>Reversibility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6" y="402336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424B"/>
                </a:solidFill>
                <a:latin typeface="Calibri"/>
              </a:rPr>
              <a:t>Compare 5v0 against 15v5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Experimental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>
                <a:solidFill>
                  <a:srgbClr val="3A424B"/>
                </a:solidFill>
                <a:latin typeface="Calibri"/>
              </a:rPr>
              <a:t>▸  E18 rat cortical mixed primary cultures.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>
                <a:solidFill>
                  <a:srgbClr val="3A424B"/>
                </a:solidFill>
                <a:latin typeface="Calibri"/>
              </a:rPr>
              <a:t>▸  Three conditions: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0">
                <a:solidFill>
                  <a:srgbClr val="3A424B"/>
                </a:solidFill>
                <a:latin typeface="Calibri"/>
              </a:rPr>
              <a:t>–  Vehicle (PBS, 5 min) — reference / 0 min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0">
                <a:solidFill>
                  <a:srgbClr val="3A424B"/>
                </a:solidFill>
                <a:latin typeface="Calibri"/>
              </a:rPr>
              <a:t>–  Netrin-1, 5 min   ·   Netrin-1, 15 min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>
                <a:solidFill>
                  <a:srgbClr val="3A424B"/>
                </a:solidFill>
                <a:latin typeface="Calibri"/>
              </a:rPr>
              <a:t>▸  3 biological replicates → 9 samples.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Design limitation (stated up front):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0">
                <a:solidFill>
                  <a:srgbClr val="C0392B"/>
                </a:solidFill>
                <a:latin typeface="Calibri"/>
              </a:rPr>
              <a:t>–  One shared PBS-5min control serves both Netrin timepoints; no independent PBS-15min.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0">
                <a:solidFill>
                  <a:srgbClr val="C0392B"/>
                </a:solidFill>
                <a:latin typeface="Calibri"/>
              </a:rPr>
              <a:t>–  → confounds 15v0; main results use 5v0 and 15v5.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417320"/>
            <a:ext cx="4389120" cy="393192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1417320"/>
            <a:ext cx="4389120" cy="4572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1481328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9 SAMPLES = 3 CONDITIONS × 3 REPLICATES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14884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B7480"/>
                </a:solidFill>
                <a:latin typeface="Calibri"/>
              </a:rPr>
              <a:t>Vehicle / 0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2459736"/>
            <a:ext cx="1143000" cy="457200"/>
          </a:xfrm>
          <a:prstGeom prst="roundRect">
            <a:avLst>
              <a:gd name="adj" fmla="val 6000"/>
            </a:avLst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2532888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7928" y="2459736"/>
            <a:ext cx="1143000" cy="457200"/>
          </a:xfrm>
          <a:prstGeom prst="roundRect">
            <a:avLst>
              <a:gd name="adj" fmla="val 6000"/>
            </a:avLst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7928" y="2532888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66376" y="2459736"/>
            <a:ext cx="1143000" cy="457200"/>
          </a:xfrm>
          <a:prstGeom prst="roundRect">
            <a:avLst>
              <a:gd name="adj" fmla="val 6000"/>
            </a:avLst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66376" y="2532888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172968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6FB0"/>
                </a:solidFill>
                <a:latin typeface="Calibri"/>
              </a:rPr>
              <a:t>Netrin-1  5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3483864"/>
            <a:ext cx="1143000" cy="457200"/>
          </a:xfrm>
          <a:prstGeom prst="roundRect">
            <a:avLst>
              <a:gd name="adj" fmla="val 6000"/>
            </a:avLst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3557016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67928" y="3483864"/>
            <a:ext cx="1143000" cy="457200"/>
          </a:xfrm>
          <a:prstGeom prst="roundRect">
            <a:avLst>
              <a:gd name="adj" fmla="val 6000"/>
            </a:avLst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67928" y="3557016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66376" y="3483864"/>
            <a:ext cx="1143000" cy="457200"/>
          </a:xfrm>
          <a:prstGeom prst="roundRect">
            <a:avLst>
              <a:gd name="adj" fmla="val 6000"/>
            </a:avLst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66376" y="3557016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197096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43B"/>
                </a:solidFill>
                <a:latin typeface="Calibri"/>
              </a:rPr>
              <a:t>Netrin-1  15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4507992"/>
            <a:ext cx="1143000" cy="457200"/>
          </a:xfrm>
          <a:prstGeom prst="roundRect">
            <a:avLst>
              <a:gd name="adj" fmla="val 6000"/>
            </a:avLst>
          </a:prstGeom>
          <a:solidFill>
            <a:srgbClr val="10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4581144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67928" y="4507992"/>
            <a:ext cx="1143000" cy="457200"/>
          </a:xfrm>
          <a:prstGeom prst="roundRect">
            <a:avLst>
              <a:gd name="adj" fmla="val 6000"/>
            </a:avLst>
          </a:prstGeom>
          <a:solidFill>
            <a:srgbClr val="10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7928" y="4581144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66376" y="4507992"/>
            <a:ext cx="1143000" cy="457200"/>
          </a:xfrm>
          <a:prstGeom prst="roundRect">
            <a:avLst>
              <a:gd name="adj" fmla="val 6000"/>
            </a:avLst>
          </a:prstGeom>
          <a:solidFill>
            <a:srgbClr val="10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66376" y="4581144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Analysis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024481" cy="20116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2024481" cy="621792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193304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DRAGEN Salmon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035808"/>
            <a:ext cx="187817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24B"/>
                </a:solidFill>
                <a:latin typeface="Calibri"/>
              </a:rPr>
              <a:t>gene-level quant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24B"/>
                </a:solidFill>
                <a:latin typeface="Calibri"/>
              </a:rPr>
              <a:t>(quant.genes.sf)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7985" y="2971800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C6FB0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5729" y="2286000"/>
            <a:ext cx="2024481" cy="20116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65729" y="2286000"/>
            <a:ext cx="2024481" cy="621792"/>
          </a:xfrm>
          <a:prstGeom prst="rect">
            <a:avLst/>
          </a:prstGeom>
          <a:solidFill>
            <a:srgbClr val="1B4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1449" y="2377440"/>
            <a:ext cx="193304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tximport → DESeq2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8881" y="3035808"/>
            <a:ext cx="187817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24B"/>
                </a:solidFill>
                <a:latin typeface="Calibri"/>
              </a:rPr>
              <a:t>length-offset import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24B"/>
                </a:solidFill>
                <a:latin typeface="Calibri"/>
              </a:rPr>
              <a:t>32,623 → 14,161 genes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3634" y="2971800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C6FB0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1378" y="2286000"/>
            <a:ext cx="2024481" cy="20116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1378" y="2286000"/>
            <a:ext cx="2024481" cy="621792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7098" y="2377440"/>
            <a:ext cx="193304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Differential expr.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4530" y="3035808"/>
            <a:ext cx="187817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24B"/>
                </a:solidFill>
                <a:latin typeface="Calibri"/>
              </a:rPr>
              <a:t>~ replicate + timepoint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24B"/>
                </a:solidFill>
                <a:latin typeface="Calibri"/>
              </a:rPr>
              <a:t>Wald (5v0·15v0·15v5) + LRT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9283" y="2971800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C6FB0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7027" y="2286000"/>
            <a:ext cx="2024481" cy="20116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7027" y="2286000"/>
            <a:ext cx="2024481" cy="621792"/>
          </a:xfrm>
          <a:prstGeom prst="rect">
            <a:avLst/>
          </a:prstGeom>
          <a:solidFill>
            <a:srgbClr val="1B4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2747" y="2377440"/>
            <a:ext cx="193304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GSEA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0179" y="3035808"/>
            <a:ext cx="187817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24B"/>
                </a:solidFill>
                <a:latin typeface="Calibri"/>
              </a:rPr>
              <a:t>gseGO(BP) + gseKEGG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24B"/>
                </a:solidFill>
                <a:latin typeface="Calibri"/>
              </a:rPr>
              <a:t>ranked by Wald stat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4932" y="2971800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C6FB0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42676" y="2286000"/>
            <a:ext cx="2024481" cy="20116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42676" y="2286000"/>
            <a:ext cx="2024481" cy="621792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8396" y="2377440"/>
            <a:ext cx="193304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5828" y="3035808"/>
            <a:ext cx="187817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24B"/>
                </a:solidFill>
                <a:latin typeface="Calibri"/>
              </a:rPr>
              <a:t>transient-dynamics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24B"/>
                </a:solidFill>
                <a:latin typeface="Calibri"/>
              </a:rPr>
              <a:t>5v0 vs 15v5 mirror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70916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424B"/>
                </a:solidFill>
                <a:latin typeface="Calibri"/>
              </a:rPr>
              <a:t>Quantification with DRAGEN Salmon (gene level); tximport with a length offset into DESeq2. Two-pass filtering keeps 14,161 of 32,623 genes (85.6% SYMBOL-mapped, org.Rn.eg.db). Replicate enters the model as a batch term; batch correction (limma) is used for visualization only — DE tests run on raw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Statistical model &amp; significance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5212080" cy="45720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5212080" cy="4572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43560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DIFFERENTIAL EXPRESSION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0">
                <a:solidFill>
                  <a:srgbClr val="3A424B"/>
                </a:solidFill>
                <a:latin typeface="Calibri"/>
              </a:rPr>
              <a:t>▸  Model: ~ replicate + timepoint (ref = Vehicle).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0">
                <a:solidFill>
                  <a:srgbClr val="3A424B"/>
                </a:solidFill>
                <a:latin typeface="Calibri"/>
              </a:rPr>
              <a:t>▸  Replicate dominates variance: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3A424B"/>
                </a:solidFill>
                <a:latin typeface="Calibri"/>
              </a:rPr>
              <a:t>–  PCA: replicate ≈ 52%, timepoint ≈ 34%.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0">
                <a:solidFill>
                  <a:srgbClr val="3A424B"/>
                </a:solidFill>
                <a:latin typeface="Calibri"/>
              </a:rPr>
              <a:t>▸  Wald contrasts: 5v0, 15v0, 15v5; + LRT.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3A424B"/>
                </a:solidFill>
                <a:latin typeface="Calibri"/>
              </a:rPr>
              <a:t>▸  Significance tiers: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3A424B"/>
                </a:solidFill>
                <a:latin typeface="Calibri"/>
              </a:rPr>
              <a:t>–  RELAXED: padj &lt; 0.05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3A424B"/>
                </a:solidFill>
                <a:latin typeface="Calibri"/>
              </a:rPr>
              <a:t>–  STRICT: padj &lt; 0.05 &amp; |log2FC| &gt; 0.585 (FC &gt; 1.5)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166360" cy="45720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166360" cy="457200"/>
          </a:xfrm>
          <a:prstGeom prst="rect">
            <a:avLst/>
          </a:prstGeom>
          <a:solidFill>
            <a:srgbClr val="1B4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435608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GENE-SET ENRICHMENT (GSEA)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0">
                <a:solidFill>
                  <a:srgbClr val="3A424B"/>
                </a:solidFill>
                <a:latin typeface="Calibri"/>
              </a:rPr>
              <a:t>▸  clusterProfiler gseGO(BP) + gseKEGG (rno).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0">
                <a:solidFill>
                  <a:srgbClr val="3A424B"/>
                </a:solidFill>
                <a:latin typeface="Calibri"/>
              </a:rPr>
              <a:t>▸  Ranked by DESeq2 Wald stat; entrez de-dup (max |stat|).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0">
                <a:solidFill>
                  <a:srgbClr val="3A424B"/>
                </a:solidFill>
                <a:latin typeface="Calibri"/>
              </a:rPr>
              <a:t>▸  minGSSize 15 · maxGSSize 500 · BH · seed 123.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0">
                <a:solidFill>
                  <a:srgbClr val="3A424B"/>
                </a:solidFill>
                <a:latin typeface="Calibri"/>
              </a:rPr>
              <a:t>▸  GO simplified (0.7) to remove redundancy.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1B4F86"/>
                </a:solidFill>
                <a:latin typeface="Calibri"/>
              </a:rPr>
              <a:t>▸  Why GSEA is the primary analysis: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1B4F86"/>
                </a:solidFill>
                <a:latin typeface="Calibri"/>
              </a:rPr>
              <a:t>–  acute signal is weak per-gene — pathway aggregation reveals the coordinated program.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RESULTS · QC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QC I — neuron-dominated, composition-stable cultures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f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80160"/>
            <a:ext cx="512064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3A424B"/>
                </a:solidFill>
                <a:latin typeface="Calibri"/>
              </a:rPr>
              <a:t>▸  Pan-neuronal markers dominate: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3A424B"/>
                </a:solidFill>
                <a:latin typeface="Calibri"/>
              </a:rPr>
              <a:t>–  Tubb3 ≈ 3900, Stmn2 ≈ 1540, Map2 ≈ 750 TPM.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3A424B"/>
                </a:solidFill>
                <a:latin typeface="Calibri"/>
              </a:rPr>
              <a:t>–  2–4 orders above glial / endothelial markers (Vwf, Flt1 ≈ 0.1).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1B4F86"/>
                </a:solidFill>
                <a:latin typeface="Calibri"/>
              </a:rPr>
              <a:t>▸  Marker profile near-identical across all 3 conditions.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3A424B"/>
                </a:solidFill>
                <a:latin typeface="Calibri"/>
              </a:rPr>
              <a:t>–  → cell composition does NOT change.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10243B"/>
                </a:solidFill>
                <a:latin typeface="Calibri"/>
              </a:rPr>
              <a:t>▸  Downstream changes are a genuine transcriptional response — not a shift in cell-type proportions.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RESULTS · QC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QC II — replicate is the dominant variance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f_pca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59992"/>
            <a:ext cx="6492240" cy="47609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64592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Top axis of variation = biological REPLICATE, not treatment.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3A424B"/>
                </a:solidFill>
                <a:latin typeface="Calibri"/>
              </a:rPr>
              <a:t>–  replicate ≈ 52% vs timepoint ≈ 34%.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1">
                <a:solidFill>
                  <a:srgbClr val="3A424B"/>
                </a:solidFill>
                <a:latin typeface="Calibri"/>
              </a:rPr>
              <a:t>▸  Handled correctly: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3A424B"/>
                </a:solidFill>
                <a:latin typeface="Calibri"/>
              </a:rPr>
              <a:t>–  replicate is a batch term in the DE model;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3A424B"/>
                </a:solidFill>
                <a:latin typeface="Calibri"/>
              </a:rPr>
              <a:t>–  limma removeBatchEffect for visualization only.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1">
                <a:solidFill>
                  <a:srgbClr val="1B4F86"/>
                </a:solidFill>
                <a:latin typeface="Calibri"/>
              </a:rPr>
              <a:t>▸  After correction, PC1 reflects TIMEPOINT — samples separate by 0 / 5 / 15 min.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RESULTS · DEGS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Differential expression by contrast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600200"/>
            <a:ext cx="1554480" cy="713232"/>
          </a:xfrm>
          <a:prstGeom prst="rect">
            <a:avLst/>
          </a:prstGeom>
          <a:solidFill>
            <a:srgbClr val="10243B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655064"/>
            <a:ext cx="138988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Contrast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600200"/>
            <a:ext cx="2834640" cy="713232"/>
          </a:xfrm>
          <a:prstGeom prst="rect">
            <a:avLst/>
          </a:prstGeom>
          <a:solidFill>
            <a:srgbClr val="10243B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655064"/>
            <a:ext cx="267004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Comparison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600200"/>
            <a:ext cx="1920240" cy="713232"/>
          </a:xfrm>
          <a:prstGeom prst="rect">
            <a:avLst/>
          </a:prstGeom>
          <a:solidFill>
            <a:srgbClr val="10243B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655064"/>
            <a:ext cx="175564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RELAXED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padj&lt;0.05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0" y="1600200"/>
            <a:ext cx="1737360" cy="713232"/>
          </a:xfrm>
          <a:prstGeom prst="rect">
            <a:avLst/>
          </a:prstGeom>
          <a:solidFill>
            <a:srgbClr val="10243B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655064"/>
            <a:ext cx="157276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STRICT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+FC&gt;1.5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600200"/>
            <a:ext cx="2651760" cy="713232"/>
          </a:xfrm>
          <a:prstGeom prst="rect">
            <a:avLst/>
          </a:prstGeom>
          <a:solidFill>
            <a:srgbClr val="10243B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655064"/>
            <a:ext cx="248716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Direction (RELAXED)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2313432"/>
            <a:ext cx="1554480" cy="713232"/>
          </a:xfrm>
          <a:prstGeom prst="rect">
            <a:avLst/>
          </a:prstGeom>
          <a:solidFill>
            <a:srgbClr val="EAF1F8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368296"/>
            <a:ext cx="138988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43B"/>
                </a:solidFill>
                <a:latin typeface="Calibri"/>
              </a:rPr>
              <a:t>5v0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313432"/>
            <a:ext cx="2834640" cy="713232"/>
          </a:xfrm>
          <a:prstGeom prst="rect">
            <a:avLst/>
          </a:prstGeom>
          <a:solidFill>
            <a:srgbClr val="EAF1F8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2368296"/>
            <a:ext cx="267004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3A424B"/>
                </a:solidFill>
                <a:latin typeface="Calibri"/>
              </a:rPr>
              <a:t>5 min vs Vehicle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313432"/>
            <a:ext cx="1920240" cy="713232"/>
          </a:xfrm>
          <a:prstGeom prst="rect">
            <a:avLst/>
          </a:prstGeom>
          <a:solidFill>
            <a:srgbClr val="EAF1F8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2368296"/>
            <a:ext cx="175564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C6FB0"/>
                </a:solidFill>
                <a:latin typeface="Calibri"/>
              </a:rPr>
              <a:t>32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2313432"/>
            <a:ext cx="1737360" cy="713232"/>
          </a:xfrm>
          <a:prstGeom prst="rect">
            <a:avLst/>
          </a:prstGeom>
          <a:solidFill>
            <a:srgbClr val="EAF1F8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2368296"/>
            <a:ext cx="157276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C6FB0"/>
                </a:solidFill>
                <a:latin typeface="Calibri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2313432"/>
            <a:ext cx="2651760" cy="713232"/>
          </a:xfrm>
          <a:prstGeom prst="rect">
            <a:avLst/>
          </a:prstGeom>
          <a:solidFill>
            <a:srgbClr val="EAF1F8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2368296"/>
            <a:ext cx="248716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3A424B"/>
                </a:solidFill>
                <a:latin typeface="Calibri"/>
              </a:rPr>
              <a:t>14 up / 18 down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3026664"/>
            <a:ext cx="1554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3081528"/>
            <a:ext cx="138988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43B"/>
                </a:solidFill>
                <a:latin typeface="Calibri"/>
              </a:rPr>
              <a:t>15v5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026664"/>
            <a:ext cx="28346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3081528"/>
            <a:ext cx="267004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3A424B"/>
                </a:solidFill>
                <a:latin typeface="Calibri"/>
              </a:rPr>
              <a:t>15 min vs 5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3026664"/>
            <a:ext cx="1920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0" y="3081528"/>
            <a:ext cx="175564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C6FB0"/>
                </a:solidFill>
                <a:latin typeface="Calibri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3026664"/>
            <a:ext cx="1737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3081528"/>
            <a:ext cx="157276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C6FB0"/>
                </a:solidFill>
                <a:latin typeface="Calibr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3026664"/>
            <a:ext cx="26517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3081528"/>
            <a:ext cx="248716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3A424B"/>
                </a:solidFill>
                <a:latin typeface="Calibri"/>
              </a:rPr>
              <a:t>6 up / 0 down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8720" y="3739896"/>
            <a:ext cx="1554480" cy="713232"/>
          </a:xfrm>
          <a:prstGeom prst="rect">
            <a:avLst/>
          </a:prstGeom>
          <a:solidFill>
            <a:srgbClr val="EAF1F8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3794760"/>
            <a:ext cx="138988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43B"/>
                </a:solidFill>
                <a:latin typeface="Calibri"/>
              </a:rPr>
              <a:t>15v0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3739896"/>
            <a:ext cx="2834640" cy="713232"/>
          </a:xfrm>
          <a:prstGeom prst="rect">
            <a:avLst/>
          </a:prstGeom>
          <a:solidFill>
            <a:srgbClr val="EAF1F8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4640" y="3794760"/>
            <a:ext cx="267004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3A424B"/>
                </a:solidFill>
                <a:latin typeface="Calibri"/>
              </a:rPr>
              <a:t>15 min vs Vehicle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3739896"/>
            <a:ext cx="1920240" cy="713232"/>
          </a:xfrm>
          <a:prstGeom prst="rect">
            <a:avLst/>
          </a:prstGeom>
          <a:solidFill>
            <a:srgbClr val="EAF1F8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0" y="3794760"/>
            <a:ext cx="175564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C6FB0"/>
                </a:solidFill>
                <a:latin typeface="Calibri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0" y="3739896"/>
            <a:ext cx="1737360" cy="713232"/>
          </a:xfrm>
          <a:prstGeom prst="rect">
            <a:avLst/>
          </a:prstGeom>
          <a:solidFill>
            <a:srgbClr val="EAF1F8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0" y="3794760"/>
            <a:ext cx="157276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C6FB0"/>
                </a:solidFill>
                <a:latin typeface="Calibri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3739896"/>
            <a:ext cx="2651760" cy="713232"/>
          </a:xfrm>
          <a:prstGeom prst="rect">
            <a:avLst/>
          </a:prstGeom>
          <a:solidFill>
            <a:srgbClr val="EAF1F8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0" y="3794760"/>
            <a:ext cx="248716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3A424B"/>
                </a:solidFill>
                <a:latin typeface="Calibri"/>
              </a:rPr>
              <a:t>0 up / 1 down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88720" y="4453128"/>
            <a:ext cx="1554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80160" y="4507992"/>
            <a:ext cx="138988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43B"/>
                </a:solidFill>
                <a:latin typeface="Calibri"/>
              </a:rPr>
              <a:t>LRT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4453128"/>
            <a:ext cx="28346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34640" y="4507992"/>
            <a:ext cx="267004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3A424B"/>
                </a:solidFill>
                <a:latin typeface="Calibri"/>
              </a:rPr>
              <a:t>time-varying (any)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77840" y="4453128"/>
            <a:ext cx="1920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0" y="4507992"/>
            <a:ext cx="175564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C6FB0"/>
                </a:solidFill>
                <a:latin typeface="Calibri"/>
              </a:rPr>
              <a:t>19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0" y="4453128"/>
            <a:ext cx="1737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89520" y="4507992"/>
            <a:ext cx="157276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C6FB0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35440" y="4453128"/>
            <a:ext cx="26517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6880" y="4507992"/>
            <a:ext cx="248716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3A424B"/>
                </a:solidFill>
                <a:latin typeface="Calibri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88720" y="5440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3A424B"/>
                </a:solidFill>
                <a:latin typeface="Calibri"/>
              </a:rPr>
              <a:t>The acute response is real but small at the single-gene level — and it is the 5-minute contrast that carries it. This motivates the pathway-level GSEA.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RESULTS · DEGS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The 5-minute response maps onto coherent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f_volc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0200"/>
            <a:ext cx="57607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37960" y="1417320"/>
            <a:ext cx="1325880" cy="457200"/>
          </a:xfrm>
          <a:prstGeom prst="rect">
            <a:avLst/>
          </a:prstGeom>
          <a:solidFill>
            <a:srgbClr val="10243B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2824" y="1481328"/>
            <a:ext cx="1234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Gene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417320"/>
            <a:ext cx="1097280" cy="457200"/>
          </a:xfrm>
          <a:prstGeom prst="rect">
            <a:avLst/>
          </a:prstGeom>
          <a:solidFill>
            <a:srgbClr val="10243B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18704" y="1481328"/>
            <a:ext cx="1005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log2FC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417320"/>
            <a:ext cx="1097280" cy="457200"/>
          </a:xfrm>
          <a:prstGeom prst="rect">
            <a:avLst/>
          </a:prstGeom>
          <a:solidFill>
            <a:srgbClr val="10243B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1481328"/>
            <a:ext cx="1005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padj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0" y="1417320"/>
            <a:ext cx="1691640" cy="457200"/>
          </a:xfrm>
          <a:prstGeom prst="rect">
            <a:avLst/>
          </a:prstGeom>
          <a:solidFill>
            <a:srgbClr val="10243B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13264" y="1481328"/>
            <a:ext cx="1600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1874520"/>
            <a:ext cx="1325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1929384"/>
            <a:ext cx="1234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43B"/>
                </a:solidFill>
                <a:latin typeface="Calibri"/>
              </a:rPr>
              <a:t>Fos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87452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18704" y="1929384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166AC"/>
                </a:solidFill>
                <a:latin typeface="Calibri"/>
              </a:rPr>
              <a:t>−2.35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87452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984" y="1929384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24B"/>
                </a:solidFill>
                <a:latin typeface="Calibri"/>
              </a:rPr>
              <a:t>2.4e-3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0" y="187452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13264" y="1929384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66AC"/>
                </a:solidFill>
                <a:latin typeface="Calibri"/>
              </a:rPr>
              <a:t>IEG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2331720"/>
            <a:ext cx="1325880" cy="45720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2824" y="2386584"/>
            <a:ext cx="1234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43B"/>
                </a:solidFill>
                <a:latin typeface="Calibri"/>
              </a:rPr>
              <a:t>Rock1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2331720"/>
            <a:ext cx="1097280" cy="45720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18704" y="2386584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166AC"/>
                </a:solidFill>
                <a:latin typeface="Calibri"/>
              </a:rPr>
              <a:t>−0.43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331720"/>
            <a:ext cx="1097280" cy="45720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15984" y="2386584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24B"/>
                </a:solidFill>
                <a:latin typeface="Calibri"/>
              </a:rPr>
              <a:t>9.4e-6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2331720"/>
            <a:ext cx="1691640" cy="45720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13264" y="2386584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66AC"/>
                </a:solidFill>
                <a:latin typeface="Calibri"/>
              </a:rPr>
              <a:t>Cytoskeleton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2788920"/>
            <a:ext cx="1325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2824" y="2843784"/>
            <a:ext cx="1234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43B"/>
                </a:solidFill>
                <a:latin typeface="Calibri"/>
              </a:rPr>
              <a:t>Srsf5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278892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18704" y="2843784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166AC"/>
                </a:solidFill>
                <a:latin typeface="Calibri"/>
              </a:rPr>
              <a:t>−0.31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278892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15984" y="2843784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24B"/>
                </a:solidFill>
                <a:latin typeface="Calibri"/>
              </a:rPr>
              <a:t>4.5e-5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0" y="278892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13264" y="2843784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66AC"/>
                </a:solidFill>
                <a:latin typeface="Calibri"/>
              </a:rPr>
              <a:t>Splicing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3246120"/>
            <a:ext cx="1325880" cy="45720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92824" y="3300984"/>
            <a:ext cx="1234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43B"/>
                </a:solidFill>
                <a:latin typeface="Calibri"/>
              </a:rPr>
              <a:t>Snrnp70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3246120"/>
            <a:ext cx="1097280" cy="45720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18704" y="3300984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166AC"/>
                </a:solidFill>
                <a:latin typeface="Calibri"/>
              </a:rPr>
              <a:t>−0.27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3246120"/>
            <a:ext cx="1097280" cy="45720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15984" y="3300984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24B"/>
                </a:solidFill>
                <a:latin typeface="Calibri"/>
              </a:rPr>
              <a:t>1.2e-2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58400" y="3246120"/>
            <a:ext cx="1691640" cy="45720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13264" y="3300984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66AC"/>
                </a:solidFill>
                <a:latin typeface="Calibri"/>
              </a:rPr>
              <a:t>Splicing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37960" y="3703320"/>
            <a:ext cx="1325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92824" y="3758184"/>
            <a:ext cx="1234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43B"/>
                </a:solidFill>
                <a:latin typeface="Calibri"/>
              </a:rPr>
              <a:t>Cntn2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63840" y="370332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18704" y="3758184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+0.25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370332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15984" y="3758184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24B"/>
                </a:solidFill>
                <a:latin typeface="Calibri"/>
              </a:rPr>
              <a:t>1.4e-2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58400" y="370332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13264" y="3758184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0392B"/>
                </a:solidFill>
                <a:latin typeface="Calibri"/>
              </a:rPr>
              <a:t>Axon guid.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37960" y="4160520"/>
            <a:ext cx="1325880" cy="45720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92824" y="4215384"/>
            <a:ext cx="1234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43B"/>
                </a:solidFill>
                <a:latin typeface="Calibri"/>
              </a:rPr>
              <a:t>Nos1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0" y="4160520"/>
            <a:ext cx="1097280" cy="45720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18704" y="4215384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+0.32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61120" y="4160520"/>
            <a:ext cx="1097280" cy="45720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15984" y="4215384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24B"/>
                </a:solidFill>
                <a:latin typeface="Calibri"/>
              </a:rPr>
              <a:t>3.5e-2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58400" y="4160520"/>
            <a:ext cx="1691640" cy="45720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13264" y="4215384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0392B"/>
                </a:solidFill>
                <a:latin typeface="Calibri"/>
              </a:rPr>
              <a:t>NO–calcium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37960" y="4617720"/>
            <a:ext cx="1325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92824" y="4672584"/>
            <a:ext cx="1234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43B"/>
                </a:solidFill>
                <a:latin typeface="Calibri"/>
              </a:rPr>
              <a:t>Ryr3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63840" y="461772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18704" y="4672584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+0.47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61120" y="461772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15984" y="4672584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24B"/>
                </a:solidFill>
                <a:latin typeface="Calibri"/>
              </a:rPr>
              <a:t>2.4e-2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058400" y="461772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13264" y="4672584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0392B"/>
                </a:solidFill>
                <a:latin typeface="Calibri"/>
              </a:rPr>
              <a:t>NO–calcium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37960" y="5074920"/>
            <a:ext cx="1325880" cy="45720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92824" y="5129784"/>
            <a:ext cx="1234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43B"/>
                </a:solidFill>
                <a:latin typeface="Calibri"/>
              </a:rPr>
              <a:t>Tln2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63840" y="5074920"/>
            <a:ext cx="1097280" cy="45720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18704" y="5129784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+0.39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61120" y="5074920"/>
            <a:ext cx="1097280" cy="45720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15984" y="5129784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24B"/>
                </a:solidFill>
                <a:latin typeface="Calibri"/>
              </a:rPr>
              <a:t>1.2e-2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58400" y="5074920"/>
            <a:ext cx="1691640" cy="45720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13264" y="5129784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0392B"/>
                </a:solidFill>
                <a:latin typeface="Calibri"/>
              </a:rPr>
              <a:t>Adhesion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37960" y="585216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3A424B"/>
                </a:solidFill>
                <a:latin typeface="Calibri"/>
              </a:rPr>
              <a:t>Down: IEG, cytoskeleton, splicing.  Up: guidance, NO–calcium, adhesion.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RESULTS · DEGS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DEGs form a coherent, condition-specific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f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567" y="1325880"/>
            <a:ext cx="4819425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173736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3A424B"/>
                </a:solidFill>
                <a:latin typeface="Calibri"/>
              </a:rPr>
              <a:t>▸  Heatmap of 5v0 DEGs across all 9 samples.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A424B"/>
                </a:solidFill>
                <a:latin typeface="Calibri"/>
              </a:rPr>
              <a:t>▸  Coordinated up- and down-blocks distinguish the Netrin-5min condition.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A424B"/>
                </a:solidFill>
                <a:latin typeface="Calibri"/>
              </a:rPr>
              <a:t>▸  Patterns are consistent within replicates after batch handling.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243B"/>
                </a:solidFill>
                <a:latin typeface="Calibri"/>
              </a:rPr>
              <a:t>▸  The 5-minute state is a distinct, structured program —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A424B"/>
                </a:solidFill>
                <a:latin typeface="Calibri"/>
              </a:rPr>
              <a:t>–  not scattered noise across a few genes.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RESULTS ·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The response is a transient 5-minute pulse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f_tr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7340"/>
            <a:ext cx="658368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3A424B"/>
                </a:solidFill>
                <a:latin typeface="Calibri"/>
              </a:rPr>
              <a:t>▸  LRT: 19 genes change significantly over time.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B4F86"/>
                </a:solidFill>
                <a:latin typeface="Calibri"/>
              </a:rPr>
              <a:t>▸  Dominant shape = a 5-minute PULSE: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3A424B"/>
                </a:solidFill>
                <a:latin typeface="Calibri"/>
              </a:rPr>
              <a:t>–  depart from baseline at 5 min…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3A424B"/>
                </a:solidFill>
                <a:latin typeface="Calibri"/>
              </a:rPr>
              <a:t>–  …return toward baseline by 15 min.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0243B"/>
                </a:solidFill>
                <a:latin typeface="Calibri"/>
              </a:rPr>
              <a:t>▸  First direct evidence the program is transient, not sustained.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Caveat (shown honestly):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Calibri"/>
              </a:rPr>
              <a:t>–  Fos overshoots baseline at 15 min; variable Vehicle replicates → wide error band.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RESULTS ·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A surprise: two immediate-early genes are suppressed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10607040" cy="1188720"/>
          </a:xfrm>
          <a:prstGeom prst="rect">
            <a:avLst/>
          </a:prstGeom>
          <a:solidFill>
            <a:srgbClr val="D8E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481328"/>
            <a:ext cx="10058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43B"/>
                </a:solidFill>
                <a:latin typeface="Calibri"/>
              </a:rPr>
              <a:t>Immediate-early genes are normally ACTIVATED by neuronal activity — here, acute Netrin-1 acutely DOWN-regulates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34640"/>
            <a:ext cx="5166360" cy="310896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663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2166AC"/>
                </a:solidFill>
                <a:latin typeface="Calibri"/>
              </a:rPr>
              <a:t>Fos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3A424B"/>
                </a:solidFill>
                <a:latin typeface="Calibri"/>
              </a:rPr>
              <a:t>log2FC −2.35 · padj 2.4e-3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3A424B"/>
                </a:solidFill>
                <a:latin typeface="Calibri"/>
              </a:rPr>
              <a:t>The strongest DEG of the study.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0" i="0">
                <a:solidFill>
                  <a:srgbClr val="3A424B"/>
                </a:solidFill>
                <a:latin typeface="Calibri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0243B"/>
                </a:solidFill>
                <a:latin typeface="Calibri"/>
              </a:rPr>
              <a:t>A strong, significant acute IEG repression.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834640"/>
            <a:ext cx="5166360" cy="310896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063240"/>
            <a:ext cx="4663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2166AC"/>
                </a:solidFill>
                <a:latin typeface="Calibri"/>
              </a:rPr>
              <a:t>Npas4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3A424B"/>
                </a:solidFill>
                <a:latin typeface="Calibri"/>
              </a:rPr>
              <a:t>log2FC −1.75 · padj 0.076 (n.s.)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3A424B"/>
                </a:solidFill>
                <a:latin typeface="Calibri"/>
              </a:rPr>
              <a:t>Significant by the time-course LRT.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0" i="0">
                <a:solidFill>
                  <a:srgbClr val="3A424B"/>
                </a:solidFill>
                <a:latin typeface="Calibri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0243B"/>
                </a:solidFill>
                <a:latin typeface="Calibri"/>
              </a:rPr>
              <a:t>A second acute IEG repression.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RESULTS ·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Isoform-selective control: Rock1 down, Rock2 untouched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14</a:t>
            </a:r>
          </a:p>
        </p:txBody>
      </p:sp>
      <p:pic>
        <p:nvPicPr>
          <p:cNvPr id="7" name="Picture 6" descr="f_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7340"/>
            <a:ext cx="658368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7373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2166AC"/>
                </a:solidFill>
                <a:latin typeface="Calibri"/>
              </a:rPr>
              <a:t>▸  Rock1: log2FC −0.43, padj 9.4e-6 — clearly DOWN.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6B7480"/>
                </a:solidFill>
                <a:latin typeface="Calibri"/>
              </a:rPr>
              <a:t>▸  Rock2: log2FC +0.07, padj ≈ 1.0 — unchanged.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10243B"/>
                </a:solidFill>
                <a:latin typeface="Calibri"/>
              </a:rPr>
              <a:t>▸  Two paralogues, opposite fates in one cell.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0">
                <a:solidFill>
                  <a:srgbClr val="3A424B"/>
                </a:solidFill>
                <a:latin typeface="Calibri"/>
              </a:rPr>
              <a:t>▸  ROCK1 is a classic Netrin–DCC downstream effector.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1B4F86"/>
                </a:solidFill>
                <a:latin typeface="Calibri"/>
              </a:rPr>
              <a:t>▸  → Netrin exerts precise, isoform-selective transcriptional control — not a blunt instrument.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RESULTS ·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GSEA: a coordinated program at 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15</a:t>
            </a:r>
          </a:p>
        </p:txBody>
      </p:sp>
      <p:pic>
        <p:nvPicPr>
          <p:cNvPr id="7" name="Picture 6" descr="f_gsea_go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" y="1325880"/>
            <a:ext cx="6343650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155448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3A424B"/>
                </a:solidFill>
                <a:latin typeface="Calibri"/>
              </a:rPr>
              <a:t>▸  5v0 GO-BP: 313 significant (285 ↑ / 28 ↓).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ACTIVATED at 5 min: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Calibri"/>
              </a:rPr>
              <a:t>–  axon guidance, neuron projection, synapse assembly.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166AC"/>
                </a:solidFill>
                <a:latin typeface="Calibri"/>
              </a:rPr>
              <a:t>▸  SUPPRESSED at 5 min: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166AC"/>
                </a:solidFill>
                <a:latin typeface="Calibri"/>
              </a:rPr>
              <a:t>–  mRNA splicing / processing,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166AC"/>
                </a:solidFill>
                <a:latin typeface="Calibri"/>
              </a:rPr>
              <a:t>–  ribosome biogenesis &amp; translation.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0243B"/>
                </a:solidFill>
                <a:latin typeface="Calibri"/>
              </a:rPr>
              <a:t>▸  GSEA lifts the single-gene modules into a genome-wide coordinated signal.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RESULTS ·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KEGG: axon guidance tops the activated pathways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16</a:t>
            </a:r>
          </a:p>
        </p:txBody>
      </p:sp>
      <p:pic>
        <p:nvPicPr>
          <p:cNvPr id="7" name="Picture 6" descr="f_gsea_keg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10512"/>
            <a:ext cx="6766560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6916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3A424B"/>
                </a:solidFill>
                <a:latin typeface="Calibri"/>
              </a:rPr>
              <a:t>▸  5v0 KEGG: 14 significant pathways.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Top pathway: Axon guidance.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3A424B"/>
                </a:solidFill>
                <a:latin typeface="Calibri"/>
              </a:rPr>
              <a:t>–  NES 2.16 · BH p = 4.1e-7.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3A424B"/>
                </a:solidFill>
                <a:latin typeface="Calibri"/>
              </a:rPr>
              <a:t>–  includes the parallel ephrin system.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0243B"/>
                </a:solidFill>
                <a:latin typeface="Calibri"/>
              </a:rPr>
              <a:t>▸  Netrin's canonical protein-level function, mirrored transcriptionally within 5 minutes.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1B4F86"/>
                </a:solidFill>
                <a:latin typeface="Calibri"/>
              </a:rPr>
              <a:t>–  transcription runs in PARALLEL with the classic mechanism.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RESULTS ·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By 15 minutes the program fully reverses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17</a:t>
            </a:r>
          </a:p>
        </p:txBody>
      </p:sp>
      <p:pic>
        <p:nvPicPr>
          <p:cNvPr id="7" name="Picture 6" descr="f_gsea_go15v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" y="1325880"/>
            <a:ext cx="6343650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155448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3A424B"/>
                </a:solidFill>
                <a:latin typeface="Calibri"/>
              </a:rPr>
              <a:t>▸  15v5 GO-BP: 295 significant (31 ↑ / 264 ↓).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0243B"/>
                </a:solidFill>
                <a:latin typeface="Calibri"/>
              </a:rPr>
              <a:t>▸  Direction FLIPPED versus 5v0: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166AC"/>
                </a:solidFill>
                <a:latin typeface="Calibri"/>
              </a:rPr>
              <a:t>–  axon-guidance terms now go DOWN,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Calibri"/>
              </a:rPr>
              <a:t>–  biosynthesis terms now go UP (recover).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B4F86"/>
                </a:solidFill>
                <a:latin typeface="Calibri"/>
              </a:rPr>
              <a:t>▸  15v0 GO-BP: 0 significant terms.</a:t>
            </a:r>
          </a:p>
          <a:p>
            <a:pPr marL="292608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3A424B"/>
                </a:solidFill>
                <a:latin typeface="Calibri"/>
              </a:rPr>
              <a:t>–  → at 15 min the transcriptome is back at baseline.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0243B"/>
                </a:solidFill>
                <a:latin typeface="Calibri"/>
              </a:rPr>
              <a:t>▸  Switched on at 5 min, off by 15.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RESULTS ·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The signature result: an r = −0.99 mirror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18</a:t>
            </a:r>
          </a:p>
        </p:txBody>
      </p:sp>
      <p:pic>
        <p:nvPicPr>
          <p:cNvPr id="7" name="Picture 6" descr="f_mi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760720" cy="5120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49440" y="1554480"/>
            <a:ext cx="4572000" cy="1371600"/>
          </a:xfrm>
          <a:prstGeom prst="rect">
            <a:avLst/>
          </a:prstGeom>
          <a:solidFill>
            <a:srgbClr val="10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691640"/>
            <a:ext cx="4297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8CC0E8"/>
                </a:solidFill>
                <a:latin typeface="Calibri"/>
              </a:rPr>
              <a:t>r = −0.99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5v0 vs 15v5 pathway NES correlation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15468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3A424B"/>
                </a:solidFill>
                <a:latin typeface="Calibri"/>
              </a:rPr>
              <a:t>▸  603 pathways shared between 5v0 and 15v5.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0243B"/>
                </a:solidFill>
                <a:latin typeface="Calibri"/>
              </a:rPr>
              <a:t>▸  Their enrichment scores are near-perfect opposites.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3A424B"/>
                </a:solidFill>
                <a:latin typeface="Calibri"/>
              </a:rPr>
              <a:t>▸  Every pathway up at 5 min is suppressed 5→15 min by almost exactly the same amount.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B4F86"/>
                </a:solidFill>
                <a:latin typeface="Calibri"/>
              </a:rPr>
              <a:t>▸  Quantitative proof of a precisely-undone transient.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Integrated summary: DESeq2 + GSEA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2743200" cy="640080"/>
          </a:xfrm>
          <a:prstGeom prst="rect">
            <a:avLst/>
          </a:prstGeom>
          <a:solidFill>
            <a:srgbClr val="10243B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554480"/>
            <a:ext cx="5120640" cy="310896"/>
          </a:xfrm>
          <a:prstGeom prst="rect">
            <a:avLst/>
          </a:prstGeom>
          <a:solidFill>
            <a:srgbClr val="2C6FB0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57276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DESeq2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1554480"/>
            <a:ext cx="3291840" cy="310896"/>
          </a:xfrm>
          <a:prstGeom prst="rect">
            <a:avLst/>
          </a:prstGeom>
          <a:solidFill>
            <a:srgbClr val="1B4F86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57276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GSEA (GO-BP)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1865376"/>
            <a:ext cx="1463040" cy="329184"/>
          </a:xfrm>
          <a:prstGeom prst="rect">
            <a:avLst/>
          </a:prstGeom>
          <a:solidFill>
            <a:srgbClr val="2C6FB0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83664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RELAXED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865376"/>
            <a:ext cx="1371600" cy="329184"/>
          </a:xfrm>
          <a:prstGeom prst="rect">
            <a:avLst/>
          </a:prstGeom>
          <a:solidFill>
            <a:srgbClr val="2C6FB0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1883664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STRICT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865376"/>
            <a:ext cx="2286000" cy="329184"/>
          </a:xfrm>
          <a:prstGeom prst="rect">
            <a:avLst/>
          </a:prstGeom>
          <a:solidFill>
            <a:srgbClr val="2C6FB0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883664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Direction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1865376"/>
            <a:ext cx="1463040" cy="329184"/>
          </a:xfrm>
          <a:prstGeom prst="rect">
            <a:avLst/>
          </a:prstGeom>
          <a:solidFill>
            <a:srgbClr val="1B4F86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1883664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Terms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04120" y="1865376"/>
            <a:ext cx="1828800" cy="329184"/>
          </a:xfrm>
          <a:prstGeom prst="rect">
            <a:avLst/>
          </a:prstGeom>
          <a:solidFill>
            <a:srgbClr val="1B4F86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1883664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Direction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194560"/>
            <a:ext cx="2743200" cy="64008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2377440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43B"/>
                </a:solidFill>
                <a:latin typeface="Calibri"/>
              </a:rPr>
              <a:t>5 min vs Vehicle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2194560"/>
            <a:ext cx="1463040" cy="64008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75304" y="237744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6FB0"/>
                </a:solidFill>
                <a:latin typeface="Calibri"/>
              </a:rPr>
              <a:t>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2194560"/>
            <a:ext cx="1371600" cy="64008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8344" y="23774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6FB0"/>
                </a:solidFill>
                <a:latin typeface="Calibri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2194560"/>
            <a:ext cx="2286000" cy="64008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9944" y="237744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A424B"/>
                </a:solidFill>
                <a:latin typeface="Calibri"/>
              </a:rPr>
              <a:t>14 ↑ / 18 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2194560"/>
            <a:ext cx="1463040" cy="64008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95944" y="237744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6FB0"/>
                </a:solidFill>
                <a:latin typeface="Calibri"/>
              </a:rPr>
              <a:t>313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04120" y="2194560"/>
            <a:ext cx="1828800" cy="64008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58984" y="237744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A424B"/>
                </a:solidFill>
                <a:latin typeface="Calibri"/>
              </a:rPr>
              <a:t>285 ↑ / 28 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2834640"/>
            <a:ext cx="27432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" y="3017520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43B"/>
                </a:solidFill>
                <a:latin typeface="Calibri"/>
              </a:rPr>
              <a:t>15 min vs 5 min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83464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75304" y="301752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6FB0"/>
                </a:solidFill>
                <a:latin typeface="Calibri"/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283464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38344" y="30175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6FB0"/>
                </a:solidFill>
                <a:latin typeface="Calibri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283464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9944" y="301752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A424B"/>
                </a:solidFill>
                <a:latin typeface="Calibri"/>
              </a:rPr>
              <a:t>6 ↑ / 0 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41080" y="283464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95944" y="301752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6FB0"/>
                </a:solidFill>
                <a:latin typeface="Calibri"/>
              </a:rPr>
              <a:t>295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04120" y="283464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58984" y="30175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A424B"/>
                </a:solidFill>
                <a:latin typeface="Calibri"/>
              </a:rPr>
              <a:t>31 ↑ / 264 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3474720"/>
            <a:ext cx="2743200" cy="64008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" y="3657600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43B"/>
                </a:solidFill>
                <a:latin typeface="Calibri"/>
              </a:rPr>
              <a:t>15 min vs Vehicle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3474720"/>
            <a:ext cx="1463040" cy="64008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75304" y="36576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6FB0"/>
                </a:solidFill>
                <a:latin typeface="Calibri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83480" y="3474720"/>
            <a:ext cx="1371600" cy="64008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38344" y="36576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6FB0"/>
                </a:solidFill>
                <a:latin typeface="Calibri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3474720"/>
            <a:ext cx="2286000" cy="64008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9944" y="365760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A424B"/>
                </a:solidFill>
                <a:latin typeface="Calibri"/>
              </a:rPr>
              <a:t>0 ↑ / 1 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41080" y="3474720"/>
            <a:ext cx="1463040" cy="64008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95944" y="36576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6FB0"/>
                </a:solidFill>
                <a:latin typeface="Calibri"/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04120" y="3474720"/>
            <a:ext cx="1828800" cy="640080"/>
          </a:xfrm>
          <a:prstGeom prst="rect">
            <a:avLst/>
          </a:prstGeom>
          <a:solidFill>
            <a:srgbClr val="EAF1F8"/>
          </a:solidFill>
          <a:ln w="6350">
            <a:solidFill>
              <a:srgbClr val="D8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58984" y="365760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A424B"/>
                </a:solidFill>
                <a:latin typeface="Calibri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" y="5029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3A424B"/>
                </a:solidFill>
                <a:latin typeface="Calibri"/>
              </a:rPr>
              <a:t>One coherent program: a 5-minute swing (guidance up, biosynthesis &amp; IEGs down) that reverses by 15 minutes — at both the gene and pathway level.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Discussion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5212080" cy="45720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5212080" cy="4572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43560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TAKE-HOME MESSAGES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A424B"/>
                </a:solidFill>
                <a:latin typeface="Calibri"/>
              </a:rPr>
              <a:t>▸  Dual-IEG suppression (Fos + Npas4) — opposite to canonical IEG behavior. Novel.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A424B"/>
                </a:solidFill>
                <a:latin typeface="Calibri"/>
              </a:rPr>
              <a:t>▸  Coordinated transient shutdown of biosynthesis (splicing + ribosome + translation).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A424B"/>
                </a:solidFill>
                <a:latin typeface="Calibri"/>
              </a:rPr>
              <a:t>▸  Guidance program has a fast transcriptional arm, parallel to the classic mechanism.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B4F86"/>
                </a:solidFill>
                <a:latin typeface="Calibri"/>
              </a:rPr>
              <a:t>▸  r = −0.99 mirror — a precisely-controlled transient, not reprogramming.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A424B"/>
                </a:solidFill>
                <a:latin typeface="Calibri"/>
              </a:rPr>
              <a:t>▸  ROCK1-selective control of a canonical Netrin–DCC effector.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166360" cy="45720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166360" cy="457200"/>
          </a:xfrm>
          <a:prstGeom prst="rect">
            <a:avLst/>
          </a:prstGeom>
          <a:solidFill>
            <a:srgbClr val="1B4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435608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A424B"/>
                </a:solidFill>
                <a:latin typeface="Calibri"/>
              </a:rPr>
              <a:t>▸  n = 3, acute signal weak → GSEA is the primary analysis.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A424B"/>
                </a:solidFill>
                <a:latin typeface="Calibri"/>
              </a:rPr>
              <a:t>▸  No independent PBS-15min control → rely on 5v0 and 15v5.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A424B"/>
                </a:solidFill>
                <a:latin typeface="Calibri"/>
              </a:rPr>
              <a:t>▸  Only 3 timepoints → LRT + trend, not dense time-series modeling.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A424B"/>
                </a:solidFill>
                <a:latin typeface="Calibri"/>
              </a:rPr>
              <a:t>▸  Fos shows high Vehicle-replicate variability → read cautiously.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A424B"/>
                </a:solidFill>
                <a:latin typeface="Calibri"/>
              </a:rPr>
              <a:t>▸  Bulk RNA-seq → markers reflect expression, not cell proportions.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FB0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43B"/>
                </a:solidFill>
                <a:latin typeface="Calibri"/>
              </a:rPr>
              <a:t>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978408"/>
            <a:ext cx="914400" cy="381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Calibri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10607040" cy="1920240"/>
          </a:xfrm>
          <a:prstGeom prst="rect">
            <a:avLst/>
          </a:prstGeom>
          <a:solidFill>
            <a:srgbClr val="10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72768"/>
            <a:ext cx="100584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Acute Netrin-1 triggers a rapid, coordinated and TRANSIENT transcriptional program — activating axon-guidance / projection while suppressing RNA processing and ribosome biogenesis — reversed to baseline with r = −0.99 precision within 15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3A424B"/>
                </a:solidFill>
                <a:latin typeface="Calibri"/>
              </a:rPr>
              <a:t>▸  First characterization of Netrin-1's minute-scale transcriptional response.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3A424B"/>
                </a:solidFill>
                <a:latin typeface="Calibri"/>
              </a:rPr>
              <a:t>▸  Transcription runs in PARALLEL with the classic post-translational mechanism.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3A424B"/>
                </a:solidFill>
                <a:latin typeface="Calibri"/>
              </a:rPr>
              <a:t>▸  Novel: dual-IEG suppression and ROCK1-selective regulation.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B4F86"/>
                </a:solidFill>
                <a:latin typeface="Calibri"/>
              </a:rPr>
              <a:t>▸  The r = −0.99 mirror defines a precisely-controlled transient.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2103120" cy="50800"/>
          </a:xfrm>
          <a:prstGeom prst="rect">
            <a:avLst/>
          </a:prstGeom>
          <a:solidFill>
            <a:srgbClr val="2C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8CC0E8"/>
                </a:solidFill>
                <a:latin typeface="Calibri"/>
              </a:rPr>
              <a:t>Questions &amp; discussion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9AAEC2"/>
                </a:solidFill>
                <a:latin typeface="Calibri"/>
              </a:rPr>
              <a:t>One sentence to remember: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1">
                <a:solidFill>
                  <a:srgbClr val="FFFFFF"/>
                </a:solidFill>
                <a:latin typeface="Calibri"/>
              </a:rPr>
              <a:t>A 5-minute Netrin-1 pulse switches a coordinated transcriptional program ON — then OFF again by 15 minutes, with r = −0.99 precision.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