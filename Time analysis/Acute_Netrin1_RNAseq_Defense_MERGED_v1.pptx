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E18 RAT CORTICAL NEURONS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Netrin-1 triggers a 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transient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transcriptional program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Netrin-1 pulse activates an axon-guidance / projection program and suppresses RNA-processing &amp; ribosome biogenesis —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returns to baseline by 15 min with r = −0.99 precision.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7324B"/>
          </a:solidFill>
          <a:ln/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411480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48646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response window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9434" y="3977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7324B"/>
          </a:solidFill>
          <a:ln/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4026" y="411480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−0.99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4026" y="48646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vs 15v5 pathway mirror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0229" y="3977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7324B"/>
          </a:solidFill>
          <a:ln/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821" y="411480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14821" y="48646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significant GO BP terms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01023" y="3977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7324B"/>
          </a:solidFill>
          <a:ln/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65615" y="411480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65615" y="48646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15v0 significant GO BP terms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question-to-evidence arc, not a file-by-file tour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structure the talk; each is answered with a specific piece of evidence.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99427" cy="2743200"/>
          </a:xfrm>
          <a:prstGeom prst="roundRect">
            <a:avLst>
              <a:gd name="adj" fmla="val 320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566928" cy="566928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6336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gap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6336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 is fast, local, guidance-related — is there an acute transcriptional layer?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22387" y="2148840"/>
            <a:ext cx="1999427" cy="2743200"/>
          </a:xfrm>
          <a:prstGeom prst="roundRect">
            <a:avLst>
              <a:gd name="adj" fmla="val 320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3555" y="2377440"/>
            <a:ext cx="566928" cy="566928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3023555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5267" y="3108960"/>
            <a:ext cx="16336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QC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5267" y="3794760"/>
            <a:ext cx="16336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RNA-seq samples, 0/5/15 min, replicate-aware modelling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96134" y="2148840"/>
            <a:ext cx="1999427" cy="2743200"/>
          </a:xfrm>
          <a:prstGeom prst="roundRect">
            <a:avLst>
              <a:gd name="adj" fmla="val 320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97302" y="2377440"/>
            <a:ext cx="566928" cy="56692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29730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79014" y="3108960"/>
            <a:ext cx="16336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5-min response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79014" y="3794760"/>
            <a:ext cx="16336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(Fos, Rock1) and a coordinated pathway program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9881" y="2148840"/>
            <a:ext cx="1999427" cy="2743200"/>
          </a:xfrm>
          <a:prstGeom prst="roundRect">
            <a:avLst>
              <a:gd name="adj" fmla="val 320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71049" y="2377440"/>
            <a:ext cx="566928" cy="566928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7571049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52761" y="3108960"/>
            <a:ext cx="16336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Transient dynamics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52761" y="3794760"/>
            <a:ext cx="16336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suppression, ROCK1 selectivity, pulse-like return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3628" y="2148840"/>
            <a:ext cx="1999427" cy="2743200"/>
          </a:xfrm>
          <a:prstGeom prst="roundRect">
            <a:avLst>
              <a:gd name="adj" fmla="val 320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44796" y="2377440"/>
            <a:ext cx="566928" cy="566928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984479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26508" y="3108960"/>
            <a:ext cx="16336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baseline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26508" y="3794760"/>
            <a:ext cx="16336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 = −0.99 pathway mirror by 15 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Netrin-1 is classically fast, local and post-translational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 is a prototypical axon-guidance cue, steering the growth cone via DCC and UNC5 receptors.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canonical mechanism is post-translational and local — cytoskeletal remodelling, ROCK signalling, local translation.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operates on a seconds-to-minutes timescale, so the field has focused on protein-level signalling…</a:t>
            </a:r>
            <a:endParaRPr lang="en-US" sz="140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largely overlooked the nucleus on this acute timescale.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4782312" cy="4023360"/>
          </a:xfrm>
          <a:prstGeom prst="roundRect">
            <a:avLst>
              <a:gd name="adj" fmla="val 159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19202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NETRIN-1 SIGNALLING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2331720"/>
            <a:ext cx="3867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24928" y="238658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24928" y="2715768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 cue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0" y="297180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3191256"/>
            <a:ext cx="3867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24928" y="324612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 / UNC5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24928" y="357530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0" y="383133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4050792"/>
            <a:ext cx="3867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24928" y="4105656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Cytoskeleton · ROCK · local translation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24928" y="443484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0" y="4690872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4910328"/>
            <a:ext cx="386791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24928" y="4965192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Growth-cone turning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24928" y="5294376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– minutes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minute-scale transcriptional response is essentially uncharted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Netrin transcriptome studies sample hours to days — this study asks what happens in minutes.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0545775" cy="0"/>
          </a:xfrm>
          <a:prstGeom prst="line">
            <a:avLst/>
          </a:prstGeom>
          <a:noFill/>
          <a:ln w="3175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2706624"/>
            <a:ext cx="164592" cy="16459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" y="2935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6548" y="2706624"/>
            <a:ext cx="164592" cy="16459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0" name="Text 8"/>
          <p:cNvSpPr/>
          <p:nvPr/>
        </p:nvSpPr>
        <p:spPr>
          <a:xfrm>
            <a:off x="1778764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78764" y="2935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12957" y="2706624"/>
            <a:ext cx="164592" cy="16459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255173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55173" y="2935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9400" y="2706624"/>
            <a:ext cx="164592" cy="164592"/>
          </a:xfrm>
          <a:prstGeom prst="ellipse">
            <a:avLst/>
          </a:prstGeom>
          <a:solidFill>
            <a:srgbClr val="9AA1AE"/>
          </a:solidFill>
          <a:ln/>
        </p:spPr>
      </p:sp>
      <p:sp>
        <p:nvSpPr>
          <p:cNvPr id="16" name="Text 14"/>
          <p:cNvSpPr/>
          <p:nvPr/>
        </p:nvSpPr>
        <p:spPr>
          <a:xfrm>
            <a:off x="5891616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13133" y="2706624"/>
            <a:ext cx="164592" cy="164592"/>
          </a:xfrm>
          <a:prstGeom prst="ellipse">
            <a:avLst/>
          </a:prstGeom>
          <a:solidFill>
            <a:srgbClr val="9AA1AE"/>
          </a:solidFill>
          <a:ln/>
        </p:spPr>
      </p:sp>
      <p:sp>
        <p:nvSpPr>
          <p:cNvPr id="18" name="Text 16"/>
          <p:cNvSpPr/>
          <p:nvPr/>
        </p:nvSpPr>
        <p:spPr>
          <a:xfrm>
            <a:off x="9055349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– days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4937760" cy="1783080"/>
          </a:xfrm>
          <a:prstGeom prst="roundRect">
            <a:avLst>
              <a:gd name="adj" fmla="val 3590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5 / 15 min time course — the uncharted minute-scale window.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60720" y="3840480"/>
            <a:ext cx="5882335" cy="1783080"/>
          </a:xfrm>
          <a:prstGeom prst="roundRect">
            <a:avLst>
              <a:gd name="adj" fmla="val 359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89320" y="402336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LOOKS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4343400"/>
            <a:ext cx="5425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Hours-to-days transcriptomic programs are well described; the acute nuclear response is not.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acute Netrin-1 transcriptionally visible within minutes?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sub-questions define the analysis.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84778" cy="1965960"/>
          </a:xfrm>
          <a:prstGeom prst="roundRect">
            <a:avLst>
              <a:gd name="adj" fmla="val 325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23160"/>
            <a:ext cx="274320" cy="27432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386584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detectable genes or pathways after only 5 min?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3458" y="2148840"/>
            <a:ext cx="3484778" cy="1965960"/>
          </a:xfrm>
          <a:prstGeom prst="roundRect">
            <a:avLst>
              <a:gd name="adj" fmla="val 325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9490" y="2423160"/>
            <a:ext cx="274320" cy="274320"/>
          </a:xfrm>
          <a:prstGeom prst="ellipse">
            <a:avLst/>
          </a:prstGeom>
          <a:solidFill>
            <a:srgbClr val="2A7DA3"/>
          </a:solidFill>
          <a:ln/>
        </p:spPr>
      </p:sp>
      <p:sp>
        <p:nvSpPr>
          <p:cNvPr id="11" name="Text 9"/>
          <p:cNvSpPr/>
          <p:nvPr/>
        </p:nvSpPr>
        <p:spPr>
          <a:xfrm>
            <a:off x="5011826" y="2386584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biological programs go up, and which go down?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2148840"/>
            <a:ext cx="3484778" cy="1965960"/>
          </a:xfrm>
          <a:prstGeom prst="roundRect">
            <a:avLst>
              <a:gd name="adj" fmla="val 325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4309" y="2423160"/>
            <a:ext cx="274320" cy="27432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8816645" y="2386584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2597" y="2971800"/>
            <a:ext cx="29361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response persist, or return toward baseline by 15 min?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1A2238"/>
          </a:solidFill>
          <a:ln/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61772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HYPOTHESIS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919472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Netrin-1 induces a fast, coordinated transcriptional response that is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at the single-gene level but coherent at the pathway level — switched on, then off, rather than a stable reprogramming.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acute time course: three conditions × three replicates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RNA-seq samples; each replicate is neurons from an independent animal (true biological replicate).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743200" cy="2148840"/>
          </a:xfrm>
          <a:prstGeom prst="roundRect">
            <a:avLst>
              <a:gd name="adj" fmla="val 2979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40487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770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PBS, 5 min  ·  reference / 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24248" y="2240280"/>
            <a:ext cx="2743200" cy="2148840"/>
          </a:xfrm>
          <a:prstGeom prst="roundRect">
            <a:avLst>
              <a:gd name="adj" fmla="val 2979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88840" y="240487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Netrin-1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88840" y="2770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44288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44288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75808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75808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07328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07328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99855" y="2240280"/>
            <a:ext cx="2743200" cy="2148840"/>
          </a:xfrm>
          <a:prstGeom prst="roundRect">
            <a:avLst>
              <a:gd name="adj" fmla="val 2979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64447" y="240487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Netrin-1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64447" y="2770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19895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19895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51415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51415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82935" y="320040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682935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7000"/>
            </a:avLst>
          </a:prstGeom>
          <a:solidFill>
            <a:srgbClr val="E9ED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4846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limitation (stated up front):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PBS-5min control anchors both Netrin timepoints — there is no independent PBS-15min control. This confounds the 15-vs-0 contrast, so the main results rely on 5v0 and 15v5.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reads to pathways — DE on raw counts, batch correction for visuals only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is a model term in DE; limma batch correction is used only to make plots interpretable.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589989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404872"/>
            <a:ext cx="13705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2633472"/>
            <a:ext cx="137053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DRAGEN Salmon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gene-level quant.genes.sf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38629" y="228600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49525" y="2286000"/>
            <a:ext cx="1589989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59253" y="2404872"/>
            <a:ext cx="13705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59253" y="2633472"/>
            <a:ext cx="137053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tximport with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offset → DESeq2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39514" y="228600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50410" y="2286000"/>
            <a:ext cx="1589989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60138" y="2404872"/>
            <a:ext cx="13705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60138" y="2633472"/>
            <a:ext cx="137053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32,623 → 14,161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 ·  85.6% SYMBOL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0400" y="228600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51296" y="2286000"/>
            <a:ext cx="1589989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2404872"/>
            <a:ext cx="13705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2633472"/>
            <a:ext cx="137053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replicate + timepoint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 = Vehicle)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41285" y="228600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52181" y="2286000"/>
            <a:ext cx="1589989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61909" y="2404872"/>
            <a:ext cx="13705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61909" y="2633472"/>
            <a:ext cx="137053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Wald: 5v0 · 15v0 · 15v5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LRT over 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42170" y="228600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053066" y="2286000"/>
            <a:ext cx="1589989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62794" y="2404872"/>
            <a:ext cx="13705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62794" y="2633472"/>
            <a:ext cx="1370533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gseGO(BP) + gseKEGG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Wald stat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526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counts, with replicate as a blocking term in the model. Independent filtering kept on.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9632" y="4069080"/>
            <a:ext cx="5443423" cy="1554480"/>
          </a:xfrm>
          <a:prstGeom prst="roundRect">
            <a:avLst>
              <a:gd name="adj" fmla="val 4118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28232" y="420624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28232" y="4526280"/>
            <a:ext cx="5059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limma::removeBatchEffect (batch = replicate) applied only where explicitly plotted — never feeds the DE tests.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 &amp; SIGNIFICANCE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is the dominant variance source and is modelled explicitly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~ replicate + timepoint   (reference = Vehicle).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(inter-animal) is the top variance source — PCA: replicate ≈ 52%, timepoint ≈ 34% — so it enters the model as a blocking factor.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contrasts: 5v0, 15v0, 15v5.  LRT (reduced ~ replicate) flags time-varying genes.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= padj &lt; 0.05.   STRICT = padj &lt; 0.05 &amp; |log2FC| &gt; 0.585 (FC &gt; 1.5).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943600" cy="1463040"/>
          </a:xfrm>
          <a:prstGeom prst="roundRect">
            <a:avLst>
              <a:gd name="adj" fmla="val 437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GSEA IS THE PRIMARY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acute signal is weak at the single-gene level. Aggregating thousands of ranked genes into pathways reveals the coordinated program that individual DEGs only hint 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1600200"/>
            <a:ext cx="4739335" cy="4023360"/>
          </a:xfrm>
          <a:prstGeom prst="roundRect">
            <a:avLst>
              <a:gd name="adj" fmla="val 1591"/>
            </a:avLst>
          </a:prstGeom>
          <a:solidFill>
            <a:srgbClr val="1A2238"/>
          </a:solidFill>
          <a:ln/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78040" y="178308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GSEA CONFIGURATION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0" y="219456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clusterProfiler — gseGO(BP) + gseKEGG (rno)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78040" y="2770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770632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Wald stat, descending; entrez de-duplicated (max |stat|)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33467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set 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46704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minGSSize 15 · maxGSSize 500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78040" y="39227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0" y="3922776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pvalueCutoff 0.05 · BH adjustment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78040" y="4498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4498848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0 · nPermSimple 10,000 · seed 123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78040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507492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setSize ≥ 15 · GO simplify(cutoff 0.7)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QC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size and detected genes are comparable across all nine samples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sample drives the analysis through a sequencing-depth failure.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lib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080" y="1874520"/>
            <a:ext cx="419608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5352" y="1874520"/>
            <a:ext cx="539496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figs/detec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792" y="1874520"/>
            <a:ext cx="4196080" cy="269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5902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library size  ·  mean ≈ 33.1 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45352" y="45902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genes  ·  ≈ 14,136–14,149 per sample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4983480"/>
            <a:ext cx="11094415" cy="777240"/>
          </a:xfrm>
          <a:prstGeom prst="roundRect">
            <a:avLst>
              <a:gd name="adj" fmla="val 823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4983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gene-detection are uniform — downstream differences are biological, not technical artefacts of uneven sequencing.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replicate — not treatment — is the top axis of variation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replicate enters the DE model as a blocking factor (DE still uses raw counts).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" y="1874520"/>
            <a:ext cx="341376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0" y="187452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figs/pca_bef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00646"/>
            <a:ext cx="3657600" cy="28738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correlation (VST, Pearson)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49240" y="4818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before correction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281160" y="1874520"/>
            <a:ext cx="2361895" cy="2926080"/>
          </a:xfrm>
          <a:prstGeom prst="roundRect">
            <a:avLst>
              <a:gd name="adj" fmla="val 271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464040" y="2103120"/>
            <a:ext cx="1996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≈52%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9464040" y="2852928"/>
            <a:ext cx="1996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variance from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replicate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464040" y="3291840"/>
            <a:ext cx="1996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≈34%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9464040" y="4041648"/>
            <a:ext cx="1996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from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timepoint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464040" y="4343400"/>
            <a:ext cx="1996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0.995–0.999 between samples; R3_T5 mildly off but retained.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are exploratory visualisation only; differential testing uses raw counts.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AFTER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replicate effects reveals the expected timepoint axis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correction is used here only to make the time structure visible — it does not prove the effect.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0350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pca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342" y="1874520"/>
            <a:ext cx="4987636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201168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correction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49440" y="2514600"/>
            <a:ext cx="46936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now separates the samples by 0 / 5 / 15 min, as expected for a treatment time course.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— but does not replace — the replicate-adjusted DE model.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biological comparisons remain 5v0 (clean Netrin effect) and 15v5 (clean time evolution).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Neuron-dominant cultures, stable across all three conditions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downstream changes reflect a genuine transcriptional response, not a shift in cell-type proportions.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ma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83080"/>
            <a:ext cx="3931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2194560"/>
            <a:ext cx="5059375" cy="1371600"/>
          </a:xfrm>
          <a:prstGeom prst="roundRect">
            <a:avLst>
              <a:gd name="adj" fmla="val 4667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233172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READOUT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65176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Pan-neuronal markers (Tubb3 ≈3900, Stmn2 ≈1540, Map2 ≈750 TPM) sit 2–4 orders of magnitude above glial / endothelial markers (Vwf, Flt1 ≈ 0.1).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0" y="3794760"/>
            <a:ext cx="5059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expression is near-identical across Vehicle / 5 min / 15 min.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does not change — the acute signal is transcriptional, not compositional.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at the gene level, coordinated at the pathway level — and acute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DEG count is not a weak result when pathway ranks are coherent across thousands of genes.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42032" cy="1188720"/>
          </a:xfrm>
          <a:prstGeom prst="roundRect">
            <a:avLst>
              <a:gd name="adj" fmla="val 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2140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RELAXED DEGs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9434" y="2011680"/>
            <a:ext cx="2542032" cy="1188720"/>
          </a:xfrm>
          <a:prstGeom prst="roundRect">
            <a:avLst>
              <a:gd name="adj" fmla="val 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9434" y="212140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99434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STRICT DEGs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0229" y="2011680"/>
            <a:ext cx="2542032" cy="1188720"/>
          </a:xfrm>
          <a:prstGeom prst="roundRect">
            <a:avLst>
              <a:gd name="adj" fmla="val 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0229" y="212140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50229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GO BP terms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01023" y="2011680"/>
            <a:ext cx="2542032" cy="1188720"/>
          </a:xfrm>
          <a:prstGeom prst="roundRect">
            <a:avLst>
              <a:gd name="adj" fmla="val 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01023" y="212140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01023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KEGG pathways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SIGNAL SITS IN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48477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087368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5v0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7240" y="46634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 effect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DEGs · 313 GO BP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53458" y="3886200"/>
            <a:ext cx="348477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82058" y="4087368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1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15v0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82058" y="46634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time-confounded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82058" y="498348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DEG · 0 GO BP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82058" y="53035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baseline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58277" y="3886200"/>
            <a:ext cx="348477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86877" y="4087368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D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15v5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386877" y="46634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86877" y="498348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DEGs · 295 GO BP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86877" y="53035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reversal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DEGS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5-minute response is real but focused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large switches; most effects are modest — exactly the profile that motivates pathway-level analysis.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1264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volc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217" y="1783080"/>
            <a:ext cx="5055326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95160" y="219456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5-vs-0:  32 RELAXED DEGs (14↑ / 18↓);  5 STRICT (2↑ / 3↓).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is the standout — log2FC −2.35, padj 2.4e-3 — strongly down.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effect sizes are small, consistent with a fast, subtle, pathway-level signal…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…which motivates the GSEA analysis that follows.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DEGS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5-minute DEGs map onto coherent biological modules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modest log2FC values are highly significant because baseline expression is robust.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737360"/>
                <a:gridCol w="1828800"/>
                <a:gridCol w="4142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log2FC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2.4e-3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Immediate-early gene  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9.4e-6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Cytoskeleton / ROCK  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Srsf5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4.5e-5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Splicing  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Snrnp70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Splicing  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Cntn2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1.4e-2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Axon guidance  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3.5e-2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NO–calcium  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Ryr3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2.4e-2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NO–calcium  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i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Tln2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Adhesion  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at 5 min:</a:t>
            </a:r>
            <a:pPr algn="l" indent="0" marL="0"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IEG · cytoskeleton · splicing      </a:t>
            </a:r>
            <a:pPr algn="l" indent="0" marL="0">
              <a:buNone/>
            </a:pPr>
            <a:r>
              <a:rPr lang="en-US" sz="13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at 5 min:</a:t>
            </a:r>
            <a:pPr algn="l" indent="0" marL="0"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axon guidance · NO–calcium · adhesion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is a transient 5-minute pulse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LRT finds 19 genes changing over time; the dominant shape departs at 5 min and returns by 15.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742" y="1783080"/>
            <a:ext cx="5719156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2103120"/>
            <a:ext cx="4465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pattern: deviate from baseline at 5 min, then return toward it by 15 min.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direct evidence the program is transient, not sustained.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78040" y="3657600"/>
            <a:ext cx="4465015" cy="1737360"/>
          </a:xfrm>
          <a:prstGeom prst="roundRect">
            <a:avLst>
              <a:gd name="adj" fmla="val 368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79208" y="3794760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(SHOWN HONESTLY)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79208" y="4114800"/>
            <a:ext cx="40626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overshoots baseline at 15 min, and its Vehicle replicates are variable — a wide error band. Interpreted cautiously.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surprise: two immediate-early genes are suppressed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77240"/>
          </a:xfrm>
          <a:prstGeom prst="roundRect">
            <a:avLst>
              <a:gd name="adj" fmla="val 8235"/>
            </a:avLst>
          </a:prstGeom>
          <a:solidFill>
            <a:srgbClr val="1A2238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Immediate-early genes are normally activated by neuronal activity. Here, acute Netrin-1 does the opposite — it acutely represses them.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64328" cy="2377440"/>
          </a:xfrm>
          <a:prstGeom prst="roundRect">
            <a:avLst>
              <a:gd name="adj" fmla="val 2692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260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D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 </a:t>
            </a:r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log2FC −2.35  ·  padj 2.4e-3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DEG of the whole study — strong, significant acute repression.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697480"/>
            <a:ext cx="5364328" cy="2377440"/>
          </a:xfrm>
          <a:prstGeom prst="roundRect">
            <a:avLst>
              <a:gd name="adj" fmla="val 2692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3048" y="29260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D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 </a:t>
            </a:r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Npas4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53048" y="35661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log2FC −1.75  ·  padj 0.076 (Wald, n.s.)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3048" y="40233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by the time-course LRT — a second acutely-repressed IEG.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Fos + Npas4 constitute an acute dual-IEG suppression — a novel observation for a guidance cue.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 control: Rock1 down, Rock2 untouched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paralogues, opposite fates within one cell — regulation is precise, not blunt.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r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742" y="1783080"/>
            <a:ext cx="5719156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78040" y="2103120"/>
            <a:ext cx="4465015" cy="1417320"/>
          </a:xfrm>
          <a:prstGeom prst="roundRect">
            <a:avLst>
              <a:gd name="adj" fmla="val 451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06640" y="2286000"/>
            <a:ext cx="400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Rock1  </a:t>
            </a:r>
            <a:pPr indent="0" marL="0">
              <a:buNone/>
            </a:pPr>
            <a:r>
              <a:rPr lang="en-US" sz="1400" b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log2FC −0.43 · padj 9.4e-6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6640" y="2852928"/>
            <a:ext cx="4007815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2926080"/>
            <a:ext cx="400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Rock2  </a:t>
            </a:r>
            <a:pPr indent="0" marL="0">
              <a:buNone/>
            </a:pPr>
            <a:r>
              <a:rPr lang="en-US" sz="14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log2FC +0.07 · padj 0.999  (unchanged)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78040" y="3703320"/>
            <a:ext cx="4465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ROCK1 is a classic downstream effector of Netrin–DCC signalling.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Netrin exerts isoform-selective transcriptional control.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matrix level, the 5-minute state is a distinct, coherent program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up- and down-blocks separate the Netrin-5min condition — not scattered noise.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325" y="1783080"/>
            <a:ext cx="3700631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2194560"/>
            <a:ext cx="6156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the 32 5-vs-0 DEGs across all nine samples (batch-corrected for visualisation only).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up- and down-regulated blocks distinguish the 5-minute condition.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consistent within replicates after batch handling.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5-minute state is a distinct, coherent program rather than a few noisy genes.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PATHWAYS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GSEA reveals a coordinated genome-wide program at 5 min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evidence is coherent ranking across hundreds of biological processes.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0350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gobp5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1783080"/>
            <a:ext cx="49149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205740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significant GO BP terms  </a:t>
            </a:r>
            <a:pPr indent="0" marL="0">
              <a:buNone/>
            </a:pPr>
            <a:r>
              <a:rPr lang="en-US" sz="16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(285↑ / 28↓)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2697480"/>
            <a:ext cx="4693615" cy="1234440"/>
          </a:xfrm>
          <a:prstGeom prst="roundRect">
            <a:avLst>
              <a:gd name="adj" fmla="val 5185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50608" y="281635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Activated  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50608" y="3090672"/>
            <a:ext cx="42912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guidance · neuron projection · synapse assembly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4069080"/>
            <a:ext cx="4693615" cy="1234440"/>
          </a:xfrm>
          <a:prstGeom prst="roundRect">
            <a:avLst>
              <a:gd name="adj" fmla="val 5185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50608" y="418795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Suppressed  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50608" y="4462272"/>
            <a:ext cx="42912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splicing / processing · ribosome biogenesis · translation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PATHWAYS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 guidance is the top KEGG pathway in the acute response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Netrin's canonical protein-level function is mirrored at the transcriptional level — within 5 min.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kegg5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" y="1783080"/>
            <a:ext cx="65532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2148840"/>
            <a:ext cx="4007815" cy="1691640"/>
          </a:xfrm>
          <a:prstGeom prst="roundRect">
            <a:avLst>
              <a:gd name="adj" fmla="val 3784"/>
            </a:avLst>
          </a:prstGeom>
          <a:solidFill>
            <a:srgbClr val="1A2238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228600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KEGG SIGNAL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578608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 guidance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863840" y="310896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 2.16    </a:t>
            </a:r>
            <a:pPr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p = 4.1e-7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35240" y="3977640"/>
            <a:ext cx="4007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significant KEGG pathways; includes the parallel ephrin guidance system.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runs in parallel with the classic post-translational mechanism — not merely after it.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5-minute response is bidirectional, not a generic activation signature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Guidance-related programs rise while RNA-processing and biosynthetic machinery fall.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4328" cy="3520440"/>
          </a:xfrm>
          <a:prstGeom prst="roundRect">
            <a:avLst>
              <a:gd name="adj" fmla="val 1818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 </a:t>
            </a:r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at 5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24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 projection guidance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guidance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assembly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adhesion / IgSF CAM signalling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NO–calcium signalling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11680"/>
            <a:ext cx="5364328" cy="3520440"/>
          </a:xfrm>
          <a:prstGeom prst="roundRect">
            <a:avLst>
              <a:gd name="adj" fmla="val 1818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24028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D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 </a:t>
            </a:r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 at 5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98768" y="2880360"/>
            <a:ext cx="4724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processing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splicing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biogenesis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Translation-related programs</a:t>
            </a:r>
            <a:endParaRPr lang="en-US" sz="14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Immediate-early genes (Fos, Npas4)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RETURN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15 min the 5-minute program is directionally flipped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15-vs-5 contrast asks whether the acute state is actively reversed — it 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0350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gobp15v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1783080"/>
            <a:ext cx="49149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205740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D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</a:t>
            </a:r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significant GO BP terms  </a:t>
            </a:r>
            <a:pPr indent="0" marL="0">
              <a:buNone/>
            </a:pPr>
            <a:r>
              <a:rPr lang="en-US" sz="16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(31↑ / 264↓)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49440" y="2651760"/>
            <a:ext cx="46936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flipped versus 5v0: axon-guidance terms now fall, biosynthesis terms recover.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15v0 GO BP: 0 significant terms — by 15 min the transcriptome is back at baseline.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switched on at 5 min and off by 15.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RETURN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signature result: a near-perfect r = −0.99 mirror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figs/mi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028" y="1600200"/>
            <a:ext cx="468058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828800"/>
            <a:ext cx="4419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−0.99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223760" y="269748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5v0 vs 15v5 pathway NES correlation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0" y="3246120"/>
            <a:ext cx="4419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603 pathways shared between 5v0 and 15v5.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enrichment scores are near-perfect opposites.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pathway activated at 5 min is suppressed by almost exactly the same amount from 5→15 min.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proof the 5-minute program is precisely undone — a true transient.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RETURN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late, secondary signal: mitochondrial OXPHOS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 min a mild up-regulation of OXPHOS / NADH-dehydrogenase genes emerges, after the main program.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figs/kegg15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1783080"/>
            <a:ext cx="670560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874520"/>
            <a:ext cx="4007815" cy="2926080"/>
          </a:xfrm>
          <a:prstGeom prst="roundRect">
            <a:avLst>
              <a:gd name="adj" fmla="val 2188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201168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CAVEAT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33172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labels these as 'Prion / Huntington / Parkinson' disease pathways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those share the same mitochondrial genes.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3429000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OXPHOS up-regulation</a:t>
            </a:r>
            <a:pPr indent="0" marL="0">
              <a:buNone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disease biology.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63840" y="406908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BP: 0 significant terms · KEGG: 6, OXPHOS-led.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983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KEGG vs Vehicle — disease names index shared mitochondrial / OXPHOS genes.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result layers converge on one transient program</a:t>
            </a:r>
            <a:endParaRPr lang="en-US" sz="2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  <a:gridCol w="2011680"/>
                <a:gridCol w="36850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15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Axon guidance / projection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5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BP · KEGG · Cntn2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 processing / splicing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7D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Srsf5 · Snrnp70 · GO 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Ribosome / translation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7D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GSEA · 15v5 mirror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Immediate-early genes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7D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 · Npas4 (LRT)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Cytoskeleton / ROCK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7D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Rock1 (Rock2 n.s.)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NO–calcium / adhesion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5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Nos1 · Ryr3 · Tln2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Mitochondria / OXPHOS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1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flat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15v0 / 15v5 KEGG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212080"/>
            <a:ext cx="3490874" cy="777240"/>
          </a:xfrm>
          <a:prstGeom prst="roundRect">
            <a:avLst>
              <a:gd name="adj" fmla="val 823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5330952"/>
            <a:ext cx="3271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5559552"/>
            <a:ext cx="32714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39514" y="52120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50410" y="5212080"/>
            <a:ext cx="3490874" cy="777240"/>
          </a:xfrm>
          <a:prstGeom prst="roundRect">
            <a:avLst>
              <a:gd name="adj" fmla="val 8235"/>
            </a:avLst>
          </a:prstGeom>
          <a:solidFill>
            <a:srgbClr val="FBEB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60138" y="5330952"/>
            <a:ext cx="3271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PULSE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5559552"/>
            <a:ext cx="32714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/ projection ▲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biosynthesis &amp; IEGs ▼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41285" y="5212080"/>
            <a:ext cx="310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152181" y="5212080"/>
            <a:ext cx="3490874" cy="777240"/>
          </a:xfrm>
          <a:prstGeom prst="roundRect">
            <a:avLst>
              <a:gd name="adj" fmla="val 8235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61909" y="5330952"/>
            <a:ext cx="3271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61909" y="5559552"/>
            <a:ext cx="32714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— 15v5 mirrors 5v0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baseline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take-home messages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68096"/>
          </a:xfrm>
          <a:prstGeom prst="roundRect">
            <a:avLst>
              <a:gd name="adj" fmla="val 8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IEG suppression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783080"/>
            <a:ext cx="65681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and Npas4 are both acutely down-regulated — opposite to the canonical activity-induced behaviour of IEGs. A novel observation.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94415" cy="768096"/>
          </a:xfrm>
          <a:prstGeom prst="roundRect">
            <a:avLst>
              <a:gd name="adj" fmla="val 8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24912"/>
            <a:ext cx="457200" cy="457200"/>
          </a:xfrm>
          <a:prstGeom prst="ellipse">
            <a:avLst/>
          </a:prstGeom>
          <a:solidFill>
            <a:srgbClr val="2A7DA3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66090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Coordinated biosynthesis shutdown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660904"/>
            <a:ext cx="65681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+ ribosome biogenesis + translation are transiently suppressed together — possibly reallocating resources toward local translation.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11094415" cy="768096"/>
          </a:xfrm>
          <a:prstGeom prst="roundRect">
            <a:avLst>
              <a:gd name="adj" fmla="val 8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02736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53872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program — transcriptional arm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538728"/>
            <a:ext cx="65681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guidance is induced at the mRNA level within minutes, running in parallel with Netrin's classic post-translational mechanism.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25112"/>
            <a:ext cx="11094415" cy="768096"/>
          </a:xfrm>
          <a:prstGeom prst="roundRect">
            <a:avLst>
              <a:gd name="adj" fmla="val 8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−0.99 transient reversal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4416552"/>
            <a:ext cx="65681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near-perfect mirror: the 5-min program is precisely undone by 15 min. The study's strongest quantitative result.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02936"/>
            <a:ext cx="11094415" cy="768096"/>
          </a:xfrm>
          <a:prstGeom prst="roundRect">
            <a:avLst>
              <a:gd name="adj" fmla="val 8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358384"/>
            <a:ext cx="457200" cy="457200"/>
          </a:xfrm>
          <a:prstGeom prst="ellipse">
            <a:avLst/>
          </a:prstGeom>
          <a:solidFill>
            <a:srgbClr val="2A7DA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529437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ROCK1-selective control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46320" y="5294376"/>
            <a:ext cx="65681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Rock1 down, Rock2 unchanged — isoform-specific regulation of a canonical Netrin–DCC effector.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conclusions are pathway-level and temporal — with clear design boundaries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3749040"/>
          </a:xfrm>
          <a:prstGeom prst="roundRect">
            <a:avLst>
              <a:gd name="adj" fmla="val 170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8424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READ HONESTLY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3, and the acute signal is weak — GSEA / pathway level is the primary analysis.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PBS-15min control — 15v0 confounds treatment with time; main results use 5v0 &amp; 15v5.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timepoints — dynamics from LRT + trend classification, not dense time-series modelling.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shows high Vehicle-replicate variability — wide error band.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RNA-seq, not single-cell — markers reflect overall expression, not cell-type proportions.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783080"/>
            <a:ext cx="5364328" cy="3749040"/>
          </a:xfrm>
          <a:prstGeom prst="roundRect">
            <a:avLst>
              <a:gd name="adj" fmla="val 1707"/>
            </a:avLst>
          </a:prstGeom>
          <a:solidFill>
            <a:srgbClr val="E7F0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98424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A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EXPERIMENTS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3048" y="2350008"/>
            <a:ext cx="4815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time course (0/2/5/10/15/30 min) to map the full pulse shape, with per-timepoint controls.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DCC / UNC5 (blockade or knockdown) to test receptor-dependence of the pulse.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ROCK1 protein, phospho-signalling and cytoskeletal readouts after acute stimulation.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/ sorted-neuron validation to localise the response within culture heterogeneity.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transient transcriptional swing to local translation at the growth cone.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Netrin-1 RNA-seq  ·  cortical neurons  ·  0 / 5 / 15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Netrin-1 triggers a rapid, coordinated and 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0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transient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transcriptional program in cortical neurons — reversed to baseline with r = −0.99 precision within 15 minutes.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Netrin-1's minute-scale transcriptional response.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runs in parallel with the classic post-translational mechanism.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findings: dual-IEG suppression (Fos + Npas4) and ROCK1-selective regulation.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 = −0.99 mirror defines a precisely-controlled transient — not reprogramming.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11094415" cy="0"/>
          </a:xfrm>
          <a:prstGeom prst="line">
            <a:avLst/>
          </a:prstGeom>
          <a:noFill/>
          <a:ln w="19050">
            <a:solidFill>
              <a:srgbClr val="273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257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Netrin-1 pulse switches a coordinated transcriptional program ON — then OFF again by 15 min, with r = −0.99 precision.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Acute Netrin-1 triggers a transient transcriptional program</dc:title>
  <dc:subject>PptxGenJS Presentation</dc:subject>
  <dc:creator>Acute Netrin-1 RNA-seq</dc:creator>
  <cp:lastModifiedBy>Acute Netrin-1 RNA-seq</cp:lastModifiedBy>
  <cp:revision>1</cp:revision>
  <dcterms:created xsi:type="dcterms:W3CDTF">2026-06-16T16:44:35Z</dcterms:created>
  <dcterms:modified xsi:type="dcterms:W3CDTF">2026-06-16T16:44:35Z</dcterms:modified>
</cp:coreProperties>
</file>