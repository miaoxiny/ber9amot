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5" d="100"/>
          <a:sy n="85" d="100"/>
        </p:scale>
        <p:origin x="147"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5720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a:t>
            </a:r>
          </a:p>
          <a:p>
            <a:r>
              <a:t>Good morning, and thank you for being here. My thesis asks a simple but under-explored question: when a neuron meets Netrin-1 — the classic axon-guidance cue — what happens to its transcriptome in the first MINUTES? Using a 5- and 15-minute bulk RNA-seq time course in E18 rat cortical neurons, I show that Netrin-1 triggers a rapid, coordinated and almost perfectly REVERSIBLE transcriptional program. Let me walk you through 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 min. Here is the roadmap. I'll spend the first third on context and methods, the middle on four blocks of results, and close with discussion and limitations. If you remember one thing, remember the box on the right: a transient program that is switched on and then precisely switched off within 15 minutes.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Start with what we know. Netrin-1 is THE textbook guidance cue. It binds DCC and UNC5 and steers the growth cone. Crucially, its classic mechanism is post-translational and local — cytoskeletal remodeling and local translation, on a seconds-to-minutes scale. Because the action is at the protein level and right at the growth cone, the field has paid little attention to what the NUCLEUS is doing on this same fast timescale. That is the door this thesis walks through.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Here's the gap, on a timeline. Almost every transcriptomic study of Netrin samples HOURS to DAYS out — the right-hand side. The minute-scale window — 5 and 15 minutes — is essentially blank. So three open questions: Does the transcriptome change at all within minutes? If so, how — which programs? And critically, is that change transient, or does it lock in a sustained reprogramming? Those questions define the thesis.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Stated plainly: does acute Netrin-1 rapidly reshape the transcriptome, and is the response transient or persistent? My hypothesis — fast, coordinated, and TRANSIENT. The approach, on the right: a 0/5/15-minute bulk RNA-seq time course, gene-level DE with DESeq2, and pathway-level GSEA. The key test of reversibility is comparing the 5-vs-0 contrast against the 15-vs-5 contrast — if the program reverses, those two should be mirror images. Hold that thought; it pays off at the end.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The design: E18 rat cortical primary cultures, three conditions — vehicle, 5-minute Netrin, 15-minute Netrin — three biological replicates, nine samples. I want to flag a limitation immediately, because it shapes how I read the data: there is ONE shared PBS control, taken at 5 minutes, serving both Netrin timepoints. There is no independent 15-minute vehicle. That confounds the 15-vs-0 comparison with elapsed time, so my main results lean on the two clean contrasts: 5-vs-0 and 15-vs-5. I'll be explicit whenever this matters.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The pipeline in five steps. Quantification with DRAGEN Salmon at gene level; import into DESeq2 through tximport with a length offset. Two-pass filtering takes us from ~32,600 to ~14,200 genes, about 86% of which map to a gene symbol. Differential expression, GSEA, and finally an integration step where I directly compare the 5-vs-0 and 15-vs-5 contrasts. One technical but important point: I correct for batch ONLY for visualization. The statistical tests always run on raw counts with the batch term in the model — I never test on adjusted data.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Two methodological pillars. On the left, differential expression: the model is replicate plus timepoint. Replicate genuinely dominates — about 52% of variance versus 34% for timepoint — so treating it as a batch term is essential. I report two significance tiers, a relaxed FDR-only cut and a strict cut that also requires a 1.5-fold change. On the right, GSEA, ranked by the Wald statistic. The key conceptual point is at the bottom: the acute signal is weak gene-by-gene, so GSEA — which aggregates across whole pathways — is where the biology becomes visible. That's why my main analysis is at the pathway level.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First QC question: what are we even sequencing, and is it stable? Pan-neuronal markers — Tubb3, Stmn2, Map2 — sit at hundreds to thousands of TPM, two to four orders of magnitude above glial and endothelial markers. So these are neuron-dominated cultures. Just as important: the marker profile is essentially identical across vehicle, 5-minute, and 15-minute conditions. Five or fifteen minutes is far too short to change cell composition — and the data confirm it. That lets me attribute everything downstream to a real transcriptional response, not to cells appearing or disappearing.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Second QC point, and it's about honesty with the data. The single largest source of variation is not the treatment — it's the biological replicate, about 52% versus 34% for timepoint. If you ignore that, the treatment effect drowns. So replicate goes into the model as a batch term. This PCA is shown AFTER correcting for replicate, for visualization, and now PC1 lines up with the timepoint axis — 0, 5, and 15 minutes separate. Again: I correct only for the picture; the statistics run on raw counts with the batch term.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Now results. This is the 5-versus-0 volcano. At a relaxed FDR cut there are 32 differentially expressed genes — 14 up, 18 down; at a strict cut that also demands a 1.5-fold change, just five survive. The clear outlier, far to the left, is Fos: down more than fourfold. I'll come back to Fos because its DIRECTION is surprising. The headline here is that the response is real but small at the single-gene level — most points are modest. That's exactly why, two slides from now, I move to pathway-level GSEA, where many small coordinated changes add up to a clear signal.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Zooming into those genes — and this is the key transition from 'genes' to 'biology'. Look at the modules in the right column. The DOWN genes are not random: Fos, an immediate-early gene; Rock1, cytoskeleton; Srsf5 and Snrnp70, both splicing factors. The UP genes are equally coherent: Cntn2, axon guidance; Nos1 and Ryr3, nitric-oxide/calcium; Tln2, adhesion. Individually these effects are small, but they sort into clean, interpretable modules — exactly what you'd expect from a coordinated program, and a preview of what GSEA will confirm at genome scale.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Result two answers the transient-versus-sustained question. A likelihood-ratio test flags 19 genes that change significantly across the three timepoints, and the dominant trajectory shape is a PULSE: they move away from baseline at 5 minutes and come back by 15. This is the first direct evidence that the program is transient. I'll show you the genome-wide version of this in a moment. One honest caveat: Fos doesn't just return — at 15 minutes it overshoots baseline, and its vehicle replicates are noisy, so its error band is wide. I flag that rather than hide 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This slide is one of the most interesting findings. Immediate-early genes like Fos and Npas4 are the textbook markers of neuronal ACTIVATION — they go UP within minutes of activity. Here, acute Netrin does the opposite: it acutely SUPPRESSES them. Fos is down more than fourfold and is the single strongest DEG in the study. Npas4 is down about 3.4-fold; it misses the per-contrast significance cut but is picked up by the time-course LRT. So we have two independent immediate-early genes being acutely repressed. That's a genuinely novel and slightly counterintuitive observation — I'll return to what it might mean in the discussion.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Here's a nice illustration of precision. ROCK kinases come in two paralogues, Rock1 and Rock2. Netrin selectively knocks down Rock1 — highly significant, padj around 1e-5 — while Rock2 doesn't move at all. Same cell, same family, opposite outcomes. And it's not arbitrary: ROCK1 is a canonical downstream effector of Netrin–DCC signaling, so its selective transcriptional suppression dovetails with the known protein-level biology. The takeaway is that this acute program is SELECTIVE — Netrin is reaching in and tuning specific isoforms, not broadly shaking the transcriptome.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 min. A quick consolidating view: the DEGs from the 5-versus-0 contrast, drawn as a heatmap across all nine samples. You can see coherent blocks — a set going up and a set going down — that together mark out the 5-minute Netrin state. The point of this slide is simply that the 5-minute response holds together as a structured pattern across the whole expression matrix, not as a handful of isolated genes. With the gene-level story established, let's go to the pathway level.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This is where it all comes together. At the pathway level the 5-minute response is unmistakable — 313 significant GO biological-process terms. Two coherent arms. ACTIVATED: axon guidance, neuron projection, synapse assembly — Netrin's own functional territory, now visible at the transcriptional level within minutes. SUPPRESSED: RNA splicing and processing, and ribosome biogenesis and translation — the cell's general biosynthetic machinery. The same modules I showed gene-by-gene now appear as a genome-wide, coordinated push-pull. This is the core result of the thesis.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The KEGG view sharpens the headline. Of 14 significant pathways, axon guidance ranks first — and it brings along the parallel ephrin guidance system. Think about what that means: Netrin's classic job is to steer growth cones through fast protein-level signaling. Here we see the SAME guidance program switched on transcriptionally within five minutes. So transcription isn't a slow afterthought that happens hours later — it runs in parallel with the canonical mechanism, reinforcing the very program Netrin is known for.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Result four closes the loop. Look at the 15-versus-5 contrast: 295 significant terms, but now the SIGN is reversed. The axon-guidance terms that went up at 5 minutes are going down; the biosynthesis terms that were suppressed are recovering. And the clincher: the 15-versus-0 contrast has ZERO significant GO terms. In other words, by 15 minutes the transcriptome is statistically indistinguishable from baseline. The program is switched on at 5 minutes and switched off by 15. Now let me quantify just how precise that reversal is.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~2 min. This is the slide I'd ask you to remember. I took the 603 pathways shared between the 5-versus-0 and 15-versus-5 contrasts and plotted their enrichment scores against each other. The correlation is minus 0.99 — a near-perfect anti-correlation. Concretely: every pathway that goes up in the first five minutes comes back down over the next ten by almost exactly the same magnitude. This is the quantitative backbone of the whole thesis. It tells us the 5-minute response isn't just fading randomly — it is being PRECISELY REVERSED. That is the definition of a transient, tightly-controlled program, and it's the study's strongest single piece of evidence.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 min. One secondary observation, with a necessary caveat. At 15 minutes a mild up-regulation of mitochondrial oxidative-phosphorylation genes appears — a later, smaller signal layered on top of the main reversal, perhaps an energetic response. The caveat: KEGG annotates these genes under disease names — Prion, Huntington, Parkinson — but that is an annotation artifact. Those 'disease' pathways are built from the same mitochondrial OXPHOS genes. The correct biological reading is OXPHOS up-regulation, full stop, not anything about neurodegenerative disease. I make a point of stating that so the result isn't over-interpreted.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Here's the whole study on one table. Read the middle two columns as the story: at 5 minutes, guidance, projection, synapse assembly, NO-calcium and adhesion go UP; splicing, ribosome biogenesis, IEGs and ROCK go DOWN. The third column shows every one of those returning toward baseline by 15 minutes — recover, rebound, fall back. The only thing that's a LATE riser rather than a reverser is mitochondrial OXPHOS. And the right column shows each module is supported by multiple independent lines of evidence — DEGs, GSEA, the LRT, and the mirror. That convergence is what gives me confidence in the model.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Here is the model in one picture. Baseline at zero. At five minutes a coordinated swing — guidance, projection, synapse, NO-calcium and adhesion up; splicing, ribosome biogenesis, translation, IEGs and ROCK1 down. Then, over the next ten minutes, that entire swing is reversed with r = minus 0.99 precision, back to baseline. A transient program — switched on, then switched off — with mitochondrial OXPHOS as the one signal that lingers and even rises late. This is the graphical abstract of the thesis.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~2.5 min. Five take-homes. One — dual IEG suppression: both Fos and Npas4 go down, the opposite of how IEGs usually behave; that's novel and mechanistically intriguing. Two — a coordinated transient shutdown of biosynthesis: splicing, ribosome biogenesis and translation all dip together, which may reflect resource reallocation toward local translation at the growth cone. Three — the guidance program has a fast transcriptional arm that parallels the classic protein-level mechanism. Four — the minus-0.99 mirror, the quantitative heart of the work. Five — ROCK1-selective control, showing the precision of the response. Each of these is a thread worth pulling in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I want to be candid about limitations — they shaped my analytical choices. With n=3 and a weak acute signal, most single-gene effects are small, which is exactly why GSEA is my primary analysis rather than gene-by-gene claims. There's no independent 15-minute vehicle, so I avoid leaning on the 15-vs-0 contrast. With only three timepoints I use an LRT and trend classification rather than dense time-series modeling. Fos's vehicle replicates are variable, so I read its trajectory cautiously. And this is bulk data, so my marker statements are about expression, not cell-type proportions. None of these undercut the central transient-reversal result, but they bound its interpretation.</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~1.5 min. To conclude. This is, to my knowledge, the first characterization of Netrin-1's transcriptional response on a minute timescale. The headline: a rapid, coordinated, transient program — guidance up, biosynthesis down — reversed to baseline with r = minus 0.99 precision within 15 minutes. Three contributions worth restating: transcription runs in parallel with the classic protein-level mechanism, not after it; we find two genuinely novel features — dual-IEG suppression and ROCK1-selective control; and the mirror result reframes the acute response as a precisely-controlled transient rather than a lasting reprogramming.</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 min. Where next. First, a denser time course with proper per-timepoint controls to resolve the full shape of the pulse. Second, single-cell or spatial RNA-seq to see which neurons and which compartments drive the signal. Third, the mechanism behind dual-IEG suppression — what's actively repressing Fos and Npas4 in minutes? Fourth, connecting this transcriptional swing to local translation at the growth cone. And fifth, perturbation experiments to test DCC/UNC5 dependence and the ROCK1 selectivity directly. Any of these would build naturally on the foundation here.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~0.5 min + Q&amp;A. Thank you — I'm happy to take questions. If you forget everything else: a five-minute Netrin pulse switches a coordinated transcriptional program on, then off again by fifteen minutes, with r = minus 0.99 precision. Likely questions to be ready for: why are IEGs going DOWN; how robust is the mirror given n=3; the shared-control limitation; and whether bulk masks subtype-specific effects.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160520"/>
            <a:ext cx="12191695" cy="381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F0000"/>
              </a:solidFill>
            </a:endParaRPr>
          </a:p>
        </p:txBody>
      </p:sp>
      <p:sp>
        <p:nvSpPr>
          <p:cNvPr id="6" name="TextBox 5"/>
          <p:cNvSpPr txBox="1"/>
          <p:nvPr/>
        </p:nvSpPr>
        <p:spPr>
          <a:xfrm>
            <a:off x="804672" y="1783080"/>
            <a:ext cx="10698480" cy="1352165"/>
          </a:xfrm>
          <a:prstGeom prst="rect">
            <a:avLst/>
          </a:prstGeom>
          <a:noFill/>
        </p:spPr>
        <p:txBody>
          <a:bodyPr wrap="square" anchor="t">
            <a:spAutoFit/>
          </a:bodyPr>
          <a:lstStyle/>
          <a:p>
            <a:pPr algn="ctr">
              <a:lnSpc>
                <a:spcPct val="102000"/>
              </a:lnSpc>
              <a:spcBef>
                <a:spcPts val="0"/>
              </a:spcBef>
              <a:spcAft>
                <a:spcPts val="200"/>
              </a:spcAft>
            </a:pPr>
            <a:r>
              <a:rPr lang="en-US" sz="4000" b="1" i="0" dirty="0" err="1">
                <a:solidFill>
                  <a:srgbClr val="FFFFFF"/>
                </a:solidFill>
                <a:latin typeface="Calibri"/>
              </a:rPr>
              <a:t>RNAseq</a:t>
            </a:r>
            <a:r>
              <a:rPr lang="en-US" sz="4000" b="1" i="0" dirty="0">
                <a:solidFill>
                  <a:srgbClr val="FFFFFF"/>
                </a:solidFill>
                <a:latin typeface="Calibri"/>
              </a:rPr>
              <a:t> analysis in </a:t>
            </a:r>
            <a:r>
              <a:rPr lang="en-US" sz="4000" b="1" dirty="0">
                <a:solidFill>
                  <a:srgbClr val="6FC2C8"/>
                </a:solidFill>
                <a:latin typeface="Calibri"/>
              </a:rPr>
              <a:t>N</a:t>
            </a:r>
            <a:r>
              <a:rPr sz="4000" b="1" i="0" dirty="0">
                <a:solidFill>
                  <a:srgbClr val="6FC2C8"/>
                </a:solidFill>
                <a:latin typeface="Calibri"/>
              </a:rPr>
              <a:t>etrin-1 </a:t>
            </a:r>
            <a:r>
              <a:rPr lang="en-US" sz="4000" b="1" i="0" dirty="0">
                <a:solidFill>
                  <a:srgbClr val="6FC2C8"/>
                </a:solidFill>
                <a:latin typeface="Calibri"/>
              </a:rPr>
              <a:t>time course </a:t>
            </a:r>
            <a:r>
              <a:rPr lang="en-US" sz="4000" b="1" dirty="0">
                <a:solidFill>
                  <a:srgbClr val="6FC2C8"/>
                </a:solidFill>
                <a:latin typeface="Calibri"/>
              </a:rPr>
              <a:t>s</a:t>
            </a:r>
            <a:r>
              <a:rPr sz="4000" b="1" i="0" dirty="0">
                <a:solidFill>
                  <a:srgbClr val="6FC2C8"/>
                </a:solidFill>
                <a:latin typeface="Calibri"/>
              </a:rPr>
              <a:t>timulation in </a:t>
            </a:r>
            <a:r>
              <a:rPr lang="en-US" sz="4000" b="1" i="0" dirty="0">
                <a:solidFill>
                  <a:srgbClr val="6FC2C8"/>
                </a:solidFill>
                <a:latin typeface="Calibri"/>
              </a:rPr>
              <a:t>DIV2 Rat </a:t>
            </a:r>
            <a:r>
              <a:rPr sz="4000" b="1" i="0" dirty="0">
                <a:solidFill>
                  <a:srgbClr val="6FC2C8"/>
                </a:solidFill>
                <a:latin typeface="Calibri"/>
              </a:rPr>
              <a:t>Cortical Neurons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ROADMAP</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Outline</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2</a:t>
            </a:r>
          </a:p>
        </p:txBody>
      </p:sp>
      <p:sp>
        <p:nvSpPr>
          <p:cNvPr id="8" name="TextBox 7"/>
          <p:cNvSpPr txBox="1"/>
          <p:nvPr/>
        </p:nvSpPr>
        <p:spPr>
          <a:xfrm>
            <a:off x="822960" y="1371600"/>
            <a:ext cx="6766560" cy="5120640"/>
          </a:xfrm>
          <a:prstGeom prst="rect">
            <a:avLst/>
          </a:prstGeom>
          <a:noFill/>
        </p:spPr>
        <p:txBody>
          <a:bodyPr wrap="square">
            <a:spAutoFit/>
          </a:bodyPr>
          <a:lstStyle/>
          <a:p>
            <a:pPr marL="0" indent="0">
              <a:lnSpc>
                <a:spcPct val="104000"/>
              </a:lnSpc>
              <a:spcBef>
                <a:spcPts val="0"/>
              </a:spcBef>
              <a:spcAft>
                <a:spcPts val="900"/>
              </a:spcAft>
            </a:pPr>
            <a:r>
              <a:rPr sz="1900" b="1">
                <a:solidFill>
                  <a:srgbClr val="444A52"/>
                </a:solidFill>
                <a:latin typeface="Calibri"/>
              </a:rPr>
              <a:t>▸  Background — Netrin-1 and the gap in acute transcription</a:t>
            </a:r>
          </a:p>
          <a:p>
            <a:pPr marL="274320" indent="0">
              <a:lnSpc>
                <a:spcPct val="104000"/>
              </a:lnSpc>
              <a:spcBef>
                <a:spcPts val="0"/>
              </a:spcBef>
              <a:spcAft>
                <a:spcPts val="900"/>
              </a:spcAft>
            </a:pPr>
            <a:r>
              <a:rPr sz="1800" b="0">
                <a:solidFill>
                  <a:srgbClr val="444A52"/>
                </a:solidFill>
                <a:latin typeface="Calibri"/>
              </a:rPr>
              <a:t>–  Why look at minutes, not hours?</a:t>
            </a:r>
          </a:p>
          <a:p>
            <a:pPr marL="0" indent="0">
              <a:lnSpc>
                <a:spcPct val="104000"/>
              </a:lnSpc>
              <a:spcBef>
                <a:spcPts val="0"/>
              </a:spcBef>
              <a:spcAft>
                <a:spcPts val="900"/>
              </a:spcAft>
            </a:pPr>
            <a:r>
              <a:rPr sz="1900" b="1">
                <a:solidFill>
                  <a:srgbClr val="444A52"/>
                </a:solidFill>
                <a:latin typeface="Calibri"/>
              </a:rPr>
              <a:t>▸  Question, hypothesis &amp; experimental design</a:t>
            </a:r>
          </a:p>
          <a:p>
            <a:pPr marL="0" indent="0">
              <a:lnSpc>
                <a:spcPct val="104000"/>
              </a:lnSpc>
              <a:spcBef>
                <a:spcPts val="0"/>
              </a:spcBef>
              <a:spcAft>
                <a:spcPts val="900"/>
              </a:spcAft>
            </a:pPr>
            <a:r>
              <a:rPr sz="1900" b="1">
                <a:solidFill>
                  <a:srgbClr val="444A52"/>
                </a:solidFill>
                <a:latin typeface="Calibri"/>
              </a:rPr>
              <a:t>▸  Analysis pipeline &amp; quality control</a:t>
            </a:r>
          </a:p>
          <a:p>
            <a:pPr marL="0" indent="0">
              <a:lnSpc>
                <a:spcPct val="104000"/>
              </a:lnSpc>
              <a:spcBef>
                <a:spcPts val="0"/>
              </a:spcBef>
              <a:spcAft>
                <a:spcPts val="900"/>
              </a:spcAft>
            </a:pPr>
            <a:r>
              <a:rPr sz="1900" b="1">
                <a:solidFill>
                  <a:srgbClr val="444A52"/>
                </a:solidFill>
                <a:latin typeface="Calibri"/>
              </a:rPr>
              <a:t>▸  Results</a:t>
            </a:r>
          </a:p>
          <a:p>
            <a:pPr marL="274320" indent="0">
              <a:lnSpc>
                <a:spcPct val="104000"/>
              </a:lnSpc>
              <a:spcBef>
                <a:spcPts val="0"/>
              </a:spcBef>
              <a:spcAft>
                <a:spcPts val="900"/>
              </a:spcAft>
            </a:pPr>
            <a:r>
              <a:rPr sz="1800" b="0">
                <a:solidFill>
                  <a:srgbClr val="444A52"/>
                </a:solidFill>
                <a:latin typeface="Calibri"/>
              </a:rPr>
              <a:t>–  1 · The 5-minute response (genes)</a:t>
            </a:r>
          </a:p>
          <a:p>
            <a:pPr marL="274320" indent="0">
              <a:lnSpc>
                <a:spcPct val="104000"/>
              </a:lnSpc>
              <a:spcBef>
                <a:spcPts val="0"/>
              </a:spcBef>
              <a:spcAft>
                <a:spcPts val="900"/>
              </a:spcAft>
            </a:pPr>
            <a:r>
              <a:rPr sz="1800" b="0">
                <a:solidFill>
                  <a:srgbClr val="444A52"/>
                </a:solidFill>
                <a:latin typeface="Calibri"/>
              </a:rPr>
              <a:t>–  2 · Transient dynamics (IEGs, ROCK1)</a:t>
            </a:r>
          </a:p>
          <a:p>
            <a:pPr marL="274320" indent="0">
              <a:lnSpc>
                <a:spcPct val="104000"/>
              </a:lnSpc>
              <a:spcBef>
                <a:spcPts val="0"/>
              </a:spcBef>
              <a:spcAft>
                <a:spcPts val="900"/>
              </a:spcAft>
            </a:pPr>
            <a:r>
              <a:rPr sz="1800" b="0">
                <a:solidFill>
                  <a:srgbClr val="444A52"/>
                </a:solidFill>
                <a:latin typeface="Calibri"/>
              </a:rPr>
              <a:t>–  3 · Pathway-level coordination (GSEA)</a:t>
            </a:r>
          </a:p>
          <a:p>
            <a:pPr marL="274320" indent="0">
              <a:lnSpc>
                <a:spcPct val="104000"/>
              </a:lnSpc>
              <a:spcBef>
                <a:spcPts val="0"/>
              </a:spcBef>
              <a:spcAft>
                <a:spcPts val="900"/>
              </a:spcAft>
            </a:pPr>
            <a:r>
              <a:rPr sz="1800" b="0">
                <a:solidFill>
                  <a:srgbClr val="444A52"/>
                </a:solidFill>
                <a:latin typeface="Calibri"/>
              </a:rPr>
              <a:t>–  4 · Return to baseline — the r = −0.99 mirror</a:t>
            </a:r>
          </a:p>
          <a:p>
            <a:pPr marL="0" indent="0">
              <a:lnSpc>
                <a:spcPct val="104000"/>
              </a:lnSpc>
              <a:spcBef>
                <a:spcPts val="0"/>
              </a:spcBef>
              <a:spcAft>
                <a:spcPts val="900"/>
              </a:spcAft>
            </a:pPr>
            <a:r>
              <a:rPr sz="1900" b="1">
                <a:solidFill>
                  <a:srgbClr val="444A52"/>
                </a:solidFill>
                <a:latin typeface="Calibri"/>
              </a:rPr>
              <a:t>▸  Discussion, limitations &amp; conclusions</a:t>
            </a:r>
          </a:p>
        </p:txBody>
      </p:sp>
      <p:sp>
        <p:nvSpPr>
          <p:cNvPr id="9" name="Rectangle 8"/>
          <p:cNvSpPr/>
          <p:nvPr/>
        </p:nvSpPr>
        <p:spPr>
          <a:xfrm>
            <a:off x="7955279" y="1371600"/>
            <a:ext cx="3520440" cy="4754880"/>
          </a:xfrm>
          <a:prstGeom prst="rect">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955279" y="1371600"/>
            <a:ext cx="109728" cy="475488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0" y="1645920"/>
            <a:ext cx="3108960" cy="4389120"/>
          </a:xfrm>
          <a:prstGeom prst="rect">
            <a:avLst/>
          </a:prstGeom>
          <a:noFill/>
        </p:spPr>
        <p:txBody>
          <a:bodyPr wrap="square" anchor="t">
            <a:spAutoFit/>
          </a:bodyPr>
          <a:lstStyle/>
          <a:p>
            <a:pPr algn="l">
              <a:lnSpc>
                <a:spcPct val="108000"/>
              </a:lnSpc>
              <a:spcBef>
                <a:spcPts val="0"/>
              </a:spcBef>
              <a:spcAft>
                <a:spcPts val="1000"/>
              </a:spcAft>
            </a:pPr>
            <a:r>
              <a:rPr sz="1200" b="1" i="0">
                <a:solidFill>
                  <a:srgbClr val="0E5A61"/>
                </a:solidFill>
                <a:latin typeface="Calibri"/>
              </a:rPr>
              <a:t>THE ONE-SENTENCE STORY</a:t>
            </a:r>
          </a:p>
          <a:p>
            <a:pPr algn="l">
              <a:lnSpc>
                <a:spcPct val="108000"/>
              </a:lnSpc>
              <a:spcBef>
                <a:spcPts val="0"/>
              </a:spcBef>
              <a:spcAft>
                <a:spcPts val="1000"/>
              </a:spcAft>
            </a:pPr>
            <a:r>
              <a:rPr sz="1600" b="0" i="0">
                <a:solidFill>
                  <a:srgbClr val="444A52"/>
                </a:solidFill>
                <a:latin typeface="Calibri"/>
              </a:rPr>
              <a:t>A 5-min Netrin-1 pulse activates an axon-guidance / projection program and suppresses RNA-processing &amp; ribosome biogenesis — then by 15 min returns to baseline with r = −0.99 precision.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BACKGROUND</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Netrin-1: a classic guidance cue — acting in seconds</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3</a:t>
            </a:r>
          </a:p>
        </p:txBody>
      </p:sp>
      <p:sp>
        <p:nvSpPr>
          <p:cNvPr id="8" name="TextBox 7"/>
          <p:cNvSpPr txBox="1"/>
          <p:nvPr/>
        </p:nvSpPr>
        <p:spPr>
          <a:xfrm>
            <a:off x="822960" y="1371600"/>
            <a:ext cx="6035040" cy="4937760"/>
          </a:xfrm>
          <a:prstGeom prst="rect">
            <a:avLst/>
          </a:prstGeom>
          <a:noFill/>
        </p:spPr>
        <p:txBody>
          <a:bodyPr wrap="square">
            <a:spAutoFit/>
          </a:bodyPr>
          <a:lstStyle/>
          <a:p>
            <a:pPr marL="0" indent="0">
              <a:lnSpc>
                <a:spcPct val="104000"/>
              </a:lnSpc>
              <a:spcBef>
                <a:spcPts val="0"/>
              </a:spcBef>
              <a:spcAft>
                <a:spcPts val="1000"/>
              </a:spcAft>
            </a:pPr>
            <a:r>
              <a:rPr sz="1800" b="1">
                <a:solidFill>
                  <a:srgbClr val="444A52"/>
                </a:solidFill>
                <a:latin typeface="Calibri"/>
              </a:rPr>
              <a:t>▸  Netrin-1 is a prototypical axon-guidance molecule.</a:t>
            </a:r>
          </a:p>
          <a:p>
            <a:pPr marL="274320" indent="0">
              <a:lnSpc>
                <a:spcPct val="104000"/>
              </a:lnSpc>
              <a:spcBef>
                <a:spcPts val="0"/>
              </a:spcBef>
              <a:spcAft>
                <a:spcPts val="1000"/>
              </a:spcAft>
            </a:pPr>
            <a:r>
              <a:rPr sz="1700" b="0">
                <a:solidFill>
                  <a:srgbClr val="444A52"/>
                </a:solidFill>
                <a:latin typeface="Calibri"/>
              </a:rPr>
              <a:t>–  Steers the growth cone via the DCC and UNC5 receptors.</a:t>
            </a:r>
          </a:p>
          <a:p>
            <a:pPr marL="0" indent="0">
              <a:lnSpc>
                <a:spcPct val="104000"/>
              </a:lnSpc>
              <a:spcBef>
                <a:spcPts val="0"/>
              </a:spcBef>
              <a:spcAft>
                <a:spcPts val="1000"/>
              </a:spcAft>
            </a:pPr>
            <a:r>
              <a:rPr sz="1800" b="1">
                <a:solidFill>
                  <a:srgbClr val="444A52"/>
                </a:solidFill>
                <a:latin typeface="Calibri"/>
              </a:rPr>
              <a:t>▸  Its canonical mechanism is POST-translational and LOCAL.</a:t>
            </a:r>
          </a:p>
          <a:p>
            <a:pPr marL="274320" indent="0">
              <a:lnSpc>
                <a:spcPct val="104000"/>
              </a:lnSpc>
              <a:spcBef>
                <a:spcPts val="0"/>
              </a:spcBef>
              <a:spcAft>
                <a:spcPts val="1000"/>
              </a:spcAft>
            </a:pPr>
            <a:r>
              <a:rPr sz="1700" b="0">
                <a:solidFill>
                  <a:srgbClr val="444A52"/>
                </a:solidFill>
                <a:latin typeface="Calibri"/>
              </a:rPr>
              <a:t>–  Cytoskeletal remodeling, local protein translation.</a:t>
            </a:r>
          </a:p>
          <a:p>
            <a:pPr marL="274320" indent="0">
              <a:lnSpc>
                <a:spcPct val="104000"/>
              </a:lnSpc>
              <a:spcBef>
                <a:spcPts val="0"/>
              </a:spcBef>
              <a:spcAft>
                <a:spcPts val="1000"/>
              </a:spcAft>
            </a:pPr>
            <a:r>
              <a:rPr sz="1700" b="0">
                <a:solidFill>
                  <a:srgbClr val="444A52"/>
                </a:solidFill>
                <a:latin typeface="Calibri"/>
              </a:rPr>
              <a:t>–  Operates on a seconds-to-minutes timescale.</a:t>
            </a:r>
          </a:p>
          <a:p>
            <a:pPr marL="0" indent="0">
              <a:lnSpc>
                <a:spcPct val="104000"/>
              </a:lnSpc>
              <a:spcBef>
                <a:spcPts val="0"/>
              </a:spcBef>
              <a:spcAft>
                <a:spcPts val="1000"/>
              </a:spcAft>
            </a:pPr>
            <a:r>
              <a:rPr sz="1800" b="1">
                <a:solidFill>
                  <a:srgbClr val="444A52"/>
                </a:solidFill>
                <a:latin typeface="Calibri"/>
              </a:rPr>
              <a:t>▸  So the field has focused on protein-level signaling…</a:t>
            </a:r>
          </a:p>
          <a:p>
            <a:pPr marL="274320" indent="0">
              <a:lnSpc>
                <a:spcPct val="104000"/>
              </a:lnSpc>
              <a:spcBef>
                <a:spcPts val="0"/>
              </a:spcBef>
              <a:spcAft>
                <a:spcPts val="1000"/>
              </a:spcAft>
            </a:pPr>
            <a:r>
              <a:rPr sz="1700" b="0">
                <a:solidFill>
                  <a:srgbClr val="444A52"/>
                </a:solidFill>
                <a:latin typeface="Calibri"/>
              </a:rPr>
              <a:t>–  …and largely overlooked the nucleus on this timescale.</a:t>
            </a:r>
          </a:p>
        </p:txBody>
      </p:sp>
      <p:sp>
        <p:nvSpPr>
          <p:cNvPr id="9" name="Rectangle 8"/>
          <p:cNvSpPr/>
          <p:nvPr/>
        </p:nvSpPr>
        <p:spPr>
          <a:xfrm>
            <a:off x="7223760" y="1463040"/>
            <a:ext cx="4206240" cy="4480560"/>
          </a:xfrm>
          <a:prstGeom prst="rect">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223760" y="1463040"/>
            <a:ext cx="4206240" cy="502920"/>
          </a:xfrm>
          <a:prstGeom prst="rect">
            <a:avLst/>
          </a:prstGeom>
          <a:solidFill>
            <a:srgbClr val="0E5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06640" y="1517904"/>
            <a:ext cx="3931920" cy="411480"/>
          </a:xfrm>
          <a:prstGeom prst="rect">
            <a:avLst/>
          </a:prstGeom>
          <a:noFill/>
        </p:spPr>
        <p:txBody>
          <a:bodyPr wrap="square" anchor="t">
            <a:spAutoFit/>
          </a:bodyPr>
          <a:lstStyle/>
          <a:p>
            <a:pPr algn="l">
              <a:lnSpc>
                <a:spcPct val="100000"/>
              </a:lnSpc>
              <a:spcBef>
                <a:spcPts val="0"/>
              </a:spcBef>
              <a:spcAft>
                <a:spcPts val="0"/>
              </a:spcAft>
            </a:pPr>
            <a:r>
              <a:rPr sz="1300" b="1" i="0">
                <a:solidFill>
                  <a:srgbClr val="FFFFFF"/>
                </a:solidFill>
                <a:latin typeface="Calibri"/>
              </a:rPr>
              <a:t>CANONICAL NETRIN-1 SIGNALING</a:t>
            </a:r>
          </a:p>
        </p:txBody>
      </p:sp>
      <p:sp>
        <p:nvSpPr>
          <p:cNvPr id="12" name="TextBox 11"/>
          <p:cNvSpPr txBox="1"/>
          <p:nvPr/>
        </p:nvSpPr>
        <p:spPr>
          <a:xfrm>
            <a:off x="7452360" y="2148840"/>
            <a:ext cx="3840480" cy="3657600"/>
          </a:xfrm>
          <a:prstGeom prst="rect">
            <a:avLst/>
          </a:prstGeom>
          <a:noFill/>
        </p:spPr>
        <p:txBody>
          <a:bodyPr wrap="square" anchor="t">
            <a:spAutoFit/>
          </a:bodyPr>
          <a:lstStyle/>
          <a:p>
            <a:pPr algn="ctr">
              <a:lnSpc>
                <a:spcPct val="100000"/>
              </a:lnSpc>
              <a:spcBef>
                <a:spcPts val="0"/>
              </a:spcBef>
              <a:spcAft>
                <a:spcPts val="700"/>
              </a:spcAft>
            </a:pPr>
            <a:r>
              <a:rPr sz="1800" b="1" i="0">
                <a:solidFill>
                  <a:srgbClr val="102A43"/>
                </a:solidFill>
                <a:latin typeface="Calibri"/>
              </a:rPr>
              <a:t>Netrin-1</a:t>
            </a:r>
          </a:p>
          <a:p>
            <a:pPr algn="ctr">
              <a:lnSpc>
                <a:spcPct val="100000"/>
              </a:lnSpc>
              <a:spcBef>
                <a:spcPts val="0"/>
              </a:spcBef>
              <a:spcAft>
                <a:spcPts val="700"/>
              </a:spcAft>
            </a:pPr>
            <a:r>
              <a:rPr sz="1800" b="1" i="0">
                <a:solidFill>
                  <a:srgbClr val="16828C"/>
                </a:solidFill>
                <a:latin typeface="Calibri"/>
              </a:rPr>
              <a:t>↓</a:t>
            </a:r>
          </a:p>
          <a:p>
            <a:pPr algn="ctr">
              <a:lnSpc>
                <a:spcPct val="100000"/>
              </a:lnSpc>
              <a:spcBef>
                <a:spcPts val="0"/>
              </a:spcBef>
              <a:spcAft>
                <a:spcPts val="700"/>
              </a:spcAft>
            </a:pPr>
            <a:r>
              <a:rPr sz="1700" b="0" i="0">
                <a:solidFill>
                  <a:srgbClr val="444A52"/>
                </a:solidFill>
                <a:latin typeface="Calibri"/>
              </a:rPr>
              <a:t>DCC / UNC5 receptors</a:t>
            </a:r>
          </a:p>
          <a:p>
            <a:pPr algn="ctr">
              <a:lnSpc>
                <a:spcPct val="100000"/>
              </a:lnSpc>
              <a:spcBef>
                <a:spcPts val="0"/>
              </a:spcBef>
              <a:spcAft>
                <a:spcPts val="700"/>
              </a:spcAft>
            </a:pPr>
            <a:r>
              <a:rPr sz="1800" b="1" i="0">
                <a:solidFill>
                  <a:srgbClr val="16828C"/>
                </a:solidFill>
                <a:latin typeface="Calibri"/>
              </a:rPr>
              <a:t>↓</a:t>
            </a:r>
          </a:p>
          <a:p>
            <a:pPr algn="ctr">
              <a:lnSpc>
                <a:spcPct val="100000"/>
              </a:lnSpc>
              <a:spcBef>
                <a:spcPts val="0"/>
              </a:spcBef>
              <a:spcAft>
                <a:spcPts val="700"/>
              </a:spcAft>
            </a:pPr>
            <a:r>
              <a:rPr sz="1700" b="0" i="0">
                <a:solidFill>
                  <a:srgbClr val="444A52"/>
                </a:solidFill>
                <a:latin typeface="Calibri"/>
              </a:rPr>
              <a:t>Cytoskeleton · ROCK · local translation</a:t>
            </a:r>
          </a:p>
          <a:p>
            <a:pPr algn="ctr">
              <a:lnSpc>
                <a:spcPct val="100000"/>
              </a:lnSpc>
              <a:spcBef>
                <a:spcPts val="0"/>
              </a:spcBef>
              <a:spcAft>
                <a:spcPts val="700"/>
              </a:spcAft>
            </a:pPr>
            <a:r>
              <a:rPr sz="1800" b="1" i="0">
                <a:solidFill>
                  <a:srgbClr val="16828C"/>
                </a:solidFill>
                <a:latin typeface="Calibri"/>
              </a:rPr>
              <a:t>↓</a:t>
            </a:r>
          </a:p>
          <a:p>
            <a:pPr algn="ctr">
              <a:lnSpc>
                <a:spcPct val="100000"/>
              </a:lnSpc>
              <a:spcBef>
                <a:spcPts val="0"/>
              </a:spcBef>
              <a:spcAft>
                <a:spcPts val="700"/>
              </a:spcAft>
            </a:pPr>
            <a:r>
              <a:rPr sz="1700" b="1" i="0">
                <a:solidFill>
                  <a:srgbClr val="102A43"/>
                </a:solidFill>
                <a:latin typeface="Calibri"/>
              </a:rPr>
              <a:t>Growth-cone turning  (seconds–minutes)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BACKGROUND</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The knowledge gap: minutes-scale transcription</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4</a:t>
            </a:r>
          </a:p>
        </p:txBody>
      </p:sp>
      <p:sp>
        <p:nvSpPr>
          <p:cNvPr id="8" name="Rectangle 7"/>
          <p:cNvSpPr/>
          <p:nvPr/>
        </p:nvSpPr>
        <p:spPr>
          <a:xfrm>
            <a:off x="914400" y="2011680"/>
            <a:ext cx="10332720" cy="38100"/>
          </a:xfrm>
          <a:prstGeom prst="rect">
            <a:avLst/>
          </a:prstGeom>
          <a:solidFill>
            <a:srgbClr val="6B7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14400" y="1938528"/>
            <a:ext cx="76200" cy="201168"/>
          </a:xfrm>
          <a:prstGeom prst="rect">
            <a:avLst/>
          </a:prstGeom>
          <a:solidFill>
            <a:srgbClr val="444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176272"/>
            <a:ext cx="1097280" cy="274320"/>
          </a:xfrm>
          <a:prstGeom prst="rect">
            <a:avLst/>
          </a:prstGeom>
          <a:noFill/>
        </p:spPr>
        <p:txBody>
          <a:bodyPr wrap="square" anchor="t">
            <a:spAutoFit/>
          </a:bodyPr>
          <a:lstStyle/>
          <a:p>
            <a:pPr algn="ctr">
              <a:lnSpc>
                <a:spcPct val="100000"/>
              </a:lnSpc>
              <a:spcBef>
                <a:spcPts val="0"/>
              </a:spcBef>
              <a:spcAft>
                <a:spcPts val="0"/>
              </a:spcAft>
            </a:pPr>
            <a:r>
              <a:rPr sz="1300" b="1" i="0">
                <a:solidFill>
                  <a:srgbClr val="444A52"/>
                </a:solidFill>
                <a:latin typeface="Calibri"/>
              </a:rPr>
              <a:t>0</a:t>
            </a:r>
          </a:p>
        </p:txBody>
      </p:sp>
      <p:sp>
        <p:nvSpPr>
          <p:cNvPr id="11" name="Rectangle 10"/>
          <p:cNvSpPr/>
          <p:nvPr/>
        </p:nvSpPr>
        <p:spPr>
          <a:xfrm>
            <a:off x="2154326" y="1938528"/>
            <a:ext cx="76200" cy="20116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697126" y="2176272"/>
            <a:ext cx="1097280" cy="274320"/>
          </a:xfrm>
          <a:prstGeom prst="rect">
            <a:avLst/>
          </a:prstGeom>
          <a:noFill/>
        </p:spPr>
        <p:txBody>
          <a:bodyPr wrap="square" anchor="t">
            <a:spAutoFit/>
          </a:bodyPr>
          <a:lstStyle/>
          <a:p>
            <a:pPr algn="ctr">
              <a:lnSpc>
                <a:spcPct val="100000"/>
              </a:lnSpc>
              <a:spcBef>
                <a:spcPts val="0"/>
              </a:spcBef>
              <a:spcAft>
                <a:spcPts val="0"/>
              </a:spcAft>
            </a:pPr>
            <a:r>
              <a:rPr sz="1300" b="1" i="0">
                <a:solidFill>
                  <a:srgbClr val="C0392B"/>
                </a:solidFill>
                <a:latin typeface="Calibri"/>
              </a:rPr>
              <a:t>5 min</a:t>
            </a:r>
          </a:p>
        </p:txBody>
      </p:sp>
      <p:sp>
        <p:nvSpPr>
          <p:cNvPr id="13" name="Rectangle 12"/>
          <p:cNvSpPr/>
          <p:nvPr/>
        </p:nvSpPr>
        <p:spPr>
          <a:xfrm>
            <a:off x="3807561" y="1938528"/>
            <a:ext cx="76200" cy="20116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50361" y="2176272"/>
            <a:ext cx="1097280" cy="274320"/>
          </a:xfrm>
          <a:prstGeom prst="rect">
            <a:avLst/>
          </a:prstGeom>
          <a:noFill/>
        </p:spPr>
        <p:txBody>
          <a:bodyPr wrap="square" anchor="t">
            <a:spAutoFit/>
          </a:bodyPr>
          <a:lstStyle/>
          <a:p>
            <a:pPr algn="ctr">
              <a:lnSpc>
                <a:spcPct val="100000"/>
              </a:lnSpc>
              <a:spcBef>
                <a:spcPts val="0"/>
              </a:spcBef>
              <a:spcAft>
                <a:spcPts val="0"/>
              </a:spcAft>
            </a:pPr>
            <a:r>
              <a:rPr sz="1300" b="1" i="0">
                <a:solidFill>
                  <a:srgbClr val="C0392B"/>
                </a:solidFill>
                <a:latin typeface="Calibri"/>
              </a:rPr>
              <a:t>15 min</a:t>
            </a:r>
          </a:p>
        </p:txBody>
      </p:sp>
      <p:sp>
        <p:nvSpPr>
          <p:cNvPr id="15" name="Rectangle 14"/>
          <p:cNvSpPr/>
          <p:nvPr/>
        </p:nvSpPr>
        <p:spPr>
          <a:xfrm>
            <a:off x="6597396" y="1938528"/>
            <a:ext cx="76200" cy="201168"/>
          </a:xfrm>
          <a:prstGeom prst="rect">
            <a:avLst/>
          </a:prstGeom>
          <a:solidFill>
            <a:srgbClr val="6B7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40196" y="2176272"/>
            <a:ext cx="1097280" cy="274320"/>
          </a:xfrm>
          <a:prstGeom prst="rect">
            <a:avLst/>
          </a:prstGeom>
          <a:noFill/>
        </p:spPr>
        <p:txBody>
          <a:bodyPr wrap="square" anchor="t">
            <a:spAutoFit/>
          </a:bodyPr>
          <a:lstStyle/>
          <a:p>
            <a:pPr algn="ctr">
              <a:lnSpc>
                <a:spcPct val="100000"/>
              </a:lnSpc>
              <a:spcBef>
                <a:spcPts val="0"/>
              </a:spcBef>
              <a:spcAft>
                <a:spcPts val="0"/>
              </a:spcAft>
            </a:pPr>
            <a:r>
              <a:rPr sz="1300" b="1" i="0">
                <a:solidFill>
                  <a:srgbClr val="6B727B"/>
                </a:solidFill>
                <a:latin typeface="Calibri"/>
              </a:rPr>
              <a:t>1 h</a:t>
            </a:r>
          </a:p>
        </p:txBody>
      </p:sp>
      <p:sp>
        <p:nvSpPr>
          <p:cNvPr id="17" name="Rectangle 16"/>
          <p:cNvSpPr/>
          <p:nvPr/>
        </p:nvSpPr>
        <p:spPr>
          <a:xfrm>
            <a:off x="9180576" y="1938528"/>
            <a:ext cx="76200" cy="201168"/>
          </a:xfrm>
          <a:prstGeom prst="rect">
            <a:avLst/>
          </a:prstGeom>
          <a:solidFill>
            <a:srgbClr val="6B7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23376" y="2176272"/>
            <a:ext cx="1097280" cy="274320"/>
          </a:xfrm>
          <a:prstGeom prst="rect">
            <a:avLst/>
          </a:prstGeom>
          <a:noFill/>
        </p:spPr>
        <p:txBody>
          <a:bodyPr wrap="square" anchor="t">
            <a:spAutoFit/>
          </a:bodyPr>
          <a:lstStyle/>
          <a:p>
            <a:pPr algn="ctr">
              <a:lnSpc>
                <a:spcPct val="100000"/>
              </a:lnSpc>
              <a:spcBef>
                <a:spcPts val="0"/>
              </a:spcBef>
              <a:spcAft>
                <a:spcPts val="0"/>
              </a:spcAft>
            </a:pPr>
            <a:r>
              <a:rPr sz="1300" b="1" i="0">
                <a:solidFill>
                  <a:srgbClr val="6B727B"/>
                </a:solidFill>
                <a:latin typeface="Calibri"/>
              </a:rPr>
              <a:t>hours–days</a:t>
            </a:r>
          </a:p>
        </p:txBody>
      </p:sp>
      <p:sp>
        <p:nvSpPr>
          <p:cNvPr id="19" name="Rectangle 18"/>
          <p:cNvSpPr/>
          <p:nvPr/>
        </p:nvSpPr>
        <p:spPr>
          <a:xfrm>
            <a:off x="914400" y="2834640"/>
            <a:ext cx="3200400" cy="457200"/>
          </a:xfrm>
          <a:prstGeom prst="rect">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2889504"/>
            <a:ext cx="3017520" cy="365760"/>
          </a:xfrm>
          <a:prstGeom prst="rect">
            <a:avLst/>
          </a:prstGeom>
          <a:noFill/>
        </p:spPr>
        <p:txBody>
          <a:bodyPr wrap="square" anchor="t">
            <a:spAutoFit/>
          </a:bodyPr>
          <a:lstStyle/>
          <a:p>
            <a:pPr algn="l">
              <a:lnSpc>
                <a:spcPct val="100000"/>
              </a:lnSpc>
              <a:spcBef>
                <a:spcPts val="0"/>
              </a:spcBef>
              <a:spcAft>
                <a:spcPts val="0"/>
              </a:spcAft>
            </a:pPr>
            <a:r>
              <a:rPr sz="1300" b="1" i="0">
                <a:solidFill>
                  <a:srgbClr val="0E5A61"/>
                </a:solidFill>
                <a:latin typeface="Calibri"/>
              </a:rPr>
              <a:t>THIS STUDY</a:t>
            </a:r>
          </a:p>
        </p:txBody>
      </p:sp>
      <p:sp>
        <p:nvSpPr>
          <p:cNvPr id="21" name="Rectangle 20"/>
          <p:cNvSpPr/>
          <p:nvPr/>
        </p:nvSpPr>
        <p:spPr>
          <a:xfrm>
            <a:off x="5852160" y="2834640"/>
            <a:ext cx="5394960" cy="457200"/>
          </a:xfrm>
          <a:prstGeom prst="rect">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0" y="2889504"/>
            <a:ext cx="5212080" cy="365760"/>
          </a:xfrm>
          <a:prstGeom prst="rect">
            <a:avLst/>
          </a:prstGeom>
          <a:noFill/>
        </p:spPr>
        <p:txBody>
          <a:bodyPr wrap="square" anchor="t">
            <a:spAutoFit/>
          </a:bodyPr>
          <a:lstStyle/>
          <a:p>
            <a:pPr algn="l">
              <a:lnSpc>
                <a:spcPct val="100000"/>
              </a:lnSpc>
              <a:spcBef>
                <a:spcPts val="0"/>
              </a:spcBef>
              <a:spcAft>
                <a:spcPts val="0"/>
              </a:spcAft>
            </a:pPr>
            <a:r>
              <a:rPr sz="1300" b="1" i="0">
                <a:solidFill>
                  <a:srgbClr val="6B727B"/>
                </a:solidFill>
                <a:latin typeface="Calibri"/>
              </a:rPr>
              <a:t>Where most transcriptomic studies look</a:t>
            </a:r>
          </a:p>
        </p:txBody>
      </p:sp>
      <p:sp>
        <p:nvSpPr>
          <p:cNvPr id="23" name="TextBox 22"/>
          <p:cNvSpPr txBox="1"/>
          <p:nvPr/>
        </p:nvSpPr>
        <p:spPr>
          <a:xfrm>
            <a:off x="914400" y="3749039"/>
            <a:ext cx="10332720" cy="2743200"/>
          </a:xfrm>
          <a:prstGeom prst="rect">
            <a:avLst/>
          </a:prstGeom>
          <a:noFill/>
        </p:spPr>
        <p:txBody>
          <a:bodyPr wrap="square">
            <a:spAutoFit/>
          </a:bodyPr>
          <a:lstStyle/>
          <a:p>
            <a:pPr marL="0" indent="0">
              <a:lnSpc>
                <a:spcPct val="104000"/>
              </a:lnSpc>
              <a:spcBef>
                <a:spcPts val="0"/>
              </a:spcBef>
              <a:spcAft>
                <a:spcPts val="1200"/>
              </a:spcAft>
            </a:pPr>
            <a:r>
              <a:rPr sz="1800" b="0">
                <a:solidFill>
                  <a:srgbClr val="444A52"/>
                </a:solidFill>
                <a:latin typeface="Calibri"/>
              </a:rPr>
              <a:t>▸  Almost all Netrin transcriptome studies sample HOURS to DAYS after stimulation.</a:t>
            </a:r>
          </a:p>
          <a:p>
            <a:pPr marL="0" indent="0">
              <a:lnSpc>
                <a:spcPct val="104000"/>
              </a:lnSpc>
              <a:spcBef>
                <a:spcPts val="0"/>
              </a:spcBef>
              <a:spcAft>
                <a:spcPts val="1200"/>
              </a:spcAft>
            </a:pPr>
            <a:r>
              <a:rPr sz="1800" b="1">
                <a:solidFill>
                  <a:srgbClr val="102A43"/>
                </a:solidFill>
                <a:latin typeface="Calibri"/>
              </a:rPr>
              <a:t>▸  The acute, minute-scale transcriptional response is essentially uncharted.</a:t>
            </a:r>
          </a:p>
          <a:p>
            <a:pPr marL="0" indent="0">
              <a:lnSpc>
                <a:spcPct val="104000"/>
              </a:lnSpc>
              <a:spcBef>
                <a:spcPts val="0"/>
              </a:spcBef>
              <a:spcAft>
                <a:spcPts val="1200"/>
              </a:spcAft>
            </a:pPr>
            <a:r>
              <a:rPr sz="1800" b="0">
                <a:solidFill>
                  <a:srgbClr val="444A52"/>
                </a:solidFill>
                <a:latin typeface="Calibri"/>
              </a:rPr>
              <a:t>▸  Open questions: Does the transcriptome change within minutes? How? And is the change transient or sustained?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AIM</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Research question &amp; hypothesis</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5</a:t>
            </a:r>
          </a:p>
        </p:txBody>
      </p:sp>
      <p:sp>
        <p:nvSpPr>
          <p:cNvPr id="8" name="Rectangle 7"/>
          <p:cNvSpPr/>
          <p:nvPr/>
        </p:nvSpPr>
        <p:spPr>
          <a:xfrm>
            <a:off x="822960" y="1417320"/>
            <a:ext cx="10607040" cy="1554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1554480"/>
            <a:ext cx="10058400" cy="1280160"/>
          </a:xfrm>
          <a:prstGeom prst="rect">
            <a:avLst/>
          </a:prstGeom>
          <a:noFill/>
        </p:spPr>
        <p:txBody>
          <a:bodyPr wrap="square" anchor="ctr">
            <a:spAutoFit/>
          </a:bodyPr>
          <a:lstStyle/>
          <a:p>
            <a:pPr algn="l">
              <a:lnSpc>
                <a:spcPct val="105000"/>
              </a:lnSpc>
              <a:spcBef>
                <a:spcPts val="0"/>
              </a:spcBef>
              <a:spcAft>
                <a:spcPts val="800"/>
              </a:spcAft>
            </a:pPr>
            <a:r>
              <a:rPr sz="1400" b="1" i="0">
                <a:solidFill>
                  <a:srgbClr val="7FC4C9"/>
                </a:solidFill>
                <a:latin typeface="Calibri"/>
              </a:rPr>
              <a:t>Research question</a:t>
            </a:r>
          </a:p>
          <a:p>
            <a:pPr algn="l">
              <a:lnSpc>
                <a:spcPct val="105000"/>
              </a:lnSpc>
              <a:spcBef>
                <a:spcPts val="0"/>
              </a:spcBef>
              <a:spcAft>
                <a:spcPts val="800"/>
              </a:spcAft>
            </a:pPr>
            <a:r>
              <a:rPr sz="2100" b="1" i="0">
                <a:solidFill>
                  <a:srgbClr val="FFFFFF"/>
                </a:solidFill>
                <a:latin typeface="Calibri"/>
              </a:rPr>
              <a:t>Does acute Netrin-1 stimulation rapidly reshape the neuronal transcriptome — and is that response transient or persistent?</a:t>
            </a:r>
          </a:p>
        </p:txBody>
      </p:sp>
      <p:sp>
        <p:nvSpPr>
          <p:cNvPr id="10" name="Rectangle 9"/>
          <p:cNvSpPr/>
          <p:nvPr/>
        </p:nvSpPr>
        <p:spPr>
          <a:xfrm>
            <a:off x="822960" y="3246120"/>
            <a:ext cx="5166360" cy="2926080"/>
          </a:xfrm>
          <a:prstGeom prst="rect">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2960" y="3246120"/>
            <a:ext cx="5166360" cy="50292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3310128"/>
            <a:ext cx="4846320" cy="411480"/>
          </a:xfrm>
          <a:prstGeom prst="rect">
            <a:avLst/>
          </a:prstGeom>
          <a:noFill/>
        </p:spPr>
        <p:txBody>
          <a:bodyPr wrap="square" anchor="t">
            <a:spAutoFit/>
          </a:bodyPr>
          <a:lstStyle/>
          <a:p>
            <a:pPr algn="l">
              <a:lnSpc>
                <a:spcPct val="100000"/>
              </a:lnSpc>
              <a:spcBef>
                <a:spcPts val="0"/>
              </a:spcBef>
              <a:spcAft>
                <a:spcPts val="0"/>
              </a:spcAft>
            </a:pPr>
            <a:r>
              <a:rPr sz="1300" b="1" i="0">
                <a:solidFill>
                  <a:srgbClr val="FFFFFF"/>
                </a:solidFill>
                <a:latin typeface="Calibri"/>
              </a:rPr>
              <a:t>HYPOTHESIS</a:t>
            </a:r>
          </a:p>
        </p:txBody>
      </p:sp>
      <p:sp>
        <p:nvSpPr>
          <p:cNvPr id="13" name="TextBox 12"/>
          <p:cNvSpPr txBox="1"/>
          <p:nvPr/>
        </p:nvSpPr>
        <p:spPr>
          <a:xfrm>
            <a:off x="1005840" y="3931920"/>
            <a:ext cx="4800600" cy="2194560"/>
          </a:xfrm>
          <a:prstGeom prst="rect">
            <a:avLst/>
          </a:prstGeom>
          <a:noFill/>
        </p:spPr>
        <p:txBody>
          <a:bodyPr wrap="square">
            <a:spAutoFit/>
          </a:bodyPr>
          <a:lstStyle/>
          <a:p>
            <a:pPr marL="0" indent="0">
              <a:lnSpc>
                <a:spcPct val="104000"/>
              </a:lnSpc>
              <a:spcBef>
                <a:spcPts val="0"/>
              </a:spcBef>
              <a:spcAft>
                <a:spcPts val="1200"/>
              </a:spcAft>
            </a:pPr>
            <a:r>
              <a:rPr sz="1700" b="0">
                <a:solidFill>
                  <a:srgbClr val="444A52"/>
                </a:solidFill>
                <a:latin typeface="Calibri"/>
              </a:rPr>
              <a:t>▸  Netrin-1 induces a fast, coordinated transcriptional response…</a:t>
            </a:r>
          </a:p>
          <a:p>
            <a:pPr marL="0" indent="0">
              <a:lnSpc>
                <a:spcPct val="104000"/>
              </a:lnSpc>
              <a:spcBef>
                <a:spcPts val="0"/>
              </a:spcBef>
              <a:spcAft>
                <a:spcPts val="1200"/>
              </a:spcAft>
            </a:pPr>
            <a:r>
              <a:rPr sz="1700" b="0">
                <a:solidFill>
                  <a:srgbClr val="444A52"/>
                </a:solidFill>
                <a:latin typeface="Calibri"/>
              </a:rPr>
              <a:t>▸  …that is transient — switched on, then switched off — rather than a stable reprogramming.</a:t>
            </a:r>
          </a:p>
        </p:txBody>
      </p:sp>
      <p:sp>
        <p:nvSpPr>
          <p:cNvPr id="14" name="Rectangle 13"/>
          <p:cNvSpPr/>
          <p:nvPr/>
        </p:nvSpPr>
        <p:spPr>
          <a:xfrm>
            <a:off x="6263640" y="3246120"/>
            <a:ext cx="5166360" cy="2926080"/>
          </a:xfrm>
          <a:prstGeom prst="rect">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3246120"/>
            <a:ext cx="5166360" cy="502920"/>
          </a:xfrm>
          <a:prstGeom prst="rect">
            <a:avLst/>
          </a:prstGeom>
          <a:solidFill>
            <a:srgbClr val="0E5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520" y="3310128"/>
            <a:ext cx="4846320" cy="411480"/>
          </a:xfrm>
          <a:prstGeom prst="rect">
            <a:avLst/>
          </a:prstGeom>
          <a:noFill/>
        </p:spPr>
        <p:txBody>
          <a:bodyPr wrap="square" anchor="t">
            <a:spAutoFit/>
          </a:bodyPr>
          <a:lstStyle/>
          <a:p>
            <a:pPr algn="l">
              <a:lnSpc>
                <a:spcPct val="100000"/>
              </a:lnSpc>
              <a:spcBef>
                <a:spcPts val="0"/>
              </a:spcBef>
              <a:spcAft>
                <a:spcPts val="0"/>
              </a:spcAft>
            </a:pPr>
            <a:r>
              <a:rPr sz="1300" b="1" i="0">
                <a:solidFill>
                  <a:srgbClr val="FFFFFF"/>
                </a:solidFill>
                <a:latin typeface="Calibri"/>
              </a:rPr>
              <a:t>APPROACH</a:t>
            </a:r>
          </a:p>
        </p:txBody>
      </p:sp>
      <p:sp>
        <p:nvSpPr>
          <p:cNvPr id="17" name="TextBox 16"/>
          <p:cNvSpPr txBox="1"/>
          <p:nvPr/>
        </p:nvSpPr>
        <p:spPr>
          <a:xfrm>
            <a:off x="6446520" y="3931920"/>
            <a:ext cx="4800600" cy="2194560"/>
          </a:xfrm>
          <a:prstGeom prst="rect">
            <a:avLst/>
          </a:prstGeom>
          <a:noFill/>
        </p:spPr>
        <p:txBody>
          <a:bodyPr wrap="square">
            <a:spAutoFit/>
          </a:bodyPr>
          <a:lstStyle/>
          <a:p>
            <a:pPr marL="0" indent="0">
              <a:lnSpc>
                <a:spcPct val="104000"/>
              </a:lnSpc>
              <a:spcBef>
                <a:spcPts val="0"/>
              </a:spcBef>
              <a:spcAft>
                <a:spcPts val="800"/>
              </a:spcAft>
            </a:pPr>
            <a:r>
              <a:rPr sz="1600" b="0">
                <a:solidFill>
                  <a:srgbClr val="444A52"/>
                </a:solidFill>
                <a:latin typeface="Calibri"/>
              </a:rPr>
              <a:t>▸  Bulk RNA-seq time course: 0 / 5 / 15 min.</a:t>
            </a:r>
          </a:p>
          <a:p>
            <a:pPr marL="0" indent="0">
              <a:lnSpc>
                <a:spcPct val="104000"/>
              </a:lnSpc>
              <a:spcBef>
                <a:spcPts val="0"/>
              </a:spcBef>
              <a:spcAft>
                <a:spcPts val="800"/>
              </a:spcAft>
            </a:pPr>
            <a:r>
              <a:rPr sz="1600" b="0">
                <a:solidFill>
                  <a:srgbClr val="444A52"/>
                </a:solidFill>
                <a:latin typeface="Calibri"/>
              </a:rPr>
              <a:t>▸  Gene-level differential expression (DESeq2).</a:t>
            </a:r>
          </a:p>
          <a:p>
            <a:pPr marL="0" indent="0">
              <a:lnSpc>
                <a:spcPct val="104000"/>
              </a:lnSpc>
              <a:spcBef>
                <a:spcPts val="0"/>
              </a:spcBef>
              <a:spcAft>
                <a:spcPts val="800"/>
              </a:spcAft>
            </a:pPr>
            <a:r>
              <a:rPr sz="1600" b="0">
                <a:solidFill>
                  <a:srgbClr val="444A52"/>
                </a:solidFill>
                <a:latin typeface="Calibri"/>
              </a:rPr>
              <a:t>▸  Pathway-level coordination via GSEA.</a:t>
            </a:r>
          </a:p>
          <a:p>
            <a:pPr marL="0" indent="0">
              <a:lnSpc>
                <a:spcPct val="104000"/>
              </a:lnSpc>
              <a:spcBef>
                <a:spcPts val="0"/>
              </a:spcBef>
              <a:spcAft>
                <a:spcPts val="800"/>
              </a:spcAft>
            </a:pPr>
            <a:r>
              <a:rPr sz="1600" b="0">
                <a:solidFill>
                  <a:srgbClr val="444A52"/>
                </a:solidFill>
                <a:latin typeface="Calibri"/>
              </a:rPr>
              <a:t>▸  Compare 5-vs-0 against 15-vs-5 to test reversibility.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METHODS</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Experimental design</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6</a:t>
            </a:r>
          </a:p>
        </p:txBody>
      </p:sp>
      <p:sp>
        <p:nvSpPr>
          <p:cNvPr id="8" name="TextBox 7"/>
          <p:cNvSpPr txBox="1"/>
          <p:nvPr/>
        </p:nvSpPr>
        <p:spPr>
          <a:xfrm>
            <a:off x="822960" y="1371600"/>
            <a:ext cx="5943600" cy="4937760"/>
          </a:xfrm>
          <a:prstGeom prst="rect">
            <a:avLst/>
          </a:prstGeom>
          <a:noFill/>
        </p:spPr>
        <p:txBody>
          <a:bodyPr wrap="square">
            <a:spAutoFit/>
          </a:bodyPr>
          <a:lstStyle/>
          <a:p>
            <a:pPr marL="0" indent="0">
              <a:lnSpc>
                <a:spcPct val="104000"/>
              </a:lnSpc>
              <a:spcBef>
                <a:spcPts val="0"/>
              </a:spcBef>
              <a:spcAft>
                <a:spcPts val="800"/>
              </a:spcAft>
            </a:pPr>
            <a:r>
              <a:rPr sz="1700" b="1">
                <a:solidFill>
                  <a:srgbClr val="444A52"/>
                </a:solidFill>
                <a:latin typeface="Calibri"/>
              </a:rPr>
              <a:t>▸  E18 rat cortical mixed primary cultures.</a:t>
            </a:r>
          </a:p>
          <a:p>
            <a:pPr marL="0" indent="0">
              <a:lnSpc>
                <a:spcPct val="104000"/>
              </a:lnSpc>
              <a:spcBef>
                <a:spcPts val="0"/>
              </a:spcBef>
              <a:spcAft>
                <a:spcPts val="800"/>
              </a:spcAft>
            </a:pPr>
            <a:r>
              <a:rPr sz="1700" b="1">
                <a:solidFill>
                  <a:srgbClr val="444A52"/>
                </a:solidFill>
                <a:latin typeface="Calibri"/>
              </a:rPr>
              <a:t>▸  Three conditions:</a:t>
            </a:r>
          </a:p>
          <a:p>
            <a:pPr marL="274320" indent="0">
              <a:lnSpc>
                <a:spcPct val="104000"/>
              </a:lnSpc>
              <a:spcBef>
                <a:spcPts val="0"/>
              </a:spcBef>
              <a:spcAft>
                <a:spcPts val="800"/>
              </a:spcAft>
            </a:pPr>
            <a:r>
              <a:rPr sz="1600" b="0">
                <a:solidFill>
                  <a:srgbClr val="444A52"/>
                </a:solidFill>
                <a:latin typeface="Calibri"/>
              </a:rPr>
              <a:t>–  Vehicle (PBS, 5 min) — the reference / 0 min</a:t>
            </a:r>
          </a:p>
          <a:p>
            <a:pPr marL="274320" indent="0">
              <a:lnSpc>
                <a:spcPct val="104000"/>
              </a:lnSpc>
              <a:spcBef>
                <a:spcPts val="0"/>
              </a:spcBef>
              <a:spcAft>
                <a:spcPts val="800"/>
              </a:spcAft>
            </a:pPr>
            <a:r>
              <a:rPr sz="1600" b="0">
                <a:solidFill>
                  <a:srgbClr val="444A52"/>
                </a:solidFill>
                <a:latin typeface="Calibri"/>
              </a:rPr>
              <a:t>–  Netrin-1, 5 min</a:t>
            </a:r>
          </a:p>
          <a:p>
            <a:pPr marL="274320" indent="0">
              <a:lnSpc>
                <a:spcPct val="104000"/>
              </a:lnSpc>
              <a:spcBef>
                <a:spcPts val="0"/>
              </a:spcBef>
              <a:spcAft>
                <a:spcPts val="800"/>
              </a:spcAft>
            </a:pPr>
            <a:r>
              <a:rPr sz="1600" b="0">
                <a:solidFill>
                  <a:srgbClr val="444A52"/>
                </a:solidFill>
                <a:latin typeface="Calibri"/>
              </a:rPr>
              <a:t>–  Netrin-1, 15 min</a:t>
            </a:r>
          </a:p>
          <a:p>
            <a:pPr marL="0" indent="0">
              <a:lnSpc>
                <a:spcPct val="104000"/>
              </a:lnSpc>
              <a:spcBef>
                <a:spcPts val="0"/>
              </a:spcBef>
              <a:spcAft>
                <a:spcPts val="800"/>
              </a:spcAft>
            </a:pPr>
            <a:r>
              <a:rPr sz="1700" b="1">
                <a:solidFill>
                  <a:srgbClr val="444A52"/>
                </a:solidFill>
                <a:latin typeface="Calibri"/>
              </a:rPr>
              <a:t>▸  3 biological replicates → 9 samples total.</a:t>
            </a:r>
          </a:p>
          <a:p>
            <a:pPr marL="0" indent="0">
              <a:lnSpc>
                <a:spcPct val="104000"/>
              </a:lnSpc>
              <a:spcBef>
                <a:spcPts val="0"/>
              </a:spcBef>
              <a:spcAft>
                <a:spcPts val="800"/>
              </a:spcAft>
            </a:pPr>
            <a:r>
              <a:rPr sz="1700" b="1">
                <a:solidFill>
                  <a:srgbClr val="C0392B"/>
                </a:solidFill>
                <a:latin typeface="Calibri"/>
              </a:rPr>
              <a:t>▸  Design limitation (stated up front):</a:t>
            </a:r>
          </a:p>
          <a:p>
            <a:pPr marL="274320" indent="0">
              <a:lnSpc>
                <a:spcPct val="104000"/>
              </a:lnSpc>
              <a:spcBef>
                <a:spcPts val="0"/>
              </a:spcBef>
              <a:spcAft>
                <a:spcPts val="800"/>
              </a:spcAft>
            </a:pPr>
            <a:r>
              <a:rPr sz="1600" b="0">
                <a:solidFill>
                  <a:srgbClr val="C0392B"/>
                </a:solidFill>
                <a:latin typeface="Calibri"/>
              </a:rPr>
              <a:t>–  One shared PBS-5min control serves BOTH Netrin timepoints — there is no independent PBS-15min control.</a:t>
            </a:r>
          </a:p>
          <a:p>
            <a:pPr marL="274320" indent="0">
              <a:lnSpc>
                <a:spcPct val="104000"/>
              </a:lnSpc>
              <a:spcBef>
                <a:spcPts val="0"/>
              </a:spcBef>
              <a:spcAft>
                <a:spcPts val="800"/>
              </a:spcAft>
            </a:pPr>
            <a:r>
              <a:rPr sz="1600" b="0">
                <a:solidFill>
                  <a:srgbClr val="C0392B"/>
                </a:solidFill>
                <a:latin typeface="Calibri"/>
              </a:rPr>
              <a:t>–  → confounds the 15-vs-0 contrast; main results use 5v0 and 15v5.</a:t>
            </a:r>
          </a:p>
        </p:txBody>
      </p:sp>
      <p:sp>
        <p:nvSpPr>
          <p:cNvPr id="9" name="Rectangle 8"/>
          <p:cNvSpPr/>
          <p:nvPr/>
        </p:nvSpPr>
        <p:spPr>
          <a:xfrm>
            <a:off x="7178040" y="1463040"/>
            <a:ext cx="4251960" cy="4023360"/>
          </a:xfrm>
          <a:prstGeom prst="rect">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60920" y="1600200"/>
            <a:ext cx="3931920" cy="365760"/>
          </a:xfrm>
          <a:prstGeom prst="rect">
            <a:avLst/>
          </a:prstGeom>
          <a:noFill/>
        </p:spPr>
        <p:txBody>
          <a:bodyPr wrap="square" anchor="t">
            <a:spAutoFit/>
          </a:bodyPr>
          <a:lstStyle/>
          <a:p>
            <a:pPr algn="l">
              <a:lnSpc>
                <a:spcPct val="100000"/>
              </a:lnSpc>
              <a:spcBef>
                <a:spcPts val="0"/>
              </a:spcBef>
              <a:spcAft>
                <a:spcPts val="0"/>
              </a:spcAft>
            </a:pPr>
            <a:r>
              <a:rPr sz="1200" b="1" i="0">
                <a:solidFill>
                  <a:srgbClr val="0E5A61"/>
                </a:solidFill>
                <a:latin typeface="Calibri"/>
              </a:rPr>
              <a:t>9 SAMPLES = 3 CONDITIONS × 3 REPLICATES</a:t>
            </a:r>
          </a:p>
        </p:txBody>
      </p:sp>
      <p:sp>
        <p:nvSpPr>
          <p:cNvPr id="11" name="TextBox 10"/>
          <p:cNvSpPr txBox="1"/>
          <p:nvPr/>
        </p:nvSpPr>
        <p:spPr>
          <a:xfrm>
            <a:off x="7360920" y="2148840"/>
            <a:ext cx="3840480" cy="274320"/>
          </a:xfrm>
          <a:prstGeom prst="rect">
            <a:avLst/>
          </a:prstGeom>
          <a:noFill/>
        </p:spPr>
        <p:txBody>
          <a:bodyPr wrap="square" anchor="t">
            <a:spAutoFit/>
          </a:bodyPr>
          <a:lstStyle/>
          <a:p>
            <a:pPr algn="l">
              <a:lnSpc>
                <a:spcPct val="100000"/>
              </a:lnSpc>
              <a:spcBef>
                <a:spcPts val="0"/>
              </a:spcBef>
              <a:spcAft>
                <a:spcPts val="0"/>
              </a:spcAft>
            </a:pPr>
            <a:r>
              <a:rPr sz="1400" b="1" i="0">
                <a:solidFill>
                  <a:srgbClr val="444A52"/>
                </a:solidFill>
                <a:latin typeface="Calibri"/>
              </a:rPr>
              <a:t>Vehicle / 0 min</a:t>
            </a:r>
          </a:p>
        </p:txBody>
      </p:sp>
      <p:sp>
        <p:nvSpPr>
          <p:cNvPr id="12" name="Rectangle 11"/>
          <p:cNvSpPr/>
          <p:nvPr/>
        </p:nvSpPr>
        <p:spPr>
          <a:xfrm>
            <a:off x="7406640" y="2468880"/>
            <a:ext cx="1097280" cy="502920"/>
          </a:xfrm>
          <a:prstGeom prst="rect">
            <a:avLst/>
          </a:prstGeom>
          <a:solidFill>
            <a:srgbClr val="444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06640" y="2542032"/>
            <a:ext cx="1097280" cy="365760"/>
          </a:xfrm>
          <a:prstGeom prst="rect">
            <a:avLst/>
          </a:prstGeom>
          <a:noFill/>
        </p:spPr>
        <p:txBody>
          <a:bodyPr wrap="square" anchor="t">
            <a:spAutoFit/>
          </a:bodyPr>
          <a:lstStyle/>
          <a:p>
            <a:pPr algn="ctr">
              <a:lnSpc>
                <a:spcPct val="100000"/>
              </a:lnSpc>
              <a:spcBef>
                <a:spcPts val="0"/>
              </a:spcBef>
              <a:spcAft>
                <a:spcPts val="0"/>
              </a:spcAft>
            </a:pPr>
            <a:r>
              <a:rPr sz="1200" b="1" i="0">
                <a:solidFill>
                  <a:srgbClr val="FFFFFF"/>
                </a:solidFill>
                <a:latin typeface="Calibri"/>
              </a:rPr>
              <a:t>rep 1</a:t>
            </a:r>
          </a:p>
        </p:txBody>
      </p:sp>
      <p:sp>
        <p:nvSpPr>
          <p:cNvPr id="14" name="Rectangle 13"/>
          <p:cNvSpPr/>
          <p:nvPr/>
        </p:nvSpPr>
        <p:spPr>
          <a:xfrm>
            <a:off x="8641080" y="2468880"/>
            <a:ext cx="1097280" cy="502920"/>
          </a:xfrm>
          <a:prstGeom prst="rect">
            <a:avLst/>
          </a:prstGeom>
          <a:solidFill>
            <a:srgbClr val="444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41080" y="2542032"/>
            <a:ext cx="1097280" cy="365760"/>
          </a:xfrm>
          <a:prstGeom prst="rect">
            <a:avLst/>
          </a:prstGeom>
          <a:noFill/>
        </p:spPr>
        <p:txBody>
          <a:bodyPr wrap="square" anchor="t">
            <a:spAutoFit/>
          </a:bodyPr>
          <a:lstStyle/>
          <a:p>
            <a:pPr algn="ctr">
              <a:lnSpc>
                <a:spcPct val="100000"/>
              </a:lnSpc>
              <a:spcBef>
                <a:spcPts val="0"/>
              </a:spcBef>
              <a:spcAft>
                <a:spcPts val="0"/>
              </a:spcAft>
            </a:pPr>
            <a:r>
              <a:rPr sz="1200" b="1" i="0">
                <a:solidFill>
                  <a:srgbClr val="FFFFFF"/>
                </a:solidFill>
                <a:latin typeface="Calibri"/>
              </a:rPr>
              <a:t>rep 2</a:t>
            </a:r>
          </a:p>
        </p:txBody>
      </p:sp>
      <p:sp>
        <p:nvSpPr>
          <p:cNvPr id="16" name="Rectangle 15"/>
          <p:cNvSpPr/>
          <p:nvPr/>
        </p:nvSpPr>
        <p:spPr>
          <a:xfrm>
            <a:off x="9875520" y="2468880"/>
            <a:ext cx="1097280" cy="502920"/>
          </a:xfrm>
          <a:prstGeom prst="rect">
            <a:avLst/>
          </a:prstGeom>
          <a:solidFill>
            <a:srgbClr val="444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75520" y="2542032"/>
            <a:ext cx="1097280" cy="365760"/>
          </a:xfrm>
          <a:prstGeom prst="rect">
            <a:avLst/>
          </a:prstGeom>
          <a:noFill/>
        </p:spPr>
        <p:txBody>
          <a:bodyPr wrap="square" anchor="t">
            <a:spAutoFit/>
          </a:bodyPr>
          <a:lstStyle/>
          <a:p>
            <a:pPr algn="ctr">
              <a:lnSpc>
                <a:spcPct val="100000"/>
              </a:lnSpc>
              <a:spcBef>
                <a:spcPts val="0"/>
              </a:spcBef>
              <a:spcAft>
                <a:spcPts val="0"/>
              </a:spcAft>
            </a:pPr>
            <a:r>
              <a:rPr sz="1200" b="1" i="0">
                <a:solidFill>
                  <a:srgbClr val="FFFFFF"/>
                </a:solidFill>
                <a:latin typeface="Calibri"/>
              </a:rPr>
              <a:t>rep 3</a:t>
            </a:r>
          </a:p>
        </p:txBody>
      </p:sp>
      <p:sp>
        <p:nvSpPr>
          <p:cNvPr id="18" name="TextBox 17"/>
          <p:cNvSpPr txBox="1"/>
          <p:nvPr/>
        </p:nvSpPr>
        <p:spPr>
          <a:xfrm>
            <a:off x="7360920" y="3227832"/>
            <a:ext cx="3840480" cy="274320"/>
          </a:xfrm>
          <a:prstGeom prst="rect">
            <a:avLst/>
          </a:prstGeom>
          <a:noFill/>
        </p:spPr>
        <p:txBody>
          <a:bodyPr wrap="square" anchor="t">
            <a:spAutoFit/>
          </a:bodyPr>
          <a:lstStyle/>
          <a:p>
            <a:pPr algn="l">
              <a:lnSpc>
                <a:spcPct val="100000"/>
              </a:lnSpc>
              <a:spcBef>
                <a:spcPts val="0"/>
              </a:spcBef>
              <a:spcAft>
                <a:spcPts val="0"/>
              </a:spcAft>
            </a:pPr>
            <a:r>
              <a:rPr sz="1400" b="1" i="0">
                <a:solidFill>
                  <a:srgbClr val="16828C"/>
                </a:solidFill>
                <a:latin typeface="Calibri"/>
              </a:rPr>
              <a:t>Netrin-1  5 min</a:t>
            </a:r>
          </a:p>
        </p:txBody>
      </p:sp>
      <p:sp>
        <p:nvSpPr>
          <p:cNvPr id="19" name="Rectangle 18"/>
          <p:cNvSpPr/>
          <p:nvPr/>
        </p:nvSpPr>
        <p:spPr>
          <a:xfrm>
            <a:off x="7406640" y="3547872"/>
            <a:ext cx="1097280" cy="50292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06640" y="3621024"/>
            <a:ext cx="1097280" cy="365760"/>
          </a:xfrm>
          <a:prstGeom prst="rect">
            <a:avLst/>
          </a:prstGeom>
          <a:noFill/>
        </p:spPr>
        <p:txBody>
          <a:bodyPr wrap="square" anchor="t">
            <a:spAutoFit/>
          </a:bodyPr>
          <a:lstStyle/>
          <a:p>
            <a:pPr algn="ctr">
              <a:lnSpc>
                <a:spcPct val="100000"/>
              </a:lnSpc>
              <a:spcBef>
                <a:spcPts val="0"/>
              </a:spcBef>
              <a:spcAft>
                <a:spcPts val="0"/>
              </a:spcAft>
            </a:pPr>
            <a:r>
              <a:rPr sz="1200" b="1" i="0">
                <a:solidFill>
                  <a:srgbClr val="FFFFFF"/>
                </a:solidFill>
                <a:latin typeface="Calibri"/>
              </a:rPr>
              <a:t>rep 1</a:t>
            </a:r>
          </a:p>
        </p:txBody>
      </p:sp>
      <p:sp>
        <p:nvSpPr>
          <p:cNvPr id="21" name="Rectangle 20"/>
          <p:cNvSpPr/>
          <p:nvPr/>
        </p:nvSpPr>
        <p:spPr>
          <a:xfrm>
            <a:off x="8641080" y="3547872"/>
            <a:ext cx="1097280" cy="50292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41080" y="3621024"/>
            <a:ext cx="1097280" cy="365760"/>
          </a:xfrm>
          <a:prstGeom prst="rect">
            <a:avLst/>
          </a:prstGeom>
          <a:noFill/>
        </p:spPr>
        <p:txBody>
          <a:bodyPr wrap="square" anchor="t">
            <a:spAutoFit/>
          </a:bodyPr>
          <a:lstStyle/>
          <a:p>
            <a:pPr algn="ctr">
              <a:lnSpc>
                <a:spcPct val="100000"/>
              </a:lnSpc>
              <a:spcBef>
                <a:spcPts val="0"/>
              </a:spcBef>
              <a:spcAft>
                <a:spcPts val="0"/>
              </a:spcAft>
            </a:pPr>
            <a:r>
              <a:rPr sz="1200" b="1" i="0">
                <a:solidFill>
                  <a:srgbClr val="FFFFFF"/>
                </a:solidFill>
                <a:latin typeface="Calibri"/>
              </a:rPr>
              <a:t>rep 2</a:t>
            </a:r>
          </a:p>
        </p:txBody>
      </p:sp>
      <p:sp>
        <p:nvSpPr>
          <p:cNvPr id="23" name="Rectangle 22"/>
          <p:cNvSpPr/>
          <p:nvPr/>
        </p:nvSpPr>
        <p:spPr>
          <a:xfrm>
            <a:off x="9875520" y="3547872"/>
            <a:ext cx="1097280" cy="50292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875520" y="3621024"/>
            <a:ext cx="1097280" cy="365760"/>
          </a:xfrm>
          <a:prstGeom prst="rect">
            <a:avLst/>
          </a:prstGeom>
          <a:noFill/>
        </p:spPr>
        <p:txBody>
          <a:bodyPr wrap="square" anchor="t">
            <a:spAutoFit/>
          </a:bodyPr>
          <a:lstStyle/>
          <a:p>
            <a:pPr algn="ctr">
              <a:lnSpc>
                <a:spcPct val="100000"/>
              </a:lnSpc>
              <a:spcBef>
                <a:spcPts val="0"/>
              </a:spcBef>
              <a:spcAft>
                <a:spcPts val="0"/>
              </a:spcAft>
            </a:pPr>
            <a:r>
              <a:rPr sz="1200" b="1" i="0">
                <a:solidFill>
                  <a:srgbClr val="FFFFFF"/>
                </a:solidFill>
                <a:latin typeface="Calibri"/>
              </a:rPr>
              <a:t>rep 3</a:t>
            </a:r>
          </a:p>
        </p:txBody>
      </p:sp>
      <p:sp>
        <p:nvSpPr>
          <p:cNvPr id="25" name="TextBox 24"/>
          <p:cNvSpPr txBox="1"/>
          <p:nvPr/>
        </p:nvSpPr>
        <p:spPr>
          <a:xfrm>
            <a:off x="7360920" y="4306824"/>
            <a:ext cx="3840480" cy="274320"/>
          </a:xfrm>
          <a:prstGeom prst="rect">
            <a:avLst/>
          </a:prstGeom>
          <a:noFill/>
        </p:spPr>
        <p:txBody>
          <a:bodyPr wrap="square" anchor="t">
            <a:spAutoFit/>
          </a:bodyPr>
          <a:lstStyle/>
          <a:p>
            <a:pPr algn="l">
              <a:lnSpc>
                <a:spcPct val="100000"/>
              </a:lnSpc>
              <a:spcBef>
                <a:spcPts val="0"/>
              </a:spcBef>
              <a:spcAft>
                <a:spcPts val="0"/>
              </a:spcAft>
            </a:pPr>
            <a:r>
              <a:rPr sz="1400" b="1" i="0">
                <a:solidFill>
                  <a:srgbClr val="102A43"/>
                </a:solidFill>
                <a:latin typeface="Calibri"/>
              </a:rPr>
              <a:t>Netrin-1  15 min</a:t>
            </a:r>
          </a:p>
        </p:txBody>
      </p:sp>
      <p:sp>
        <p:nvSpPr>
          <p:cNvPr id="26" name="Rectangle 25"/>
          <p:cNvSpPr/>
          <p:nvPr/>
        </p:nvSpPr>
        <p:spPr>
          <a:xfrm>
            <a:off x="7406640" y="4626864"/>
            <a:ext cx="1097280" cy="5029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06640" y="4700016"/>
            <a:ext cx="1097280" cy="365760"/>
          </a:xfrm>
          <a:prstGeom prst="rect">
            <a:avLst/>
          </a:prstGeom>
          <a:noFill/>
        </p:spPr>
        <p:txBody>
          <a:bodyPr wrap="square" anchor="t">
            <a:spAutoFit/>
          </a:bodyPr>
          <a:lstStyle/>
          <a:p>
            <a:pPr algn="ctr">
              <a:lnSpc>
                <a:spcPct val="100000"/>
              </a:lnSpc>
              <a:spcBef>
                <a:spcPts val="0"/>
              </a:spcBef>
              <a:spcAft>
                <a:spcPts val="0"/>
              </a:spcAft>
            </a:pPr>
            <a:r>
              <a:rPr sz="1200" b="1" i="0">
                <a:solidFill>
                  <a:srgbClr val="FFFFFF"/>
                </a:solidFill>
                <a:latin typeface="Calibri"/>
              </a:rPr>
              <a:t>rep 1</a:t>
            </a:r>
          </a:p>
        </p:txBody>
      </p:sp>
      <p:sp>
        <p:nvSpPr>
          <p:cNvPr id="28" name="Rectangle 27"/>
          <p:cNvSpPr/>
          <p:nvPr/>
        </p:nvSpPr>
        <p:spPr>
          <a:xfrm>
            <a:off x="8641080" y="4626864"/>
            <a:ext cx="1097280" cy="5029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41080" y="4700016"/>
            <a:ext cx="1097280" cy="365760"/>
          </a:xfrm>
          <a:prstGeom prst="rect">
            <a:avLst/>
          </a:prstGeom>
          <a:noFill/>
        </p:spPr>
        <p:txBody>
          <a:bodyPr wrap="square" anchor="t">
            <a:spAutoFit/>
          </a:bodyPr>
          <a:lstStyle/>
          <a:p>
            <a:pPr algn="ctr">
              <a:lnSpc>
                <a:spcPct val="100000"/>
              </a:lnSpc>
              <a:spcBef>
                <a:spcPts val="0"/>
              </a:spcBef>
              <a:spcAft>
                <a:spcPts val="0"/>
              </a:spcAft>
            </a:pPr>
            <a:r>
              <a:rPr sz="1200" b="1" i="0">
                <a:solidFill>
                  <a:srgbClr val="FFFFFF"/>
                </a:solidFill>
                <a:latin typeface="Calibri"/>
              </a:rPr>
              <a:t>rep 2</a:t>
            </a:r>
          </a:p>
        </p:txBody>
      </p:sp>
      <p:sp>
        <p:nvSpPr>
          <p:cNvPr id="30" name="Rectangle 29"/>
          <p:cNvSpPr/>
          <p:nvPr/>
        </p:nvSpPr>
        <p:spPr>
          <a:xfrm>
            <a:off x="9875520" y="4626864"/>
            <a:ext cx="1097280" cy="5029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875520" y="4700016"/>
            <a:ext cx="1097280" cy="365760"/>
          </a:xfrm>
          <a:prstGeom prst="rect">
            <a:avLst/>
          </a:prstGeom>
          <a:noFill/>
        </p:spPr>
        <p:txBody>
          <a:bodyPr wrap="square" anchor="t">
            <a:spAutoFit/>
          </a:bodyPr>
          <a:lstStyle/>
          <a:p>
            <a:pPr algn="ctr">
              <a:lnSpc>
                <a:spcPct val="100000"/>
              </a:lnSpc>
              <a:spcBef>
                <a:spcPts val="0"/>
              </a:spcBef>
              <a:spcAft>
                <a:spcPts val="0"/>
              </a:spcAft>
            </a:pPr>
            <a:r>
              <a:rPr sz="1200" b="1" i="0">
                <a:solidFill>
                  <a:srgbClr val="FFFFFF"/>
                </a:solidFill>
                <a:latin typeface="Calibri"/>
              </a:rPr>
              <a:t>rep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METHODS</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Analysis pipeline</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7</a:t>
            </a:r>
          </a:p>
        </p:txBody>
      </p:sp>
      <p:sp>
        <p:nvSpPr>
          <p:cNvPr id="8" name="Rectangle 7"/>
          <p:cNvSpPr/>
          <p:nvPr/>
        </p:nvSpPr>
        <p:spPr>
          <a:xfrm>
            <a:off x="640080" y="2286000"/>
            <a:ext cx="2002536" cy="2011680"/>
          </a:xfrm>
          <a:prstGeom prst="rect">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2286000"/>
            <a:ext cx="2002536" cy="64008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395728"/>
            <a:ext cx="1911096" cy="457200"/>
          </a:xfrm>
          <a:prstGeom prst="rect">
            <a:avLst/>
          </a:prstGeom>
          <a:noFill/>
        </p:spPr>
        <p:txBody>
          <a:bodyPr wrap="square" anchor="ctr">
            <a:spAutoFit/>
          </a:bodyPr>
          <a:lstStyle/>
          <a:p>
            <a:pPr algn="ctr">
              <a:lnSpc>
                <a:spcPct val="100000"/>
              </a:lnSpc>
              <a:spcBef>
                <a:spcPts val="0"/>
              </a:spcBef>
              <a:spcAft>
                <a:spcPts val="0"/>
              </a:spcAft>
            </a:pPr>
            <a:r>
              <a:rPr sz="1400" b="1" i="0">
                <a:solidFill>
                  <a:srgbClr val="FFFFFF"/>
                </a:solidFill>
                <a:latin typeface="Calibri"/>
              </a:rPr>
              <a:t>DRAGEN Salmon</a:t>
            </a:r>
          </a:p>
        </p:txBody>
      </p:sp>
      <p:sp>
        <p:nvSpPr>
          <p:cNvPr id="11" name="TextBox 10"/>
          <p:cNvSpPr txBox="1"/>
          <p:nvPr/>
        </p:nvSpPr>
        <p:spPr>
          <a:xfrm>
            <a:off x="713232" y="3063240"/>
            <a:ext cx="1856232" cy="1188720"/>
          </a:xfrm>
          <a:prstGeom prst="rect">
            <a:avLst/>
          </a:prstGeom>
          <a:noFill/>
        </p:spPr>
        <p:txBody>
          <a:bodyPr wrap="square" anchor="t">
            <a:spAutoFit/>
          </a:bodyPr>
          <a:lstStyle/>
          <a:p>
            <a:pPr algn="ctr">
              <a:lnSpc>
                <a:spcPct val="105000"/>
              </a:lnSpc>
              <a:spcBef>
                <a:spcPts val="0"/>
              </a:spcBef>
              <a:spcAft>
                <a:spcPts val="400"/>
              </a:spcAft>
            </a:pPr>
            <a:r>
              <a:rPr sz="1250" b="0" i="0">
                <a:solidFill>
                  <a:srgbClr val="444A52"/>
                </a:solidFill>
                <a:latin typeface="Calibri"/>
              </a:rPr>
              <a:t>gene-level quant</a:t>
            </a:r>
          </a:p>
          <a:p>
            <a:pPr algn="ctr">
              <a:lnSpc>
                <a:spcPct val="105000"/>
              </a:lnSpc>
              <a:spcBef>
                <a:spcPts val="0"/>
              </a:spcBef>
              <a:spcAft>
                <a:spcPts val="400"/>
              </a:spcAft>
            </a:pPr>
            <a:r>
              <a:rPr sz="1250" b="0" i="0">
                <a:solidFill>
                  <a:srgbClr val="444A52"/>
                </a:solidFill>
                <a:latin typeface="Calibri"/>
              </a:rPr>
              <a:t>(quant.genes.sf)</a:t>
            </a:r>
          </a:p>
        </p:txBody>
      </p:sp>
      <p:sp>
        <p:nvSpPr>
          <p:cNvPr id="12" name="TextBox 11"/>
          <p:cNvSpPr txBox="1"/>
          <p:nvPr/>
        </p:nvSpPr>
        <p:spPr>
          <a:xfrm>
            <a:off x="2624328" y="2971800"/>
            <a:ext cx="320040" cy="457200"/>
          </a:xfrm>
          <a:prstGeom prst="rect">
            <a:avLst/>
          </a:prstGeom>
          <a:noFill/>
        </p:spPr>
        <p:txBody>
          <a:bodyPr wrap="square" anchor="t">
            <a:spAutoFit/>
          </a:bodyPr>
          <a:lstStyle/>
          <a:p>
            <a:pPr algn="ctr">
              <a:lnSpc>
                <a:spcPct val="100000"/>
              </a:lnSpc>
              <a:spcBef>
                <a:spcPts val="0"/>
              </a:spcBef>
              <a:spcAft>
                <a:spcPts val="0"/>
              </a:spcAft>
            </a:pPr>
            <a:r>
              <a:rPr sz="2200" b="1" i="0">
                <a:solidFill>
                  <a:srgbClr val="16828C"/>
                </a:solidFill>
                <a:latin typeface="Calibri"/>
              </a:rPr>
              <a:t>→</a:t>
            </a:r>
          </a:p>
        </p:txBody>
      </p:sp>
      <p:sp>
        <p:nvSpPr>
          <p:cNvPr id="13" name="Rectangle 12"/>
          <p:cNvSpPr/>
          <p:nvPr/>
        </p:nvSpPr>
        <p:spPr>
          <a:xfrm>
            <a:off x="2871216" y="2286000"/>
            <a:ext cx="2002536" cy="2011680"/>
          </a:xfrm>
          <a:prstGeom prst="rect">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871216" y="2286000"/>
            <a:ext cx="2002536" cy="640080"/>
          </a:xfrm>
          <a:prstGeom prst="rect">
            <a:avLst/>
          </a:prstGeom>
          <a:solidFill>
            <a:srgbClr val="0E5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16936" y="2395728"/>
            <a:ext cx="1911096" cy="457200"/>
          </a:xfrm>
          <a:prstGeom prst="rect">
            <a:avLst/>
          </a:prstGeom>
          <a:noFill/>
        </p:spPr>
        <p:txBody>
          <a:bodyPr wrap="square" anchor="ctr">
            <a:spAutoFit/>
          </a:bodyPr>
          <a:lstStyle/>
          <a:p>
            <a:pPr algn="ctr">
              <a:lnSpc>
                <a:spcPct val="100000"/>
              </a:lnSpc>
              <a:spcBef>
                <a:spcPts val="0"/>
              </a:spcBef>
              <a:spcAft>
                <a:spcPts val="0"/>
              </a:spcAft>
            </a:pPr>
            <a:r>
              <a:rPr sz="1400" b="1" i="0">
                <a:solidFill>
                  <a:srgbClr val="FFFFFF"/>
                </a:solidFill>
                <a:latin typeface="Calibri"/>
              </a:rPr>
              <a:t>tximport → DESeq2</a:t>
            </a:r>
          </a:p>
        </p:txBody>
      </p:sp>
      <p:sp>
        <p:nvSpPr>
          <p:cNvPr id="16" name="TextBox 15"/>
          <p:cNvSpPr txBox="1"/>
          <p:nvPr/>
        </p:nvSpPr>
        <p:spPr>
          <a:xfrm>
            <a:off x="2944368" y="3063240"/>
            <a:ext cx="1856232" cy="1188720"/>
          </a:xfrm>
          <a:prstGeom prst="rect">
            <a:avLst/>
          </a:prstGeom>
          <a:noFill/>
        </p:spPr>
        <p:txBody>
          <a:bodyPr wrap="square" anchor="t">
            <a:spAutoFit/>
          </a:bodyPr>
          <a:lstStyle/>
          <a:p>
            <a:pPr algn="ctr">
              <a:lnSpc>
                <a:spcPct val="105000"/>
              </a:lnSpc>
              <a:spcBef>
                <a:spcPts val="0"/>
              </a:spcBef>
              <a:spcAft>
                <a:spcPts val="400"/>
              </a:spcAft>
            </a:pPr>
            <a:r>
              <a:rPr sz="1250" b="0" i="0">
                <a:solidFill>
                  <a:srgbClr val="444A52"/>
                </a:solidFill>
                <a:latin typeface="Calibri"/>
              </a:rPr>
              <a:t>length-offset import</a:t>
            </a:r>
          </a:p>
          <a:p>
            <a:pPr algn="ctr">
              <a:lnSpc>
                <a:spcPct val="105000"/>
              </a:lnSpc>
              <a:spcBef>
                <a:spcPts val="0"/>
              </a:spcBef>
              <a:spcAft>
                <a:spcPts val="400"/>
              </a:spcAft>
            </a:pPr>
            <a:r>
              <a:rPr sz="1250" b="0" i="0">
                <a:solidFill>
                  <a:srgbClr val="444A52"/>
                </a:solidFill>
                <a:latin typeface="Calibri"/>
              </a:rPr>
              <a:t>32,623 → 14,161 genes</a:t>
            </a:r>
          </a:p>
        </p:txBody>
      </p:sp>
      <p:sp>
        <p:nvSpPr>
          <p:cNvPr id="17" name="TextBox 16"/>
          <p:cNvSpPr txBox="1"/>
          <p:nvPr/>
        </p:nvSpPr>
        <p:spPr>
          <a:xfrm>
            <a:off x="4855464" y="2971800"/>
            <a:ext cx="320040" cy="457200"/>
          </a:xfrm>
          <a:prstGeom prst="rect">
            <a:avLst/>
          </a:prstGeom>
          <a:noFill/>
        </p:spPr>
        <p:txBody>
          <a:bodyPr wrap="square" anchor="t">
            <a:spAutoFit/>
          </a:bodyPr>
          <a:lstStyle/>
          <a:p>
            <a:pPr algn="ctr">
              <a:lnSpc>
                <a:spcPct val="100000"/>
              </a:lnSpc>
              <a:spcBef>
                <a:spcPts val="0"/>
              </a:spcBef>
              <a:spcAft>
                <a:spcPts val="0"/>
              </a:spcAft>
            </a:pPr>
            <a:r>
              <a:rPr sz="2200" b="1" i="0">
                <a:solidFill>
                  <a:srgbClr val="16828C"/>
                </a:solidFill>
                <a:latin typeface="Calibri"/>
              </a:rPr>
              <a:t>→</a:t>
            </a:r>
          </a:p>
        </p:txBody>
      </p:sp>
      <p:sp>
        <p:nvSpPr>
          <p:cNvPr id="18" name="Rectangle 17"/>
          <p:cNvSpPr/>
          <p:nvPr/>
        </p:nvSpPr>
        <p:spPr>
          <a:xfrm>
            <a:off x="5102352" y="2286000"/>
            <a:ext cx="2002536" cy="2011680"/>
          </a:xfrm>
          <a:prstGeom prst="rect">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02352" y="2286000"/>
            <a:ext cx="2002536" cy="64008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48072" y="2395728"/>
            <a:ext cx="1911096" cy="457200"/>
          </a:xfrm>
          <a:prstGeom prst="rect">
            <a:avLst/>
          </a:prstGeom>
          <a:noFill/>
        </p:spPr>
        <p:txBody>
          <a:bodyPr wrap="square" anchor="ctr">
            <a:spAutoFit/>
          </a:bodyPr>
          <a:lstStyle/>
          <a:p>
            <a:pPr algn="ctr">
              <a:lnSpc>
                <a:spcPct val="100000"/>
              </a:lnSpc>
              <a:spcBef>
                <a:spcPts val="0"/>
              </a:spcBef>
              <a:spcAft>
                <a:spcPts val="0"/>
              </a:spcAft>
            </a:pPr>
            <a:r>
              <a:rPr sz="1400" b="1" i="0">
                <a:solidFill>
                  <a:srgbClr val="FFFFFF"/>
                </a:solidFill>
                <a:latin typeface="Calibri"/>
              </a:rPr>
              <a:t>Differential expr.</a:t>
            </a:r>
          </a:p>
        </p:txBody>
      </p:sp>
      <p:sp>
        <p:nvSpPr>
          <p:cNvPr id="21" name="TextBox 20"/>
          <p:cNvSpPr txBox="1"/>
          <p:nvPr/>
        </p:nvSpPr>
        <p:spPr>
          <a:xfrm>
            <a:off x="5175504" y="3063240"/>
            <a:ext cx="1856232" cy="1188720"/>
          </a:xfrm>
          <a:prstGeom prst="rect">
            <a:avLst/>
          </a:prstGeom>
          <a:noFill/>
        </p:spPr>
        <p:txBody>
          <a:bodyPr wrap="square" anchor="t">
            <a:spAutoFit/>
          </a:bodyPr>
          <a:lstStyle/>
          <a:p>
            <a:pPr algn="ctr">
              <a:lnSpc>
                <a:spcPct val="105000"/>
              </a:lnSpc>
              <a:spcBef>
                <a:spcPts val="0"/>
              </a:spcBef>
              <a:spcAft>
                <a:spcPts val="400"/>
              </a:spcAft>
            </a:pPr>
            <a:r>
              <a:rPr sz="1250" b="0" i="0">
                <a:solidFill>
                  <a:srgbClr val="444A52"/>
                </a:solidFill>
                <a:latin typeface="Calibri"/>
              </a:rPr>
              <a:t>~ replicate + timepoint</a:t>
            </a:r>
          </a:p>
          <a:p>
            <a:pPr algn="ctr">
              <a:lnSpc>
                <a:spcPct val="105000"/>
              </a:lnSpc>
              <a:spcBef>
                <a:spcPts val="0"/>
              </a:spcBef>
              <a:spcAft>
                <a:spcPts val="400"/>
              </a:spcAft>
            </a:pPr>
            <a:r>
              <a:rPr sz="1250" b="0" i="0">
                <a:solidFill>
                  <a:srgbClr val="444A52"/>
                </a:solidFill>
                <a:latin typeface="Calibri"/>
              </a:rPr>
              <a:t>Wald: 5v0 · 15v0 · 15v5  +  LRT</a:t>
            </a:r>
          </a:p>
        </p:txBody>
      </p:sp>
      <p:sp>
        <p:nvSpPr>
          <p:cNvPr id="22" name="TextBox 21"/>
          <p:cNvSpPr txBox="1"/>
          <p:nvPr/>
        </p:nvSpPr>
        <p:spPr>
          <a:xfrm>
            <a:off x="7086600" y="2971800"/>
            <a:ext cx="320040" cy="457200"/>
          </a:xfrm>
          <a:prstGeom prst="rect">
            <a:avLst/>
          </a:prstGeom>
          <a:noFill/>
        </p:spPr>
        <p:txBody>
          <a:bodyPr wrap="square" anchor="t">
            <a:spAutoFit/>
          </a:bodyPr>
          <a:lstStyle/>
          <a:p>
            <a:pPr algn="ctr">
              <a:lnSpc>
                <a:spcPct val="100000"/>
              </a:lnSpc>
              <a:spcBef>
                <a:spcPts val="0"/>
              </a:spcBef>
              <a:spcAft>
                <a:spcPts val="0"/>
              </a:spcAft>
            </a:pPr>
            <a:r>
              <a:rPr sz="2200" b="1" i="0">
                <a:solidFill>
                  <a:srgbClr val="16828C"/>
                </a:solidFill>
                <a:latin typeface="Calibri"/>
              </a:rPr>
              <a:t>→</a:t>
            </a:r>
          </a:p>
        </p:txBody>
      </p:sp>
      <p:sp>
        <p:nvSpPr>
          <p:cNvPr id="23" name="Rectangle 22"/>
          <p:cNvSpPr/>
          <p:nvPr/>
        </p:nvSpPr>
        <p:spPr>
          <a:xfrm>
            <a:off x="7333488" y="2286000"/>
            <a:ext cx="2002536" cy="2011680"/>
          </a:xfrm>
          <a:prstGeom prst="rect">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333488" y="2286000"/>
            <a:ext cx="2002536" cy="640080"/>
          </a:xfrm>
          <a:prstGeom prst="rect">
            <a:avLst/>
          </a:prstGeom>
          <a:solidFill>
            <a:srgbClr val="0E5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79208" y="2395728"/>
            <a:ext cx="1911096" cy="457200"/>
          </a:xfrm>
          <a:prstGeom prst="rect">
            <a:avLst/>
          </a:prstGeom>
          <a:noFill/>
        </p:spPr>
        <p:txBody>
          <a:bodyPr wrap="square" anchor="ctr">
            <a:spAutoFit/>
          </a:bodyPr>
          <a:lstStyle/>
          <a:p>
            <a:pPr algn="ctr">
              <a:lnSpc>
                <a:spcPct val="100000"/>
              </a:lnSpc>
              <a:spcBef>
                <a:spcPts val="0"/>
              </a:spcBef>
              <a:spcAft>
                <a:spcPts val="0"/>
              </a:spcAft>
            </a:pPr>
            <a:r>
              <a:rPr sz="1400" b="1" i="0">
                <a:solidFill>
                  <a:srgbClr val="FFFFFF"/>
                </a:solidFill>
                <a:latin typeface="Calibri"/>
              </a:rPr>
              <a:t>GSEA</a:t>
            </a:r>
          </a:p>
        </p:txBody>
      </p:sp>
      <p:sp>
        <p:nvSpPr>
          <p:cNvPr id="26" name="TextBox 25"/>
          <p:cNvSpPr txBox="1"/>
          <p:nvPr/>
        </p:nvSpPr>
        <p:spPr>
          <a:xfrm>
            <a:off x="7406640" y="3063240"/>
            <a:ext cx="1856232" cy="1188720"/>
          </a:xfrm>
          <a:prstGeom prst="rect">
            <a:avLst/>
          </a:prstGeom>
          <a:noFill/>
        </p:spPr>
        <p:txBody>
          <a:bodyPr wrap="square" anchor="t">
            <a:spAutoFit/>
          </a:bodyPr>
          <a:lstStyle/>
          <a:p>
            <a:pPr algn="ctr">
              <a:lnSpc>
                <a:spcPct val="105000"/>
              </a:lnSpc>
              <a:spcBef>
                <a:spcPts val="0"/>
              </a:spcBef>
              <a:spcAft>
                <a:spcPts val="400"/>
              </a:spcAft>
            </a:pPr>
            <a:r>
              <a:rPr sz="1250" b="0" i="0">
                <a:solidFill>
                  <a:srgbClr val="444A52"/>
                </a:solidFill>
                <a:latin typeface="Calibri"/>
              </a:rPr>
              <a:t>gseGO(BP) + gseKEGG</a:t>
            </a:r>
          </a:p>
          <a:p>
            <a:pPr algn="ctr">
              <a:lnSpc>
                <a:spcPct val="105000"/>
              </a:lnSpc>
              <a:spcBef>
                <a:spcPts val="0"/>
              </a:spcBef>
              <a:spcAft>
                <a:spcPts val="400"/>
              </a:spcAft>
            </a:pPr>
            <a:r>
              <a:rPr sz="1250" b="0" i="0">
                <a:solidFill>
                  <a:srgbClr val="444A52"/>
                </a:solidFill>
                <a:latin typeface="Calibri"/>
              </a:rPr>
              <a:t>ranked by Wald stat</a:t>
            </a:r>
          </a:p>
        </p:txBody>
      </p:sp>
      <p:sp>
        <p:nvSpPr>
          <p:cNvPr id="27" name="TextBox 26"/>
          <p:cNvSpPr txBox="1"/>
          <p:nvPr/>
        </p:nvSpPr>
        <p:spPr>
          <a:xfrm>
            <a:off x="9317736" y="2971800"/>
            <a:ext cx="320040" cy="457200"/>
          </a:xfrm>
          <a:prstGeom prst="rect">
            <a:avLst/>
          </a:prstGeom>
          <a:noFill/>
        </p:spPr>
        <p:txBody>
          <a:bodyPr wrap="square" anchor="t">
            <a:spAutoFit/>
          </a:bodyPr>
          <a:lstStyle/>
          <a:p>
            <a:pPr algn="ctr">
              <a:lnSpc>
                <a:spcPct val="100000"/>
              </a:lnSpc>
              <a:spcBef>
                <a:spcPts val="0"/>
              </a:spcBef>
              <a:spcAft>
                <a:spcPts val="0"/>
              </a:spcAft>
            </a:pPr>
            <a:r>
              <a:rPr sz="2200" b="1" i="0">
                <a:solidFill>
                  <a:srgbClr val="16828C"/>
                </a:solidFill>
                <a:latin typeface="Calibri"/>
              </a:rPr>
              <a:t>→</a:t>
            </a:r>
          </a:p>
        </p:txBody>
      </p:sp>
      <p:sp>
        <p:nvSpPr>
          <p:cNvPr id="28" name="Rectangle 27"/>
          <p:cNvSpPr/>
          <p:nvPr/>
        </p:nvSpPr>
        <p:spPr>
          <a:xfrm>
            <a:off x="9564624" y="2286000"/>
            <a:ext cx="2002536" cy="2011680"/>
          </a:xfrm>
          <a:prstGeom prst="rect">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564624" y="2286000"/>
            <a:ext cx="2002536" cy="64008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610344" y="2395728"/>
            <a:ext cx="1911096" cy="457200"/>
          </a:xfrm>
          <a:prstGeom prst="rect">
            <a:avLst/>
          </a:prstGeom>
          <a:noFill/>
        </p:spPr>
        <p:txBody>
          <a:bodyPr wrap="square" anchor="ctr">
            <a:spAutoFit/>
          </a:bodyPr>
          <a:lstStyle/>
          <a:p>
            <a:pPr algn="ctr">
              <a:lnSpc>
                <a:spcPct val="100000"/>
              </a:lnSpc>
              <a:spcBef>
                <a:spcPts val="0"/>
              </a:spcBef>
              <a:spcAft>
                <a:spcPts val="0"/>
              </a:spcAft>
            </a:pPr>
            <a:r>
              <a:rPr sz="1400" b="1" i="0">
                <a:solidFill>
                  <a:srgbClr val="FFFFFF"/>
                </a:solidFill>
                <a:latin typeface="Calibri"/>
              </a:rPr>
              <a:t>Integration</a:t>
            </a:r>
          </a:p>
        </p:txBody>
      </p:sp>
      <p:sp>
        <p:nvSpPr>
          <p:cNvPr id="31" name="TextBox 30"/>
          <p:cNvSpPr txBox="1"/>
          <p:nvPr/>
        </p:nvSpPr>
        <p:spPr>
          <a:xfrm>
            <a:off x="9637776" y="3063240"/>
            <a:ext cx="1856232" cy="1188720"/>
          </a:xfrm>
          <a:prstGeom prst="rect">
            <a:avLst/>
          </a:prstGeom>
          <a:noFill/>
        </p:spPr>
        <p:txBody>
          <a:bodyPr wrap="square" anchor="t">
            <a:spAutoFit/>
          </a:bodyPr>
          <a:lstStyle/>
          <a:p>
            <a:pPr algn="ctr">
              <a:lnSpc>
                <a:spcPct val="105000"/>
              </a:lnSpc>
              <a:spcBef>
                <a:spcPts val="0"/>
              </a:spcBef>
              <a:spcAft>
                <a:spcPts val="400"/>
              </a:spcAft>
            </a:pPr>
            <a:r>
              <a:rPr sz="1250" b="0" i="0">
                <a:solidFill>
                  <a:srgbClr val="444A52"/>
                </a:solidFill>
                <a:latin typeface="Calibri"/>
              </a:rPr>
              <a:t>transient-dynamics model</a:t>
            </a:r>
          </a:p>
          <a:p>
            <a:pPr algn="ctr">
              <a:lnSpc>
                <a:spcPct val="105000"/>
              </a:lnSpc>
              <a:spcBef>
                <a:spcPts val="0"/>
              </a:spcBef>
              <a:spcAft>
                <a:spcPts val="400"/>
              </a:spcAft>
            </a:pPr>
            <a:r>
              <a:rPr sz="1250" b="0" i="0">
                <a:solidFill>
                  <a:srgbClr val="444A52"/>
                </a:solidFill>
                <a:latin typeface="Calibri"/>
              </a:rPr>
              <a:t>5v0 vs 15v5 mirror</a:t>
            </a:r>
          </a:p>
        </p:txBody>
      </p:sp>
      <p:sp>
        <p:nvSpPr>
          <p:cNvPr id="32" name="TextBox 31"/>
          <p:cNvSpPr txBox="1"/>
          <p:nvPr/>
        </p:nvSpPr>
        <p:spPr>
          <a:xfrm>
            <a:off x="822960" y="4709160"/>
            <a:ext cx="10607040" cy="1463040"/>
          </a:xfrm>
          <a:prstGeom prst="rect">
            <a:avLst/>
          </a:prstGeom>
          <a:noFill/>
        </p:spPr>
        <p:txBody>
          <a:bodyPr wrap="square" anchor="t">
            <a:spAutoFit/>
          </a:bodyPr>
          <a:lstStyle/>
          <a:p>
            <a:pPr algn="l">
              <a:lnSpc>
                <a:spcPct val="108000"/>
              </a:lnSpc>
              <a:spcBef>
                <a:spcPts val="0"/>
              </a:spcBef>
              <a:spcAft>
                <a:spcPts val="0"/>
              </a:spcAft>
            </a:pPr>
            <a:r>
              <a:rPr sz="1500" b="0" i="0">
                <a:solidFill>
                  <a:srgbClr val="444A52"/>
                </a:solidFill>
                <a:latin typeface="Calibri"/>
              </a:rPr>
              <a:t>Quantification with DRAGEN Salmon at gene level; counts imported via tximport with a length offset into DESeq2. Two-pass filtering keeps 14,161 of 32,623 genes (85.6% mapped to SYMBOL via org.Rn.eg.db). DE model includes replicate as a batch term. Batch correction (limma) is used for visualization only — the DE tests use raw counts.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METHODS</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Statistical model &amp; significance</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8</a:t>
            </a:r>
          </a:p>
        </p:txBody>
      </p:sp>
      <p:sp>
        <p:nvSpPr>
          <p:cNvPr id="8" name="Rectangle 7"/>
          <p:cNvSpPr/>
          <p:nvPr/>
        </p:nvSpPr>
        <p:spPr>
          <a:xfrm>
            <a:off x="822960" y="1417320"/>
            <a:ext cx="5212080" cy="4663440"/>
          </a:xfrm>
          <a:prstGeom prst="rect">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2960" y="1417320"/>
            <a:ext cx="5212080" cy="50292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481328"/>
            <a:ext cx="4937760" cy="411480"/>
          </a:xfrm>
          <a:prstGeom prst="rect">
            <a:avLst/>
          </a:prstGeom>
          <a:noFill/>
        </p:spPr>
        <p:txBody>
          <a:bodyPr wrap="square" anchor="t">
            <a:spAutoFit/>
          </a:bodyPr>
          <a:lstStyle/>
          <a:p>
            <a:pPr algn="l">
              <a:lnSpc>
                <a:spcPct val="100000"/>
              </a:lnSpc>
              <a:spcBef>
                <a:spcPts val="0"/>
              </a:spcBef>
              <a:spcAft>
                <a:spcPts val="0"/>
              </a:spcAft>
            </a:pPr>
            <a:r>
              <a:rPr sz="1300" b="1" i="0">
                <a:solidFill>
                  <a:srgbClr val="FFFFFF"/>
                </a:solidFill>
                <a:latin typeface="Calibri"/>
              </a:rPr>
              <a:t>DIFFERENTIAL EXPRESSION</a:t>
            </a:r>
          </a:p>
        </p:txBody>
      </p:sp>
      <p:sp>
        <p:nvSpPr>
          <p:cNvPr id="11" name="TextBox 10"/>
          <p:cNvSpPr txBox="1"/>
          <p:nvPr/>
        </p:nvSpPr>
        <p:spPr>
          <a:xfrm>
            <a:off x="1005840" y="2103120"/>
            <a:ext cx="4846320" cy="3840480"/>
          </a:xfrm>
          <a:prstGeom prst="rect">
            <a:avLst/>
          </a:prstGeom>
          <a:noFill/>
        </p:spPr>
        <p:txBody>
          <a:bodyPr wrap="square">
            <a:spAutoFit/>
          </a:bodyPr>
          <a:lstStyle/>
          <a:p>
            <a:pPr marL="0" indent="0">
              <a:lnSpc>
                <a:spcPct val="104000"/>
              </a:lnSpc>
              <a:spcBef>
                <a:spcPts val="0"/>
              </a:spcBef>
              <a:spcAft>
                <a:spcPts val="700"/>
              </a:spcAft>
            </a:pPr>
            <a:r>
              <a:rPr sz="1550" b="0">
                <a:solidFill>
                  <a:srgbClr val="444A52"/>
                </a:solidFill>
                <a:latin typeface="Calibri"/>
              </a:rPr>
              <a:t>▸  Model:  ~ replicate + timepoint  (ref = Vehicle).</a:t>
            </a:r>
          </a:p>
          <a:p>
            <a:pPr marL="0" indent="0">
              <a:lnSpc>
                <a:spcPct val="104000"/>
              </a:lnSpc>
              <a:spcBef>
                <a:spcPts val="0"/>
              </a:spcBef>
              <a:spcAft>
                <a:spcPts val="700"/>
              </a:spcAft>
            </a:pPr>
            <a:r>
              <a:rPr sz="1550" b="0">
                <a:solidFill>
                  <a:srgbClr val="444A52"/>
                </a:solidFill>
                <a:latin typeface="Calibri"/>
              </a:rPr>
              <a:t>▸  Replicate is the dominant variance source:</a:t>
            </a:r>
          </a:p>
          <a:p>
            <a:pPr marL="274320" indent="0">
              <a:lnSpc>
                <a:spcPct val="104000"/>
              </a:lnSpc>
              <a:spcBef>
                <a:spcPts val="0"/>
              </a:spcBef>
              <a:spcAft>
                <a:spcPts val="700"/>
              </a:spcAft>
            </a:pPr>
            <a:r>
              <a:rPr sz="1450" b="0">
                <a:solidFill>
                  <a:srgbClr val="444A52"/>
                </a:solidFill>
                <a:latin typeface="Calibri"/>
              </a:rPr>
              <a:t>–  PCA: replicate ≈ 52%, timepoint ≈ 34%.</a:t>
            </a:r>
          </a:p>
          <a:p>
            <a:pPr marL="0" indent="0">
              <a:lnSpc>
                <a:spcPct val="104000"/>
              </a:lnSpc>
              <a:spcBef>
                <a:spcPts val="0"/>
              </a:spcBef>
              <a:spcAft>
                <a:spcPts val="700"/>
              </a:spcAft>
            </a:pPr>
            <a:r>
              <a:rPr sz="1550" b="0">
                <a:solidFill>
                  <a:srgbClr val="444A52"/>
                </a:solidFill>
                <a:latin typeface="Calibri"/>
              </a:rPr>
              <a:t>▸  Wald contrasts: 5v0, 15v0, 15v5.</a:t>
            </a:r>
          </a:p>
          <a:p>
            <a:pPr marL="0" indent="0">
              <a:lnSpc>
                <a:spcPct val="104000"/>
              </a:lnSpc>
              <a:spcBef>
                <a:spcPts val="0"/>
              </a:spcBef>
              <a:spcAft>
                <a:spcPts val="700"/>
              </a:spcAft>
            </a:pPr>
            <a:r>
              <a:rPr sz="1550" b="0">
                <a:solidFill>
                  <a:srgbClr val="444A52"/>
                </a:solidFill>
                <a:latin typeface="Calibri"/>
              </a:rPr>
              <a:t>▸  LRT (reduced ~ replicate) for time-varying genes.</a:t>
            </a:r>
          </a:p>
          <a:p>
            <a:pPr marL="0" indent="0">
              <a:lnSpc>
                <a:spcPct val="104000"/>
              </a:lnSpc>
              <a:spcBef>
                <a:spcPts val="0"/>
              </a:spcBef>
              <a:spcAft>
                <a:spcPts val="700"/>
              </a:spcAft>
            </a:pPr>
            <a:r>
              <a:rPr sz="1550" b="1">
                <a:solidFill>
                  <a:srgbClr val="444A52"/>
                </a:solidFill>
                <a:latin typeface="Calibri"/>
              </a:rPr>
              <a:t>▸  Significance tiers:</a:t>
            </a:r>
          </a:p>
          <a:p>
            <a:pPr marL="274320" indent="0">
              <a:lnSpc>
                <a:spcPct val="104000"/>
              </a:lnSpc>
              <a:spcBef>
                <a:spcPts val="0"/>
              </a:spcBef>
              <a:spcAft>
                <a:spcPts val="700"/>
              </a:spcAft>
            </a:pPr>
            <a:r>
              <a:rPr sz="1450" b="0">
                <a:solidFill>
                  <a:srgbClr val="444A52"/>
                </a:solidFill>
                <a:latin typeface="Calibri"/>
              </a:rPr>
              <a:t>–  RELAXED: padj &lt; 0.05</a:t>
            </a:r>
          </a:p>
          <a:p>
            <a:pPr marL="274320" indent="0">
              <a:lnSpc>
                <a:spcPct val="104000"/>
              </a:lnSpc>
              <a:spcBef>
                <a:spcPts val="0"/>
              </a:spcBef>
              <a:spcAft>
                <a:spcPts val="700"/>
              </a:spcAft>
            </a:pPr>
            <a:r>
              <a:rPr sz="1450" b="0">
                <a:solidFill>
                  <a:srgbClr val="444A52"/>
                </a:solidFill>
                <a:latin typeface="Calibri"/>
              </a:rPr>
              <a:t>–  STRICT: padj &lt; 0.05 &amp; |log2FC| &gt; 0.585 (FC &gt; 1.5)</a:t>
            </a:r>
          </a:p>
        </p:txBody>
      </p:sp>
      <p:sp>
        <p:nvSpPr>
          <p:cNvPr id="12" name="Rectangle 11"/>
          <p:cNvSpPr/>
          <p:nvPr/>
        </p:nvSpPr>
        <p:spPr>
          <a:xfrm>
            <a:off x="6263640" y="1417320"/>
            <a:ext cx="5166360" cy="4663440"/>
          </a:xfrm>
          <a:prstGeom prst="rect">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417320"/>
            <a:ext cx="5166360" cy="502920"/>
          </a:xfrm>
          <a:prstGeom prst="rect">
            <a:avLst/>
          </a:prstGeom>
          <a:solidFill>
            <a:srgbClr val="0E5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481328"/>
            <a:ext cx="4937760" cy="411480"/>
          </a:xfrm>
          <a:prstGeom prst="rect">
            <a:avLst/>
          </a:prstGeom>
          <a:noFill/>
        </p:spPr>
        <p:txBody>
          <a:bodyPr wrap="square" anchor="t">
            <a:spAutoFit/>
          </a:bodyPr>
          <a:lstStyle/>
          <a:p>
            <a:pPr algn="l">
              <a:lnSpc>
                <a:spcPct val="100000"/>
              </a:lnSpc>
              <a:spcBef>
                <a:spcPts val="0"/>
              </a:spcBef>
              <a:spcAft>
                <a:spcPts val="0"/>
              </a:spcAft>
            </a:pPr>
            <a:r>
              <a:rPr sz="1300" b="1" i="0">
                <a:solidFill>
                  <a:srgbClr val="FFFFFF"/>
                </a:solidFill>
                <a:latin typeface="Calibri"/>
              </a:rPr>
              <a:t>GENE-SET ENRICHMENT (GSEA)</a:t>
            </a:r>
          </a:p>
        </p:txBody>
      </p:sp>
      <p:sp>
        <p:nvSpPr>
          <p:cNvPr id="15" name="TextBox 14"/>
          <p:cNvSpPr txBox="1"/>
          <p:nvPr/>
        </p:nvSpPr>
        <p:spPr>
          <a:xfrm>
            <a:off x="6446520" y="2103120"/>
            <a:ext cx="4846320" cy="3840480"/>
          </a:xfrm>
          <a:prstGeom prst="rect">
            <a:avLst/>
          </a:prstGeom>
          <a:noFill/>
        </p:spPr>
        <p:txBody>
          <a:bodyPr wrap="square">
            <a:spAutoFit/>
          </a:bodyPr>
          <a:lstStyle/>
          <a:p>
            <a:pPr marL="0" indent="0">
              <a:lnSpc>
                <a:spcPct val="104000"/>
              </a:lnSpc>
              <a:spcBef>
                <a:spcPts val="0"/>
              </a:spcBef>
              <a:spcAft>
                <a:spcPts val="700"/>
              </a:spcAft>
            </a:pPr>
            <a:r>
              <a:rPr sz="1550" b="0">
                <a:solidFill>
                  <a:srgbClr val="444A52"/>
                </a:solidFill>
                <a:latin typeface="Calibri"/>
              </a:rPr>
              <a:t>▸  clusterProfiler: gseGO(BP) + gseKEGG (rno).</a:t>
            </a:r>
          </a:p>
          <a:p>
            <a:pPr marL="0" indent="0">
              <a:lnSpc>
                <a:spcPct val="104000"/>
              </a:lnSpc>
              <a:spcBef>
                <a:spcPts val="0"/>
              </a:spcBef>
              <a:spcAft>
                <a:spcPts val="700"/>
              </a:spcAft>
            </a:pPr>
            <a:r>
              <a:rPr sz="1550" b="0">
                <a:solidFill>
                  <a:srgbClr val="444A52"/>
                </a:solidFill>
                <a:latin typeface="Calibri"/>
              </a:rPr>
              <a:t>▸  Ranking statistic: DESeq2 Wald stat (descending).</a:t>
            </a:r>
          </a:p>
          <a:p>
            <a:pPr marL="0" indent="0">
              <a:lnSpc>
                <a:spcPct val="104000"/>
              </a:lnSpc>
              <a:spcBef>
                <a:spcPts val="0"/>
              </a:spcBef>
              <a:spcAft>
                <a:spcPts val="700"/>
              </a:spcAft>
            </a:pPr>
            <a:r>
              <a:rPr sz="1550" b="0">
                <a:solidFill>
                  <a:srgbClr val="444A52"/>
                </a:solidFill>
                <a:latin typeface="Calibri"/>
              </a:rPr>
              <a:t>▸  Entrez de-duplicated, keeping max |stat|.</a:t>
            </a:r>
          </a:p>
          <a:p>
            <a:pPr marL="0" indent="0">
              <a:lnSpc>
                <a:spcPct val="104000"/>
              </a:lnSpc>
              <a:spcBef>
                <a:spcPts val="0"/>
              </a:spcBef>
              <a:spcAft>
                <a:spcPts val="700"/>
              </a:spcAft>
            </a:pPr>
            <a:r>
              <a:rPr sz="1550" b="0">
                <a:solidFill>
                  <a:srgbClr val="444A52"/>
                </a:solidFill>
                <a:latin typeface="Calibri"/>
              </a:rPr>
              <a:t>▸  minGSSize 15 · maxGSSize 500 · BH · seed 123.</a:t>
            </a:r>
          </a:p>
          <a:p>
            <a:pPr marL="0" indent="0">
              <a:lnSpc>
                <a:spcPct val="104000"/>
              </a:lnSpc>
              <a:spcBef>
                <a:spcPts val="0"/>
              </a:spcBef>
              <a:spcAft>
                <a:spcPts val="700"/>
              </a:spcAft>
            </a:pPr>
            <a:r>
              <a:rPr sz="1550" b="0">
                <a:solidFill>
                  <a:srgbClr val="444A52"/>
                </a:solidFill>
                <a:latin typeface="Calibri"/>
              </a:rPr>
              <a:t>▸  GO simplified (cutoff 0.7) to remove redundancy.</a:t>
            </a:r>
          </a:p>
          <a:p>
            <a:pPr marL="0" indent="0">
              <a:lnSpc>
                <a:spcPct val="104000"/>
              </a:lnSpc>
              <a:spcBef>
                <a:spcPts val="0"/>
              </a:spcBef>
              <a:spcAft>
                <a:spcPts val="700"/>
              </a:spcAft>
            </a:pPr>
            <a:r>
              <a:rPr sz="1550" b="1">
                <a:solidFill>
                  <a:srgbClr val="102A43"/>
                </a:solidFill>
                <a:latin typeface="Calibri"/>
              </a:rPr>
              <a:t>▸  Why GSEA matters here:</a:t>
            </a:r>
          </a:p>
          <a:p>
            <a:pPr marL="274320" indent="0">
              <a:lnSpc>
                <a:spcPct val="104000"/>
              </a:lnSpc>
              <a:spcBef>
                <a:spcPts val="0"/>
              </a:spcBef>
              <a:spcAft>
                <a:spcPts val="700"/>
              </a:spcAft>
            </a:pPr>
            <a:r>
              <a:rPr sz="1450" b="0">
                <a:solidFill>
                  <a:srgbClr val="102A43"/>
                </a:solidFill>
                <a:latin typeface="Calibri"/>
              </a:rPr>
              <a:t>–  Acute signal is weak at single-gene level — pathway aggregation reveals the coordinated program.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RESULTS · QC</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Quality control I — cultures are neuron-dominated &amp; stable</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9</a:t>
            </a:r>
          </a:p>
        </p:txBody>
      </p:sp>
      <p:pic>
        <p:nvPicPr>
          <p:cNvPr id="8" name="Picture 7" descr="f_composition.png"/>
          <p:cNvPicPr>
            <a:picLocks noChangeAspect="1"/>
          </p:cNvPicPr>
          <p:nvPr/>
        </p:nvPicPr>
        <p:blipFill>
          <a:blip r:embed="rId3"/>
          <a:stretch>
            <a:fillRect/>
          </a:stretch>
        </p:blipFill>
        <p:spPr>
          <a:xfrm>
            <a:off x="1005840" y="1325880"/>
            <a:ext cx="5120640" cy="5120640"/>
          </a:xfrm>
          <a:prstGeom prst="rect">
            <a:avLst/>
          </a:prstGeom>
        </p:spPr>
      </p:pic>
      <p:sp>
        <p:nvSpPr>
          <p:cNvPr id="9" name="TextBox 8"/>
          <p:cNvSpPr txBox="1"/>
          <p:nvPr/>
        </p:nvSpPr>
        <p:spPr>
          <a:xfrm>
            <a:off x="6766560" y="1645920"/>
            <a:ext cx="4754880" cy="4572000"/>
          </a:xfrm>
          <a:prstGeom prst="rect">
            <a:avLst/>
          </a:prstGeom>
          <a:noFill/>
        </p:spPr>
        <p:txBody>
          <a:bodyPr wrap="square">
            <a:spAutoFit/>
          </a:bodyPr>
          <a:lstStyle/>
          <a:p>
            <a:pPr marL="0" indent="0">
              <a:lnSpc>
                <a:spcPct val="104000"/>
              </a:lnSpc>
              <a:spcBef>
                <a:spcPts val="0"/>
              </a:spcBef>
              <a:spcAft>
                <a:spcPts val="1000"/>
              </a:spcAft>
            </a:pPr>
            <a:r>
              <a:rPr sz="1700" b="1">
                <a:solidFill>
                  <a:srgbClr val="444A52"/>
                </a:solidFill>
                <a:latin typeface="Calibri"/>
              </a:rPr>
              <a:t>▸  Pan-neuronal markers dominate:</a:t>
            </a:r>
          </a:p>
          <a:p>
            <a:pPr marL="274320" indent="0">
              <a:lnSpc>
                <a:spcPct val="104000"/>
              </a:lnSpc>
              <a:spcBef>
                <a:spcPts val="0"/>
              </a:spcBef>
              <a:spcAft>
                <a:spcPts val="1000"/>
              </a:spcAft>
            </a:pPr>
            <a:r>
              <a:rPr sz="1600" b="0">
                <a:solidFill>
                  <a:srgbClr val="444A52"/>
                </a:solidFill>
                <a:latin typeface="Calibri"/>
              </a:rPr>
              <a:t>–  Tubb3 ≈ 3900 TPM, Stmn2 ≈ 1540, Map2 ≈ 750.</a:t>
            </a:r>
          </a:p>
          <a:p>
            <a:pPr marL="274320" indent="0">
              <a:lnSpc>
                <a:spcPct val="104000"/>
              </a:lnSpc>
              <a:spcBef>
                <a:spcPts val="0"/>
              </a:spcBef>
              <a:spcAft>
                <a:spcPts val="1000"/>
              </a:spcAft>
            </a:pPr>
            <a:r>
              <a:rPr sz="1600" b="0">
                <a:solidFill>
                  <a:srgbClr val="444A52"/>
                </a:solidFill>
                <a:latin typeface="Calibri"/>
              </a:rPr>
              <a:t>–  2–4 orders of magnitude above glial / endothelial markers (Vwf, Flt1 ≈ 0.1 TPM).</a:t>
            </a:r>
          </a:p>
          <a:p>
            <a:pPr marL="0" indent="0">
              <a:lnSpc>
                <a:spcPct val="104000"/>
              </a:lnSpc>
              <a:spcBef>
                <a:spcPts val="0"/>
              </a:spcBef>
              <a:spcAft>
                <a:spcPts val="1000"/>
              </a:spcAft>
            </a:pPr>
            <a:r>
              <a:rPr sz="1700" b="1">
                <a:solidFill>
                  <a:srgbClr val="0E5A61"/>
                </a:solidFill>
                <a:latin typeface="Calibri"/>
              </a:rPr>
              <a:t>▸  Marker expression is near-identical across all three conditions.</a:t>
            </a:r>
          </a:p>
          <a:p>
            <a:pPr marL="274320" indent="0">
              <a:lnSpc>
                <a:spcPct val="104000"/>
              </a:lnSpc>
              <a:spcBef>
                <a:spcPts val="0"/>
              </a:spcBef>
              <a:spcAft>
                <a:spcPts val="1000"/>
              </a:spcAft>
            </a:pPr>
            <a:r>
              <a:rPr sz="1600" b="0">
                <a:solidFill>
                  <a:srgbClr val="444A52"/>
                </a:solidFill>
                <a:latin typeface="Calibri"/>
              </a:rPr>
              <a:t>–  → Cell composition does NOT change.</a:t>
            </a:r>
          </a:p>
          <a:p>
            <a:pPr marL="0" indent="0">
              <a:lnSpc>
                <a:spcPct val="104000"/>
              </a:lnSpc>
              <a:spcBef>
                <a:spcPts val="0"/>
              </a:spcBef>
              <a:spcAft>
                <a:spcPts val="1000"/>
              </a:spcAft>
            </a:pPr>
            <a:r>
              <a:rPr sz="1700" b="1">
                <a:solidFill>
                  <a:srgbClr val="102A43"/>
                </a:solidFill>
                <a:latin typeface="Calibri"/>
              </a:rPr>
              <a:t>▸  Therefore downstream changes reflect a genuine transcriptional response, not a shift in cell types.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RESULTS · QC</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Quality control II — replicate is the top batch effect</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10</a:t>
            </a:r>
          </a:p>
        </p:txBody>
      </p:sp>
      <p:pic>
        <p:nvPicPr>
          <p:cNvPr id="8" name="Picture 7" descr="f_pca_after.png"/>
          <p:cNvPicPr>
            <a:picLocks noChangeAspect="1"/>
          </p:cNvPicPr>
          <p:nvPr/>
        </p:nvPicPr>
        <p:blipFill>
          <a:blip r:embed="rId3"/>
          <a:stretch>
            <a:fillRect/>
          </a:stretch>
        </p:blipFill>
        <p:spPr>
          <a:xfrm>
            <a:off x="640080" y="1459992"/>
            <a:ext cx="6492240" cy="4760976"/>
          </a:xfrm>
          <a:prstGeom prst="rect">
            <a:avLst/>
          </a:prstGeom>
        </p:spPr>
      </p:pic>
      <p:sp>
        <p:nvSpPr>
          <p:cNvPr id="9" name="TextBox 8"/>
          <p:cNvSpPr txBox="1"/>
          <p:nvPr/>
        </p:nvSpPr>
        <p:spPr>
          <a:xfrm>
            <a:off x="7315200" y="1645920"/>
            <a:ext cx="4206240" cy="4572000"/>
          </a:xfrm>
          <a:prstGeom prst="rect">
            <a:avLst/>
          </a:prstGeom>
          <a:noFill/>
        </p:spPr>
        <p:txBody>
          <a:bodyPr wrap="square">
            <a:spAutoFit/>
          </a:bodyPr>
          <a:lstStyle/>
          <a:p>
            <a:pPr marL="0" indent="0">
              <a:lnSpc>
                <a:spcPct val="104000"/>
              </a:lnSpc>
              <a:spcBef>
                <a:spcPts val="0"/>
              </a:spcBef>
              <a:spcAft>
                <a:spcPts val="900"/>
              </a:spcAft>
            </a:pPr>
            <a:r>
              <a:rPr sz="1650" b="1">
                <a:solidFill>
                  <a:srgbClr val="C0392B"/>
                </a:solidFill>
                <a:latin typeface="Calibri"/>
              </a:rPr>
              <a:t>▸  Top axis of variation = biological REPLICATE, not treatment.</a:t>
            </a:r>
          </a:p>
          <a:p>
            <a:pPr marL="274320" indent="0">
              <a:lnSpc>
                <a:spcPct val="104000"/>
              </a:lnSpc>
              <a:spcBef>
                <a:spcPts val="0"/>
              </a:spcBef>
              <a:spcAft>
                <a:spcPts val="900"/>
              </a:spcAft>
            </a:pPr>
            <a:r>
              <a:rPr sz="1550" b="0">
                <a:solidFill>
                  <a:srgbClr val="444A52"/>
                </a:solidFill>
                <a:latin typeface="Calibri"/>
              </a:rPr>
              <a:t>–  Replicate ≈ 52% of variance; timepoint ≈ 34%.</a:t>
            </a:r>
          </a:p>
          <a:p>
            <a:pPr marL="0" indent="0">
              <a:lnSpc>
                <a:spcPct val="104000"/>
              </a:lnSpc>
              <a:spcBef>
                <a:spcPts val="0"/>
              </a:spcBef>
              <a:spcAft>
                <a:spcPts val="900"/>
              </a:spcAft>
            </a:pPr>
            <a:r>
              <a:rPr sz="1650" b="1">
                <a:solidFill>
                  <a:srgbClr val="444A52"/>
                </a:solidFill>
                <a:latin typeface="Calibri"/>
              </a:rPr>
              <a:t>▸  Handled correctly:</a:t>
            </a:r>
          </a:p>
          <a:p>
            <a:pPr marL="274320" indent="0">
              <a:lnSpc>
                <a:spcPct val="104000"/>
              </a:lnSpc>
              <a:spcBef>
                <a:spcPts val="0"/>
              </a:spcBef>
              <a:spcAft>
                <a:spcPts val="900"/>
              </a:spcAft>
            </a:pPr>
            <a:r>
              <a:rPr sz="1550" b="0">
                <a:solidFill>
                  <a:srgbClr val="444A52"/>
                </a:solidFill>
                <a:latin typeface="Calibri"/>
              </a:rPr>
              <a:t>–  Replicate is a batch term in the DE model.</a:t>
            </a:r>
          </a:p>
          <a:p>
            <a:pPr marL="274320" indent="0">
              <a:lnSpc>
                <a:spcPct val="104000"/>
              </a:lnSpc>
              <a:spcBef>
                <a:spcPts val="0"/>
              </a:spcBef>
              <a:spcAft>
                <a:spcPts val="900"/>
              </a:spcAft>
            </a:pPr>
            <a:r>
              <a:rPr sz="1550" b="0">
                <a:solidFill>
                  <a:srgbClr val="444A52"/>
                </a:solidFill>
                <a:latin typeface="Calibri"/>
              </a:rPr>
              <a:t>–  limma removeBatchEffect for visualization only.</a:t>
            </a:r>
          </a:p>
          <a:p>
            <a:pPr marL="0" indent="0">
              <a:lnSpc>
                <a:spcPct val="104000"/>
              </a:lnSpc>
              <a:spcBef>
                <a:spcPts val="0"/>
              </a:spcBef>
              <a:spcAft>
                <a:spcPts val="900"/>
              </a:spcAft>
            </a:pPr>
            <a:r>
              <a:rPr sz="1650" b="1">
                <a:solidFill>
                  <a:srgbClr val="0E5A61"/>
                </a:solidFill>
                <a:latin typeface="Calibri"/>
              </a:rPr>
              <a:t>▸  After correction, PC1 mainly reflects TIMEPOINT.</a:t>
            </a:r>
          </a:p>
          <a:p>
            <a:pPr marL="274320" indent="0">
              <a:lnSpc>
                <a:spcPct val="104000"/>
              </a:lnSpc>
              <a:spcBef>
                <a:spcPts val="0"/>
              </a:spcBef>
              <a:spcAft>
                <a:spcPts val="900"/>
              </a:spcAft>
            </a:pPr>
            <a:r>
              <a:rPr sz="1550" b="0">
                <a:solidFill>
                  <a:srgbClr val="444A52"/>
                </a:solidFill>
                <a:latin typeface="Calibri"/>
              </a:rPr>
              <a:t>–  Samples separate by 0 / 5 / 15 min as expected.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RESULTS · DEGS</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Result 1 — the 5-minute response is real but small</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11</a:t>
            </a:r>
          </a:p>
        </p:txBody>
      </p:sp>
      <p:pic>
        <p:nvPicPr>
          <p:cNvPr id="8" name="Picture 7" descr="f_volcano.png"/>
          <p:cNvPicPr>
            <a:picLocks noChangeAspect="1"/>
          </p:cNvPicPr>
          <p:nvPr/>
        </p:nvPicPr>
        <p:blipFill>
          <a:blip r:embed="rId3"/>
          <a:stretch>
            <a:fillRect/>
          </a:stretch>
        </p:blipFill>
        <p:spPr>
          <a:xfrm>
            <a:off x="640080" y="1374140"/>
            <a:ext cx="6400800" cy="4978400"/>
          </a:xfrm>
          <a:prstGeom prst="rect">
            <a:avLst/>
          </a:prstGeom>
        </p:spPr>
      </p:pic>
      <p:sp>
        <p:nvSpPr>
          <p:cNvPr id="9" name="TextBox 8"/>
          <p:cNvSpPr txBox="1"/>
          <p:nvPr/>
        </p:nvSpPr>
        <p:spPr>
          <a:xfrm>
            <a:off x="7223760" y="1554480"/>
            <a:ext cx="4297680" cy="4754880"/>
          </a:xfrm>
          <a:prstGeom prst="rect">
            <a:avLst/>
          </a:prstGeom>
          <a:noFill/>
        </p:spPr>
        <p:txBody>
          <a:bodyPr wrap="square">
            <a:spAutoFit/>
          </a:bodyPr>
          <a:lstStyle/>
          <a:p>
            <a:pPr marL="0" indent="0">
              <a:lnSpc>
                <a:spcPct val="104000"/>
              </a:lnSpc>
              <a:spcBef>
                <a:spcPts val="0"/>
              </a:spcBef>
              <a:spcAft>
                <a:spcPts val="800"/>
              </a:spcAft>
            </a:pPr>
            <a:r>
              <a:rPr sz="1600" b="1">
                <a:solidFill>
                  <a:srgbClr val="444A52"/>
                </a:solidFill>
                <a:latin typeface="Calibri"/>
              </a:rPr>
              <a:t>▸  5-vs-0 differential expression:</a:t>
            </a:r>
          </a:p>
          <a:p>
            <a:pPr marL="274320" indent="0">
              <a:lnSpc>
                <a:spcPct val="104000"/>
              </a:lnSpc>
              <a:spcBef>
                <a:spcPts val="0"/>
              </a:spcBef>
              <a:spcAft>
                <a:spcPts val="800"/>
              </a:spcAft>
            </a:pPr>
            <a:r>
              <a:rPr sz="1500" b="0">
                <a:solidFill>
                  <a:srgbClr val="102A43"/>
                </a:solidFill>
                <a:latin typeface="Calibri"/>
              </a:rPr>
              <a:t>–  RELAXED (padj&lt;0.05): 32 DEGs (14 ↑ / 18 ↓).</a:t>
            </a:r>
          </a:p>
          <a:p>
            <a:pPr marL="274320" indent="0">
              <a:lnSpc>
                <a:spcPct val="104000"/>
              </a:lnSpc>
              <a:spcBef>
                <a:spcPts val="0"/>
              </a:spcBef>
              <a:spcAft>
                <a:spcPts val="800"/>
              </a:spcAft>
            </a:pPr>
            <a:r>
              <a:rPr sz="1500" b="0">
                <a:solidFill>
                  <a:srgbClr val="102A43"/>
                </a:solidFill>
                <a:latin typeface="Calibri"/>
              </a:rPr>
              <a:t>–  STRICT (+FC&gt;1.5): 5 DEGs (2 ↑ / 3 ↓).</a:t>
            </a:r>
          </a:p>
          <a:p>
            <a:pPr marL="0" indent="0">
              <a:lnSpc>
                <a:spcPct val="104000"/>
              </a:lnSpc>
              <a:spcBef>
                <a:spcPts val="0"/>
              </a:spcBef>
              <a:spcAft>
                <a:spcPts val="800"/>
              </a:spcAft>
            </a:pPr>
            <a:r>
              <a:rPr sz="1600" b="1">
                <a:solidFill>
                  <a:srgbClr val="C0392B"/>
                </a:solidFill>
                <a:latin typeface="Calibri"/>
              </a:rPr>
              <a:t>▸  Fos is the standout:</a:t>
            </a:r>
          </a:p>
          <a:p>
            <a:pPr marL="274320" indent="0">
              <a:lnSpc>
                <a:spcPct val="104000"/>
              </a:lnSpc>
              <a:spcBef>
                <a:spcPts val="0"/>
              </a:spcBef>
              <a:spcAft>
                <a:spcPts val="800"/>
              </a:spcAft>
            </a:pPr>
            <a:r>
              <a:rPr sz="1500" b="0">
                <a:solidFill>
                  <a:srgbClr val="C0392B"/>
                </a:solidFill>
                <a:latin typeface="Calibri"/>
              </a:rPr>
              <a:t>–  log2FC −2.35, padj 2.4e-3 — strongly DOWN.</a:t>
            </a:r>
          </a:p>
          <a:p>
            <a:pPr marL="0" indent="0">
              <a:lnSpc>
                <a:spcPct val="104000"/>
              </a:lnSpc>
              <a:spcBef>
                <a:spcPts val="0"/>
              </a:spcBef>
              <a:spcAft>
                <a:spcPts val="800"/>
              </a:spcAft>
            </a:pPr>
            <a:r>
              <a:rPr sz="1600" b="1">
                <a:solidFill>
                  <a:srgbClr val="444A52"/>
                </a:solidFill>
                <a:latin typeface="Calibri"/>
              </a:rPr>
              <a:t>▸  Most effect sizes are modest…</a:t>
            </a:r>
          </a:p>
          <a:p>
            <a:pPr marL="274320" indent="0">
              <a:lnSpc>
                <a:spcPct val="104000"/>
              </a:lnSpc>
              <a:spcBef>
                <a:spcPts val="0"/>
              </a:spcBef>
              <a:spcAft>
                <a:spcPts val="800"/>
              </a:spcAft>
            </a:pPr>
            <a:r>
              <a:rPr sz="1500" b="0">
                <a:solidFill>
                  <a:srgbClr val="444A52"/>
                </a:solidFill>
                <a:latin typeface="Calibri"/>
              </a:rPr>
              <a:t>–  …consistent with a fast, subtle, pathway-level signal rather than a few large switches.</a:t>
            </a:r>
          </a:p>
          <a:p>
            <a:pPr marL="0" indent="0">
              <a:lnSpc>
                <a:spcPct val="104000"/>
              </a:lnSpc>
              <a:spcBef>
                <a:spcPts val="0"/>
              </a:spcBef>
              <a:spcAft>
                <a:spcPts val="800"/>
              </a:spcAft>
            </a:pPr>
            <a:r>
              <a:rPr sz="1600" b="1">
                <a:solidFill>
                  <a:srgbClr val="0E5A61"/>
                </a:solidFill>
                <a:latin typeface="Calibri"/>
              </a:rPr>
              <a:t>▸  → motivates the GSEA analysis (coming up).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RESULTS · DEGS</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Core 5-minute DEGs map onto coherent modules</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12</a:t>
            </a:r>
          </a:p>
        </p:txBody>
      </p:sp>
      <p:sp>
        <p:nvSpPr>
          <p:cNvPr id="8" name="Rectangle 7"/>
          <p:cNvSpPr/>
          <p:nvPr/>
        </p:nvSpPr>
        <p:spPr>
          <a:xfrm>
            <a:off x="822960" y="1417320"/>
            <a:ext cx="2011680" cy="502920"/>
          </a:xfrm>
          <a:prstGeom prst="rect">
            <a:avLst/>
          </a:prstGeom>
          <a:solidFill>
            <a:srgbClr val="102A43"/>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481328"/>
            <a:ext cx="1828800" cy="411480"/>
          </a:xfrm>
          <a:prstGeom prst="rect">
            <a:avLst/>
          </a:prstGeom>
          <a:noFill/>
        </p:spPr>
        <p:txBody>
          <a:bodyPr wrap="square" anchor="ctr">
            <a:spAutoFit/>
          </a:bodyPr>
          <a:lstStyle/>
          <a:p>
            <a:pPr algn="l">
              <a:lnSpc>
                <a:spcPct val="100000"/>
              </a:lnSpc>
              <a:spcBef>
                <a:spcPts val="0"/>
              </a:spcBef>
              <a:spcAft>
                <a:spcPts val="0"/>
              </a:spcAft>
            </a:pPr>
            <a:r>
              <a:rPr sz="1500" b="1" i="0">
                <a:solidFill>
                  <a:srgbClr val="FFFFFF"/>
                </a:solidFill>
                <a:latin typeface="Calibri"/>
              </a:rPr>
              <a:t>Gene</a:t>
            </a:r>
          </a:p>
        </p:txBody>
      </p:sp>
      <p:sp>
        <p:nvSpPr>
          <p:cNvPr id="10" name="Rectangle 9"/>
          <p:cNvSpPr/>
          <p:nvPr/>
        </p:nvSpPr>
        <p:spPr>
          <a:xfrm>
            <a:off x="2834640" y="1417320"/>
            <a:ext cx="1737360" cy="502920"/>
          </a:xfrm>
          <a:prstGeom prst="rect">
            <a:avLst/>
          </a:prstGeom>
          <a:solidFill>
            <a:srgbClr val="102A43"/>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44368" y="1481328"/>
            <a:ext cx="1554480" cy="411480"/>
          </a:xfrm>
          <a:prstGeom prst="rect">
            <a:avLst/>
          </a:prstGeom>
          <a:noFill/>
        </p:spPr>
        <p:txBody>
          <a:bodyPr wrap="square" anchor="ctr">
            <a:spAutoFit/>
          </a:bodyPr>
          <a:lstStyle/>
          <a:p>
            <a:pPr algn="l">
              <a:lnSpc>
                <a:spcPct val="100000"/>
              </a:lnSpc>
              <a:spcBef>
                <a:spcPts val="0"/>
              </a:spcBef>
              <a:spcAft>
                <a:spcPts val="0"/>
              </a:spcAft>
            </a:pPr>
            <a:r>
              <a:rPr sz="1500" b="1" i="0">
                <a:solidFill>
                  <a:srgbClr val="FFFFFF"/>
                </a:solidFill>
                <a:latin typeface="Calibri"/>
              </a:rPr>
              <a:t>log2FC</a:t>
            </a:r>
          </a:p>
        </p:txBody>
      </p:sp>
      <p:sp>
        <p:nvSpPr>
          <p:cNvPr id="12" name="Rectangle 11"/>
          <p:cNvSpPr/>
          <p:nvPr/>
        </p:nvSpPr>
        <p:spPr>
          <a:xfrm>
            <a:off x="4572000" y="1417320"/>
            <a:ext cx="1737360" cy="502920"/>
          </a:xfrm>
          <a:prstGeom prst="rect">
            <a:avLst/>
          </a:prstGeom>
          <a:solidFill>
            <a:srgbClr val="102A43"/>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81728" y="1481328"/>
            <a:ext cx="1554480" cy="411480"/>
          </a:xfrm>
          <a:prstGeom prst="rect">
            <a:avLst/>
          </a:prstGeom>
          <a:noFill/>
        </p:spPr>
        <p:txBody>
          <a:bodyPr wrap="square" anchor="ctr">
            <a:spAutoFit/>
          </a:bodyPr>
          <a:lstStyle/>
          <a:p>
            <a:pPr algn="l">
              <a:lnSpc>
                <a:spcPct val="100000"/>
              </a:lnSpc>
              <a:spcBef>
                <a:spcPts val="0"/>
              </a:spcBef>
              <a:spcAft>
                <a:spcPts val="0"/>
              </a:spcAft>
            </a:pPr>
            <a:r>
              <a:rPr sz="1500" b="1" i="0">
                <a:solidFill>
                  <a:srgbClr val="FFFFFF"/>
                </a:solidFill>
                <a:latin typeface="Calibri"/>
              </a:rPr>
              <a:t>padj</a:t>
            </a:r>
          </a:p>
        </p:txBody>
      </p:sp>
      <p:sp>
        <p:nvSpPr>
          <p:cNvPr id="14" name="Rectangle 13"/>
          <p:cNvSpPr/>
          <p:nvPr/>
        </p:nvSpPr>
        <p:spPr>
          <a:xfrm>
            <a:off x="6309360" y="1417320"/>
            <a:ext cx="4572000" cy="502920"/>
          </a:xfrm>
          <a:prstGeom prst="rect">
            <a:avLst/>
          </a:prstGeom>
          <a:solidFill>
            <a:srgbClr val="102A43"/>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1481328"/>
            <a:ext cx="4389120" cy="411480"/>
          </a:xfrm>
          <a:prstGeom prst="rect">
            <a:avLst/>
          </a:prstGeom>
          <a:noFill/>
        </p:spPr>
        <p:txBody>
          <a:bodyPr wrap="square" anchor="ctr">
            <a:spAutoFit/>
          </a:bodyPr>
          <a:lstStyle/>
          <a:p>
            <a:pPr algn="l">
              <a:lnSpc>
                <a:spcPct val="100000"/>
              </a:lnSpc>
              <a:spcBef>
                <a:spcPts val="0"/>
              </a:spcBef>
              <a:spcAft>
                <a:spcPts val="0"/>
              </a:spcAft>
            </a:pPr>
            <a:r>
              <a:rPr sz="1500" b="1" i="0">
                <a:solidFill>
                  <a:srgbClr val="FFFFFF"/>
                </a:solidFill>
                <a:latin typeface="Calibri"/>
              </a:rPr>
              <a:t>Module</a:t>
            </a:r>
          </a:p>
        </p:txBody>
      </p:sp>
      <p:sp>
        <p:nvSpPr>
          <p:cNvPr id="16" name="Rectangle 15"/>
          <p:cNvSpPr/>
          <p:nvPr/>
        </p:nvSpPr>
        <p:spPr>
          <a:xfrm>
            <a:off x="822960" y="1920240"/>
            <a:ext cx="201168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1984248"/>
            <a:ext cx="1828800" cy="411480"/>
          </a:xfrm>
          <a:prstGeom prst="rect">
            <a:avLst/>
          </a:prstGeom>
          <a:noFill/>
        </p:spPr>
        <p:txBody>
          <a:bodyPr wrap="square" anchor="ctr">
            <a:spAutoFit/>
          </a:bodyPr>
          <a:lstStyle/>
          <a:p>
            <a:pPr algn="l">
              <a:lnSpc>
                <a:spcPct val="100000"/>
              </a:lnSpc>
              <a:spcBef>
                <a:spcPts val="0"/>
              </a:spcBef>
              <a:spcAft>
                <a:spcPts val="0"/>
              </a:spcAft>
            </a:pPr>
            <a:r>
              <a:rPr sz="1500" b="1" i="1">
                <a:solidFill>
                  <a:srgbClr val="102A43"/>
                </a:solidFill>
                <a:latin typeface="Calibri"/>
              </a:rPr>
              <a:t>Fos</a:t>
            </a:r>
          </a:p>
        </p:txBody>
      </p:sp>
      <p:sp>
        <p:nvSpPr>
          <p:cNvPr id="18" name="Rectangle 17"/>
          <p:cNvSpPr/>
          <p:nvPr/>
        </p:nvSpPr>
        <p:spPr>
          <a:xfrm>
            <a:off x="2834640" y="1920240"/>
            <a:ext cx="173736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944368" y="1984248"/>
            <a:ext cx="1554480" cy="411480"/>
          </a:xfrm>
          <a:prstGeom prst="rect">
            <a:avLst/>
          </a:prstGeom>
          <a:noFill/>
        </p:spPr>
        <p:txBody>
          <a:bodyPr wrap="square" anchor="ctr">
            <a:spAutoFit/>
          </a:bodyPr>
          <a:lstStyle/>
          <a:p>
            <a:pPr algn="l">
              <a:lnSpc>
                <a:spcPct val="100000"/>
              </a:lnSpc>
              <a:spcBef>
                <a:spcPts val="0"/>
              </a:spcBef>
              <a:spcAft>
                <a:spcPts val="0"/>
              </a:spcAft>
            </a:pPr>
            <a:r>
              <a:rPr sz="1500" b="1" i="0">
                <a:solidFill>
                  <a:srgbClr val="C0392B"/>
                </a:solidFill>
                <a:latin typeface="Calibri"/>
              </a:rPr>
              <a:t>−2.35</a:t>
            </a:r>
          </a:p>
        </p:txBody>
      </p:sp>
      <p:sp>
        <p:nvSpPr>
          <p:cNvPr id="20" name="Rectangle 19"/>
          <p:cNvSpPr/>
          <p:nvPr/>
        </p:nvSpPr>
        <p:spPr>
          <a:xfrm>
            <a:off x="4572000" y="1920240"/>
            <a:ext cx="173736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81728" y="1984248"/>
            <a:ext cx="155448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444A52"/>
                </a:solidFill>
                <a:latin typeface="Calibri"/>
              </a:rPr>
              <a:t>2.4e-3</a:t>
            </a:r>
          </a:p>
        </p:txBody>
      </p:sp>
      <p:sp>
        <p:nvSpPr>
          <p:cNvPr id="22" name="Rectangle 21"/>
          <p:cNvSpPr/>
          <p:nvPr/>
        </p:nvSpPr>
        <p:spPr>
          <a:xfrm>
            <a:off x="6309360" y="1920240"/>
            <a:ext cx="457200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19088" y="1984248"/>
            <a:ext cx="438912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C0392B"/>
                </a:solidFill>
                <a:latin typeface="Calibri"/>
              </a:rPr>
              <a:t>Immediate-early gene (IEG ↓)</a:t>
            </a:r>
          </a:p>
        </p:txBody>
      </p:sp>
      <p:sp>
        <p:nvSpPr>
          <p:cNvPr id="24" name="Rectangle 23"/>
          <p:cNvSpPr/>
          <p:nvPr/>
        </p:nvSpPr>
        <p:spPr>
          <a:xfrm>
            <a:off x="822960" y="2423160"/>
            <a:ext cx="201168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 y="2487168"/>
            <a:ext cx="1828800" cy="411480"/>
          </a:xfrm>
          <a:prstGeom prst="rect">
            <a:avLst/>
          </a:prstGeom>
          <a:noFill/>
        </p:spPr>
        <p:txBody>
          <a:bodyPr wrap="square" anchor="ctr">
            <a:spAutoFit/>
          </a:bodyPr>
          <a:lstStyle/>
          <a:p>
            <a:pPr algn="l">
              <a:lnSpc>
                <a:spcPct val="100000"/>
              </a:lnSpc>
              <a:spcBef>
                <a:spcPts val="0"/>
              </a:spcBef>
              <a:spcAft>
                <a:spcPts val="0"/>
              </a:spcAft>
            </a:pPr>
            <a:r>
              <a:rPr sz="1500" b="1" i="1">
                <a:solidFill>
                  <a:srgbClr val="102A43"/>
                </a:solidFill>
                <a:latin typeface="Calibri"/>
              </a:rPr>
              <a:t>Rock1</a:t>
            </a:r>
          </a:p>
        </p:txBody>
      </p:sp>
      <p:sp>
        <p:nvSpPr>
          <p:cNvPr id="26" name="Rectangle 25"/>
          <p:cNvSpPr/>
          <p:nvPr/>
        </p:nvSpPr>
        <p:spPr>
          <a:xfrm>
            <a:off x="2834640" y="2423160"/>
            <a:ext cx="173736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944368" y="2487168"/>
            <a:ext cx="1554480" cy="411480"/>
          </a:xfrm>
          <a:prstGeom prst="rect">
            <a:avLst/>
          </a:prstGeom>
          <a:noFill/>
        </p:spPr>
        <p:txBody>
          <a:bodyPr wrap="square" anchor="ctr">
            <a:spAutoFit/>
          </a:bodyPr>
          <a:lstStyle/>
          <a:p>
            <a:pPr algn="l">
              <a:lnSpc>
                <a:spcPct val="100000"/>
              </a:lnSpc>
              <a:spcBef>
                <a:spcPts val="0"/>
              </a:spcBef>
              <a:spcAft>
                <a:spcPts val="0"/>
              </a:spcAft>
            </a:pPr>
            <a:r>
              <a:rPr sz="1500" b="1" i="0">
                <a:solidFill>
                  <a:srgbClr val="C0392B"/>
                </a:solidFill>
                <a:latin typeface="Calibri"/>
              </a:rPr>
              <a:t>−0.43</a:t>
            </a:r>
          </a:p>
        </p:txBody>
      </p:sp>
      <p:sp>
        <p:nvSpPr>
          <p:cNvPr id="28" name="Rectangle 27"/>
          <p:cNvSpPr/>
          <p:nvPr/>
        </p:nvSpPr>
        <p:spPr>
          <a:xfrm>
            <a:off x="4572000" y="2423160"/>
            <a:ext cx="173736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81728" y="2487168"/>
            <a:ext cx="155448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444A52"/>
                </a:solidFill>
                <a:latin typeface="Calibri"/>
              </a:rPr>
              <a:t>9.4e-6</a:t>
            </a:r>
          </a:p>
        </p:txBody>
      </p:sp>
      <p:sp>
        <p:nvSpPr>
          <p:cNvPr id="30" name="Rectangle 29"/>
          <p:cNvSpPr/>
          <p:nvPr/>
        </p:nvSpPr>
        <p:spPr>
          <a:xfrm>
            <a:off x="6309360" y="2423160"/>
            <a:ext cx="457200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19088" y="2487168"/>
            <a:ext cx="438912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C0392B"/>
                </a:solidFill>
                <a:latin typeface="Calibri"/>
              </a:rPr>
              <a:t>Cytoskeleton / ROCK</a:t>
            </a:r>
          </a:p>
        </p:txBody>
      </p:sp>
      <p:sp>
        <p:nvSpPr>
          <p:cNvPr id="32" name="Rectangle 31"/>
          <p:cNvSpPr/>
          <p:nvPr/>
        </p:nvSpPr>
        <p:spPr>
          <a:xfrm>
            <a:off x="822960" y="2926080"/>
            <a:ext cx="201168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2688" y="2990088"/>
            <a:ext cx="1828800" cy="411480"/>
          </a:xfrm>
          <a:prstGeom prst="rect">
            <a:avLst/>
          </a:prstGeom>
          <a:noFill/>
        </p:spPr>
        <p:txBody>
          <a:bodyPr wrap="square" anchor="ctr">
            <a:spAutoFit/>
          </a:bodyPr>
          <a:lstStyle/>
          <a:p>
            <a:pPr algn="l">
              <a:lnSpc>
                <a:spcPct val="100000"/>
              </a:lnSpc>
              <a:spcBef>
                <a:spcPts val="0"/>
              </a:spcBef>
              <a:spcAft>
                <a:spcPts val="0"/>
              </a:spcAft>
            </a:pPr>
            <a:r>
              <a:rPr sz="1500" b="1" i="1">
                <a:solidFill>
                  <a:srgbClr val="102A43"/>
                </a:solidFill>
                <a:latin typeface="Calibri"/>
              </a:rPr>
              <a:t>Srsf5</a:t>
            </a:r>
          </a:p>
        </p:txBody>
      </p:sp>
      <p:sp>
        <p:nvSpPr>
          <p:cNvPr id="34" name="Rectangle 33"/>
          <p:cNvSpPr/>
          <p:nvPr/>
        </p:nvSpPr>
        <p:spPr>
          <a:xfrm>
            <a:off x="2834640" y="2926080"/>
            <a:ext cx="173736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944368" y="2990088"/>
            <a:ext cx="1554480" cy="411480"/>
          </a:xfrm>
          <a:prstGeom prst="rect">
            <a:avLst/>
          </a:prstGeom>
          <a:noFill/>
        </p:spPr>
        <p:txBody>
          <a:bodyPr wrap="square" anchor="ctr">
            <a:spAutoFit/>
          </a:bodyPr>
          <a:lstStyle/>
          <a:p>
            <a:pPr algn="l">
              <a:lnSpc>
                <a:spcPct val="100000"/>
              </a:lnSpc>
              <a:spcBef>
                <a:spcPts val="0"/>
              </a:spcBef>
              <a:spcAft>
                <a:spcPts val="0"/>
              </a:spcAft>
            </a:pPr>
            <a:r>
              <a:rPr sz="1500" b="1" i="0">
                <a:solidFill>
                  <a:srgbClr val="C0392B"/>
                </a:solidFill>
                <a:latin typeface="Calibri"/>
              </a:rPr>
              <a:t>−0.31</a:t>
            </a:r>
          </a:p>
        </p:txBody>
      </p:sp>
      <p:sp>
        <p:nvSpPr>
          <p:cNvPr id="36" name="Rectangle 35"/>
          <p:cNvSpPr/>
          <p:nvPr/>
        </p:nvSpPr>
        <p:spPr>
          <a:xfrm>
            <a:off x="4572000" y="2926080"/>
            <a:ext cx="173736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81728" y="2990088"/>
            <a:ext cx="155448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444A52"/>
                </a:solidFill>
                <a:latin typeface="Calibri"/>
              </a:rPr>
              <a:t>4.5e-5</a:t>
            </a:r>
          </a:p>
        </p:txBody>
      </p:sp>
      <p:sp>
        <p:nvSpPr>
          <p:cNvPr id="38" name="Rectangle 37"/>
          <p:cNvSpPr/>
          <p:nvPr/>
        </p:nvSpPr>
        <p:spPr>
          <a:xfrm>
            <a:off x="6309360" y="2926080"/>
            <a:ext cx="457200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19088" y="2990088"/>
            <a:ext cx="438912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C0392B"/>
                </a:solidFill>
                <a:latin typeface="Calibri"/>
              </a:rPr>
              <a:t>Splicing</a:t>
            </a:r>
          </a:p>
        </p:txBody>
      </p:sp>
      <p:sp>
        <p:nvSpPr>
          <p:cNvPr id="40" name="Rectangle 39"/>
          <p:cNvSpPr/>
          <p:nvPr/>
        </p:nvSpPr>
        <p:spPr>
          <a:xfrm>
            <a:off x="822960" y="3429000"/>
            <a:ext cx="201168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2688" y="3493008"/>
            <a:ext cx="1828800" cy="411480"/>
          </a:xfrm>
          <a:prstGeom prst="rect">
            <a:avLst/>
          </a:prstGeom>
          <a:noFill/>
        </p:spPr>
        <p:txBody>
          <a:bodyPr wrap="square" anchor="ctr">
            <a:spAutoFit/>
          </a:bodyPr>
          <a:lstStyle/>
          <a:p>
            <a:pPr algn="l">
              <a:lnSpc>
                <a:spcPct val="100000"/>
              </a:lnSpc>
              <a:spcBef>
                <a:spcPts val="0"/>
              </a:spcBef>
              <a:spcAft>
                <a:spcPts val="0"/>
              </a:spcAft>
            </a:pPr>
            <a:r>
              <a:rPr sz="1500" b="1" i="1">
                <a:solidFill>
                  <a:srgbClr val="102A43"/>
                </a:solidFill>
                <a:latin typeface="Calibri"/>
              </a:rPr>
              <a:t>Snrnp70</a:t>
            </a:r>
          </a:p>
        </p:txBody>
      </p:sp>
      <p:sp>
        <p:nvSpPr>
          <p:cNvPr id="42" name="Rectangle 41"/>
          <p:cNvSpPr/>
          <p:nvPr/>
        </p:nvSpPr>
        <p:spPr>
          <a:xfrm>
            <a:off x="2834640" y="3429000"/>
            <a:ext cx="173736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944368" y="3493008"/>
            <a:ext cx="1554480" cy="411480"/>
          </a:xfrm>
          <a:prstGeom prst="rect">
            <a:avLst/>
          </a:prstGeom>
          <a:noFill/>
        </p:spPr>
        <p:txBody>
          <a:bodyPr wrap="square" anchor="ctr">
            <a:spAutoFit/>
          </a:bodyPr>
          <a:lstStyle/>
          <a:p>
            <a:pPr algn="l">
              <a:lnSpc>
                <a:spcPct val="100000"/>
              </a:lnSpc>
              <a:spcBef>
                <a:spcPts val="0"/>
              </a:spcBef>
              <a:spcAft>
                <a:spcPts val="0"/>
              </a:spcAft>
            </a:pPr>
            <a:r>
              <a:rPr sz="1500" b="1" i="0">
                <a:solidFill>
                  <a:srgbClr val="C0392B"/>
                </a:solidFill>
                <a:latin typeface="Calibri"/>
              </a:rPr>
              <a:t>−0.27</a:t>
            </a:r>
          </a:p>
        </p:txBody>
      </p:sp>
      <p:sp>
        <p:nvSpPr>
          <p:cNvPr id="44" name="Rectangle 43"/>
          <p:cNvSpPr/>
          <p:nvPr/>
        </p:nvSpPr>
        <p:spPr>
          <a:xfrm>
            <a:off x="4572000" y="3429000"/>
            <a:ext cx="173736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81728" y="3493008"/>
            <a:ext cx="155448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444A52"/>
                </a:solidFill>
                <a:latin typeface="Calibri"/>
              </a:rPr>
              <a:t>1.2e-2</a:t>
            </a:r>
          </a:p>
        </p:txBody>
      </p:sp>
      <p:sp>
        <p:nvSpPr>
          <p:cNvPr id="46" name="Rectangle 45"/>
          <p:cNvSpPr/>
          <p:nvPr/>
        </p:nvSpPr>
        <p:spPr>
          <a:xfrm>
            <a:off x="6309360" y="3429000"/>
            <a:ext cx="457200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19088" y="3493008"/>
            <a:ext cx="438912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C0392B"/>
                </a:solidFill>
                <a:latin typeface="Calibri"/>
              </a:rPr>
              <a:t>Splicing</a:t>
            </a:r>
          </a:p>
        </p:txBody>
      </p:sp>
      <p:sp>
        <p:nvSpPr>
          <p:cNvPr id="48" name="Rectangle 47"/>
          <p:cNvSpPr/>
          <p:nvPr/>
        </p:nvSpPr>
        <p:spPr>
          <a:xfrm>
            <a:off x="822960" y="3931920"/>
            <a:ext cx="201168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2688" y="3995928"/>
            <a:ext cx="1828800" cy="411480"/>
          </a:xfrm>
          <a:prstGeom prst="rect">
            <a:avLst/>
          </a:prstGeom>
          <a:noFill/>
        </p:spPr>
        <p:txBody>
          <a:bodyPr wrap="square" anchor="ctr">
            <a:spAutoFit/>
          </a:bodyPr>
          <a:lstStyle/>
          <a:p>
            <a:pPr algn="l">
              <a:lnSpc>
                <a:spcPct val="100000"/>
              </a:lnSpc>
              <a:spcBef>
                <a:spcPts val="0"/>
              </a:spcBef>
              <a:spcAft>
                <a:spcPts val="0"/>
              </a:spcAft>
            </a:pPr>
            <a:r>
              <a:rPr sz="1500" b="1" i="1">
                <a:solidFill>
                  <a:srgbClr val="102A43"/>
                </a:solidFill>
                <a:latin typeface="Calibri"/>
              </a:rPr>
              <a:t>Cntn2</a:t>
            </a:r>
          </a:p>
        </p:txBody>
      </p:sp>
      <p:sp>
        <p:nvSpPr>
          <p:cNvPr id="50" name="Rectangle 49"/>
          <p:cNvSpPr/>
          <p:nvPr/>
        </p:nvSpPr>
        <p:spPr>
          <a:xfrm>
            <a:off x="2834640" y="3931920"/>
            <a:ext cx="173736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944368" y="3995928"/>
            <a:ext cx="1554480" cy="411480"/>
          </a:xfrm>
          <a:prstGeom prst="rect">
            <a:avLst/>
          </a:prstGeom>
          <a:noFill/>
        </p:spPr>
        <p:txBody>
          <a:bodyPr wrap="square" anchor="ctr">
            <a:spAutoFit/>
          </a:bodyPr>
          <a:lstStyle/>
          <a:p>
            <a:pPr algn="l">
              <a:lnSpc>
                <a:spcPct val="100000"/>
              </a:lnSpc>
              <a:spcBef>
                <a:spcPts val="0"/>
              </a:spcBef>
              <a:spcAft>
                <a:spcPts val="0"/>
              </a:spcAft>
            </a:pPr>
            <a:r>
              <a:rPr sz="1500" b="1" i="0">
                <a:solidFill>
                  <a:srgbClr val="1E7D52"/>
                </a:solidFill>
                <a:latin typeface="Calibri"/>
              </a:rPr>
              <a:t>+0.25</a:t>
            </a:r>
          </a:p>
        </p:txBody>
      </p:sp>
      <p:sp>
        <p:nvSpPr>
          <p:cNvPr id="52" name="Rectangle 51"/>
          <p:cNvSpPr/>
          <p:nvPr/>
        </p:nvSpPr>
        <p:spPr>
          <a:xfrm>
            <a:off x="4572000" y="3931920"/>
            <a:ext cx="173736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681728" y="3995928"/>
            <a:ext cx="155448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444A52"/>
                </a:solidFill>
                <a:latin typeface="Calibri"/>
              </a:rPr>
              <a:t>1.4e-2</a:t>
            </a:r>
          </a:p>
        </p:txBody>
      </p:sp>
      <p:sp>
        <p:nvSpPr>
          <p:cNvPr id="54" name="Rectangle 53"/>
          <p:cNvSpPr/>
          <p:nvPr/>
        </p:nvSpPr>
        <p:spPr>
          <a:xfrm>
            <a:off x="6309360" y="3931920"/>
            <a:ext cx="457200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419088" y="3995928"/>
            <a:ext cx="438912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1E7D52"/>
                </a:solidFill>
                <a:latin typeface="Calibri"/>
              </a:rPr>
              <a:t>Axon guidance</a:t>
            </a:r>
          </a:p>
        </p:txBody>
      </p:sp>
      <p:sp>
        <p:nvSpPr>
          <p:cNvPr id="56" name="Rectangle 55"/>
          <p:cNvSpPr/>
          <p:nvPr/>
        </p:nvSpPr>
        <p:spPr>
          <a:xfrm>
            <a:off x="822960" y="4434840"/>
            <a:ext cx="201168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2688" y="4498848"/>
            <a:ext cx="1828800" cy="411480"/>
          </a:xfrm>
          <a:prstGeom prst="rect">
            <a:avLst/>
          </a:prstGeom>
          <a:noFill/>
        </p:spPr>
        <p:txBody>
          <a:bodyPr wrap="square" anchor="ctr">
            <a:spAutoFit/>
          </a:bodyPr>
          <a:lstStyle/>
          <a:p>
            <a:pPr algn="l">
              <a:lnSpc>
                <a:spcPct val="100000"/>
              </a:lnSpc>
              <a:spcBef>
                <a:spcPts val="0"/>
              </a:spcBef>
              <a:spcAft>
                <a:spcPts val="0"/>
              </a:spcAft>
            </a:pPr>
            <a:r>
              <a:rPr sz="1500" b="1" i="1">
                <a:solidFill>
                  <a:srgbClr val="102A43"/>
                </a:solidFill>
                <a:latin typeface="Calibri"/>
              </a:rPr>
              <a:t>Nos1</a:t>
            </a:r>
          </a:p>
        </p:txBody>
      </p:sp>
      <p:sp>
        <p:nvSpPr>
          <p:cNvPr id="58" name="Rectangle 57"/>
          <p:cNvSpPr/>
          <p:nvPr/>
        </p:nvSpPr>
        <p:spPr>
          <a:xfrm>
            <a:off x="2834640" y="4434840"/>
            <a:ext cx="173736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944368" y="4498848"/>
            <a:ext cx="1554480" cy="411480"/>
          </a:xfrm>
          <a:prstGeom prst="rect">
            <a:avLst/>
          </a:prstGeom>
          <a:noFill/>
        </p:spPr>
        <p:txBody>
          <a:bodyPr wrap="square" anchor="ctr">
            <a:spAutoFit/>
          </a:bodyPr>
          <a:lstStyle/>
          <a:p>
            <a:pPr algn="l">
              <a:lnSpc>
                <a:spcPct val="100000"/>
              </a:lnSpc>
              <a:spcBef>
                <a:spcPts val="0"/>
              </a:spcBef>
              <a:spcAft>
                <a:spcPts val="0"/>
              </a:spcAft>
            </a:pPr>
            <a:r>
              <a:rPr sz="1500" b="1" i="0">
                <a:solidFill>
                  <a:srgbClr val="1E7D52"/>
                </a:solidFill>
                <a:latin typeface="Calibri"/>
              </a:rPr>
              <a:t>+0.32</a:t>
            </a:r>
          </a:p>
        </p:txBody>
      </p:sp>
      <p:sp>
        <p:nvSpPr>
          <p:cNvPr id="60" name="Rectangle 59"/>
          <p:cNvSpPr/>
          <p:nvPr/>
        </p:nvSpPr>
        <p:spPr>
          <a:xfrm>
            <a:off x="4572000" y="4434840"/>
            <a:ext cx="173736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681728" y="4498848"/>
            <a:ext cx="155448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444A52"/>
                </a:solidFill>
                <a:latin typeface="Calibri"/>
              </a:rPr>
              <a:t>3.5e-2</a:t>
            </a:r>
          </a:p>
        </p:txBody>
      </p:sp>
      <p:sp>
        <p:nvSpPr>
          <p:cNvPr id="62" name="Rectangle 61"/>
          <p:cNvSpPr/>
          <p:nvPr/>
        </p:nvSpPr>
        <p:spPr>
          <a:xfrm>
            <a:off x="6309360" y="4434840"/>
            <a:ext cx="457200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419088" y="4498848"/>
            <a:ext cx="438912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1E7D52"/>
                </a:solidFill>
                <a:latin typeface="Calibri"/>
              </a:rPr>
              <a:t>NO–calcium</a:t>
            </a:r>
          </a:p>
        </p:txBody>
      </p:sp>
      <p:sp>
        <p:nvSpPr>
          <p:cNvPr id="64" name="Rectangle 63"/>
          <p:cNvSpPr/>
          <p:nvPr/>
        </p:nvSpPr>
        <p:spPr>
          <a:xfrm>
            <a:off x="822960" y="4937760"/>
            <a:ext cx="201168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2688" y="5001768"/>
            <a:ext cx="1828800" cy="411480"/>
          </a:xfrm>
          <a:prstGeom prst="rect">
            <a:avLst/>
          </a:prstGeom>
          <a:noFill/>
        </p:spPr>
        <p:txBody>
          <a:bodyPr wrap="square" anchor="ctr">
            <a:spAutoFit/>
          </a:bodyPr>
          <a:lstStyle/>
          <a:p>
            <a:pPr algn="l">
              <a:lnSpc>
                <a:spcPct val="100000"/>
              </a:lnSpc>
              <a:spcBef>
                <a:spcPts val="0"/>
              </a:spcBef>
              <a:spcAft>
                <a:spcPts val="0"/>
              </a:spcAft>
            </a:pPr>
            <a:r>
              <a:rPr sz="1500" b="1" i="1">
                <a:solidFill>
                  <a:srgbClr val="102A43"/>
                </a:solidFill>
                <a:latin typeface="Calibri"/>
              </a:rPr>
              <a:t>Ryr3</a:t>
            </a:r>
          </a:p>
        </p:txBody>
      </p:sp>
      <p:sp>
        <p:nvSpPr>
          <p:cNvPr id="66" name="Rectangle 65"/>
          <p:cNvSpPr/>
          <p:nvPr/>
        </p:nvSpPr>
        <p:spPr>
          <a:xfrm>
            <a:off x="2834640" y="4937760"/>
            <a:ext cx="173736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944368" y="5001768"/>
            <a:ext cx="1554480" cy="411480"/>
          </a:xfrm>
          <a:prstGeom prst="rect">
            <a:avLst/>
          </a:prstGeom>
          <a:noFill/>
        </p:spPr>
        <p:txBody>
          <a:bodyPr wrap="square" anchor="ctr">
            <a:spAutoFit/>
          </a:bodyPr>
          <a:lstStyle/>
          <a:p>
            <a:pPr algn="l">
              <a:lnSpc>
                <a:spcPct val="100000"/>
              </a:lnSpc>
              <a:spcBef>
                <a:spcPts val="0"/>
              </a:spcBef>
              <a:spcAft>
                <a:spcPts val="0"/>
              </a:spcAft>
            </a:pPr>
            <a:r>
              <a:rPr sz="1500" b="1" i="0">
                <a:solidFill>
                  <a:srgbClr val="1E7D52"/>
                </a:solidFill>
                <a:latin typeface="Calibri"/>
              </a:rPr>
              <a:t>+0.47</a:t>
            </a:r>
          </a:p>
        </p:txBody>
      </p:sp>
      <p:sp>
        <p:nvSpPr>
          <p:cNvPr id="68" name="Rectangle 67"/>
          <p:cNvSpPr/>
          <p:nvPr/>
        </p:nvSpPr>
        <p:spPr>
          <a:xfrm>
            <a:off x="4572000" y="4937760"/>
            <a:ext cx="173736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681728" y="5001768"/>
            <a:ext cx="155448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444A52"/>
                </a:solidFill>
                <a:latin typeface="Calibri"/>
              </a:rPr>
              <a:t>2.4e-2</a:t>
            </a:r>
          </a:p>
        </p:txBody>
      </p:sp>
      <p:sp>
        <p:nvSpPr>
          <p:cNvPr id="70" name="Rectangle 69"/>
          <p:cNvSpPr/>
          <p:nvPr/>
        </p:nvSpPr>
        <p:spPr>
          <a:xfrm>
            <a:off x="6309360" y="4937760"/>
            <a:ext cx="4572000" cy="50292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419088" y="5001768"/>
            <a:ext cx="438912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1E7D52"/>
                </a:solidFill>
                <a:latin typeface="Calibri"/>
              </a:rPr>
              <a:t>NO–calcium</a:t>
            </a:r>
          </a:p>
        </p:txBody>
      </p:sp>
      <p:sp>
        <p:nvSpPr>
          <p:cNvPr id="72" name="Rectangle 71"/>
          <p:cNvSpPr/>
          <p:nvPr/>
        </p:nvSpPr>
        <p:spPr>
          <a:xfrm>
            <a:off x="822960" y="5440680"/>
            <a:ext cx="201168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2688" y="5504688"/>
            <a:ext cx="1828800" cy="411480"/>
          </a:xfrm>
          <a:prstGeom prst="rect">
            <a:avLst/>
          </a:prstGeom>
          <a:noFill/>
        </p:spPr>
        <p:txBody>
          <a:bodyPr wrap="square" anchor="ctr">
            <a:spAutoFit/>
          </a:bodyPr>
          <a:lstStyle/>
          <a:p>
            <a:pPr algn="l">
              <a:lnSpc>
                <a:spcPct val="100000"/>
              </a:lnSpc>
              <a:spcBef>
                <a:spcPts val="0"/>
              </a:spcBef>
              <a:spcAft>
                <a:spcPts val="0"/>
              </a:spcAft>
            </a:pPr>
            <a:r>
              <a:rPr sz="1500" b="1" i="1">
                <a:solidFill>
                  <a:srgbClr val="102A43"/>
                </a:solidFill>
                <a:latin typeface="Calibri"/>
              </a:rPr>
              <a:t>Tln2</a:t>
            </a:r>
          </a:p>
        </p:txBody>
      </p:sp>
      <p:sp>
        <p:nvSpPr>
          <p:cNvPr id="74" name="Rectangle 73"/>
          <p:cNvSpPr/>
          <p:nvPr/>
        </p:nvSpPr>
        <p:spPr>
          <a:xfrm>
            <a:off x="2834640" y="5440680"/>
            <a:ext cx="173736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2944368" y="5504688"/>
            <a:ext cx="1554480" cy="411480"/>
          </a:xfrm>
          <a:prstGeom prst="rect">
            <a:avLst/>
          </a:prstGeom>
          <a:noFill/>
        </p:spPr>
        <p:txBody>
          <a:bodyPr wrap="square" anchor="ctr">
            <a:spAutoFit/>
          </a:bodyPr>
          <a:lstStyle/>
          <a:p>
            <a:pPr algn="l">
              <a:lnSpc>
                <a:spcPct val="100000"/>
              </a:lnSpc>
              <a:spcBef>
                <a:spcPts val="0"/>
              </a:spcBef>
              <a:spcAft>
                <a:spcPts val="0"/>
              </a:spcAft>
            </a:pPr>
            <a:r>
              <a:rPr sz="1500" b="1" i="0">
                <a:solidFill>
                  <a:srgbClr val="1E7D52"/>
                </a:solidFill>
                <a:latin typeface="Calibri"/>
              </a:rPr>
              <a:t>+0.39</a:t>
            </a:r>
          </a:p>
        </p:txBody>
      </p:sp>
      <p:sp>
        <p:nvSpPr>
          <p:cNvPr id="76" name="Rectangle 75"/>
          <p:cNvSpPr/>
          <p:nvPr/>
        </p:nvSpPr>
        <p:spPr>
          <a:xfrm>
            <a:off x="4572000" y="5440680"/>
            <a:ext cx="173736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681728" y="5504688"/>
            <a:ext cx="155448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444A52"/>
                </a:solidFill>
                <a:latin typeface="Calibri"/>
              </a:rPr>
              <a:t>1.2e-2</a:t>
            </a:r>
          </a:p>
        </p:txBody>
      </p:sp>
      <p:sp>
        <p:nvSpPr>
          <p:cNvPr id="78" name="Rectangle 77"/>
          <p:cNvSpPr/>
          <p:nvPr/>
        </p:nvSpPr>
        <p:spPr>
          <a:xfrm>
            <a:off x="6309360" y="5440680"/>
            <a:ext cx="4572000" cy="50292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419088" y="5504688"/>
            <a:ext cx="4389120" cy="411480"/>
          </a:xfrm>
          <a:prstGeom prst="rect">
            <a:avLst/>
          </a:prstGeom>
          <a:noFill/>
        </p:spPr>
        <p:txBody>
          <a:bodyPr wrap="square" anchor="ctr">
            <a:spAutoFit/>
          </a:bodyPr>
          <a:lstStyle/>
          <a:p>
            <a:pPr algn="l">
              <a:lnSpc>
                <a:spcPct val="100000"/>
              </a:lnSpc>
              <a:spcBef>
                <a:spcPts val="0"/>
              </a:spcBef>
              <a:spcAft>
                <a:spcPts val="0"/>
              </a:spcAft>
            </a:pPr>
            <a:r>
              <a:rPr sz="1500" b="0" i="0">
                <a:solidFill>
                  <a:srgbClr val="1E7D52"/>
                </a:solidFill>
                <a:latin typeface="Calibri"/>
              </a:rPr>
              <a:t>Adhesion</a:t>
            </a:r>
          </a:p>
        </p:txBody>
      </p:sp>
      <p:sp>
        <p:nvSpPr>
          <p:cNvPr id="80" name="TextBox 79"/>
          <p:cNvSpPr txBox="1"/>
          <p:nvPr/>
        </p:nvSpPr>
        <p:spPr>
          <a:xfrm>
            <a:off x="822960" y="5943600"/>
            <a:ext cx="10515600" cy="640080"/>
          </a:xfrm>
          <a:prstGeom prst="rect">
            <a:avLst/>
          </a:prstGeom>
          <a:noFill/>
        </p:spPr>
        <p:txBody>
          <a:bodyPr wrap="square" anchor="t">
            <a:spAutoFit/>
          </a:bodyPr>
          <a:lstStyle/>
          <a:p>
            <a:pPr algn="l">
              <a:lnSpc>
                <a:spcPct val="105000"/>
              </a:lnSpc>
              <a:spcBef>
                <a:spcPts val="0"/>
              </a:spcBef>
              <a:spcAft>
                <a:spcPts val="0"/>
              </a:spcAft>
            </a:pPr>
            <a:r>
              <a:rPr sz="1500" b="0" i="1">
                <a:solidFill>
                  <a:srgbClr val="444A52"/>
                </a:solidFill>
                <a:latin typeface="Calibri"/>
              </a:rPr>
              <a:t>Down: IEG, cytoskeleton, splicing.   Up: axon guidance, NO–calcium, adhesion.   Individually small — but they fall into clean, interpretable modules.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RESULTS · DYNAMICS</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Result 2 — the response is a transient 5-minute pulse</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13</a:t>
            </a:r>
          </a:p>
        </p:txBody>
      </p:sp>
      <p:pic>
        <p:nvPicPr>
          <p:cNvPr id="8" name="Picture 7" descr="f_traj.png"/>
          <p:cNvPicPr>
            <a:picLocks noChangeAspect="1"/>
          </p:cNvPicPr>
          <p:nvPr/>
        </p:nvPicPr>
        <p:blipFill>
          <a:blip r:embed="rId3"/>
          <a:stretch>
            <a:fillRect/>
          </a:stretch>
        </p:blipFill>
        <p:spPr>
          <a:xfrm>
            <a:off x="640080" y="1577340"/>
            <a:ext cx="6583680" cy="4526280"/>
          </a:xfrm>
          <a:prstGeom prst="rect">
            <a:avLst/>
          </a:prstGeom>
        </p:spPr>
      </p:pic>
      <p:sp>
        <p:nvSpPr>
          <p:cNvPr id="9" name="TextBox 8"/>
          <p:cNvSpPr txBox="1"/>
          <p:nvPr/>
        </p:nvSpPr>
        <p:spPr>
          <a:xfrm>
            <a:off x="7406640" y="1645920"/>
            <a:ext cx="4114800" cy="4572000"/>
          </a:xfrm>
          <a:prstGeom prst="rect">
            <a:avLst/>
          </a:prstGeom>
          <a:noFill/>
        </p:spPr>
        <p:txBody>
          <a:bodyPr wrap="square">
            <a:spAutoFit/>
          </a:bodyPr>
          <a:lstStyle/>
          <a:p>
            <a:pPr marL="0" indent="0">
              <a:lnSpc>
                <a:spcPct val="104000"/>
              </a:lnSpc>
              <a:spcBef>
                <a:spcPts val="0"/>
              </a:spcBef>
              <a:spcAft>
                <a:spcPts val="800"/>
              </a:spcAft>
            </a:pPr>
            <a:r>
              <a:rPr sz="1600" b="1">
                <a:solidFill>
                  <a:srgbClr val="444A52"/>
                </a:solidFill>
                <a:latin typeface="Calibri"/>
              </a:rPr>
              <a:t>▸  LRT finds 19 genes that change significantly over time.</a:t>
            </a:r>
          </a:p>
          <a:p>
            <a:pPr marL="0" indent="0">
              <a:lnSpc>
                <a:spcPct val="104000"/>
              </a:lnSpc>
              <a:spcBef>
                <a:spcPts val="0"/>
              </a:spcBef>
              <a:spcAft>
                <a:spcPts val="800"/>
              </a:spcAft>
            </a:pPr>
            <a:r>
              <a:rPr sz="1600" b="1">
                <a:solidFill>
                  <a:srgbClr val="0E5A61"/>
                </a:solidFill>
                <a:latin typeface="Calibri"/>
              </a:rPr>
              <a:t>▸  The dominant shape: a 5-minute PULSE —</a:t>
            </a:r>
          </a:p>
          <a:p>
            <a:pPr marL="274320" indent="0">
              <a:lnSpc>
                <a:spcPct val="104000"/>
              </a:lnSpc>
              <a:spcBef>
                <a:spcPts val="0"/>
              </a:spcBef>
              <a:spcAft>
                <a:spcPts val="800"/>
              </a:spcAft>
            </a:pPr>
            <a:r>
              <a:rPr sz="1500" b="0">
                <a:solidFill>
                  <a:srgbClr val="444A52"/>
                </a:solidFill>
                <a:latin typeface="Calibri"/>
              </a:rPr>
              <a:t>–  depart from baseline at 5 min…</a:t>
            </a:r>
          </a:p>
          <a:p>
            <a:pPr marL="274320" indent="0">
              <a:lnSpc>
                <a:spcPct val="104000"/>
              </a:lnSpc>
              <a:spcBef>
                <a:spcPts val="0"/>
              </a:spcBef>
              <a:spcAft>
                <a:spcPts val="800"/>
              </a:spcAft>
            </a:pPr>
            <a:r>
              <a:rPr sz="1500" b="0">
                <a:solidFill>
                  <a:srgbClr val="444A52"/>
                </a:solidFill>
                <a:latin typeface="Calibri"/>
              </a:rPr>
              <a:t>–  …then return toward baseline by 15 min.</a:t>
            </a:r>
          </a:p>
          <a:p>
            <a:pPr marL="0" indent="0">
              <a:lnSpc>
                <a:spcPct val="104000"/>
              </a:lnSpc>
              <a:spcBef>
                <a:spcPts val="0"/>
              </a:spcBef>
              <a:spcAft>
                <a:spcPts val="800"/>
              </a:spcAft>
            </a:pPr>
            <a:r>
              <a:rPr sz="1600" b="1">
                <a:solidFill>
                  <a:srgbClr val="102A43"/>
                </a:solidFill>
                <a:latin typeface="Calibri"/>
              </a:rPr>
              <a:t>▸  This is the first direct evidence the program is TRANSIENT, not sustained.</a:t>
            </a:r>
          </a:p>
          <a:p>
            <a:pPr marL="0" indent="0">
              <a:lnSpc>
                <a:spcPct val="104000"/>
              </a:lnSpc>
              <a:spcBef>
                <a:spcPts val="0"/>
              </a:spcBef>
              <a:spcAft>
                <a:spcPts val="800"/>
              </a:spcAft>
            </a:pPr>
            <a:r>
              <a:rPr sz="1600" b="1">
                <a:solidFill>
                  <a:srgbClr val="C0392B"/>
                </a:solidFill>
                <a:latin typeface="Calibri"/>
              </a:rPr>
              <a:t>▸  Caveat (shown honestly):</a:t>
            </a:r>
          </a:p>
          <a:p>
            <a:pPr marL="274320" indent="0">
              <a:lnSpc>
                <a:spcPct val="104000"/>
              </a:lnSpc>
              <a:spcBef>
                <a:spcPts val="0"/>
              </a:spcBef>
              <a:spcAft>
                <a:spcPts val="800"/>
              </a:spcAft>
            </a:pPr>
            <a:r>
              <a:rPr sz="1500" b="0">
                <a:solidFill>
                  <a:srgbClr val="C0392B"/>
                </a:solidFill>
                <a:latin typeface="Calibri"/>
              </a:rPr>
              <a:t>–  Fos at 15 min overshoots baseline; its Vehicle replicates are variable → wide error band.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RESULTS · DYNAMICS</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A surprise: two immediate-early genes are SUPPRESSED</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14</a:t>
            </a:r>
          </a:p>
        </p:txBody>
      </p:sp>
      <p:sp>
        <p:nvSpPr>
          <p:cNvPr id="8" name="Rectangle 7"/>
          <p:cNvSpPr/>
          <p:nvPr/>
        </p:nvSpPr>
        <p:spPr>
          <a:xfrm>
            <a:off x="822960" y="1417320"/>
            <a:ext cx="10607040" cy="1234440"/>
          </a:xfrm>
          <a:prstGeom prst="rect">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1554480"/>
            <a:ext cx="10058400" cy="1005840"/>
          </a:xfrm>
          <a:prstGeom prst="rect">
            <a:avLst/>
          </a:prstGeom>
          <a:noFill/>
        </p:spPr>
        <p:txBody>
          <a:bodyPr wrap="square" anchor="ctr">
            <a:spAutoFit/>
          </a:bodyPr>
          <a:lstStyle/>
          <a:p>
            <a:pPr algn="l">
              <a:lnSpc>
                <a:spcPct val="105000"/>
              </a:lnSpc>
              <a:spcBef>
                <a:spcPts val="0"/>
              </a:spcBef>
              <a:spcAft>
                <a:spcPts val="0"/>
              </a:spcAft>
            </a:pPr>
            <a:r>
              <a:rPr sz="1800" b="1" i="0">
                <a:solidFill>
                  <a:srgbClr val="102A43"/>
                </a:solidFill>
                <a:latin typeface="Calibri"/>
              </a:rPr>
              <a:t>Immediate-early genes are normally ACTIVATED by neuronal activity. Here, acute Netrin-1 does the opposite — it acutely DOWN-regulates them.</a:t>
            </a:r>
          </a:p>
        </p:txBody>
      </p:sp>
      <p:sp>
        <p:nvSpPr>
          <p:cNvPr id="10" name="Rectangle 9"/>
          <p:cNvSpPr/>
          <p:nvPr/>
        </p:nvSpPr>
        <p:spPr>
          <a:xfrm>
            <a:off x="822960" y="2926080"/>
            <a:ext cx="5166360" cy="3108960"/>
          </a:xfrm>
          <a:prstGeom prst="rect">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3108960"/>
            <a:ext cx="4754880" cy="2743200"/>
          </a:xfrm>
          <a:prstGeom prst="rect">
            <a:avLst/>
          </a:prstGeom>
          <a:noFill/>
        </p:spPr>
        <p:txBody>
          <a:bodyPr wrap="square" anchor="t">
            <a:spAutoFit/>
          </a:bodyPr>
          <a:lstStyle/>
          <a:p>
            <a:pPr algn="l">
              <a:lnSpc>
                <a:spcPct val="100000"/>
              </a:lnSpc>
              <a:spcBef>
                <a:spcPts val="0"/>
              </a:spcBef>
              <a:spcAft>
                <a:spcPts val="800"/>
              </a:spcAft>
            </a:pPr>
            <a:r>
              <a:rPr sz="2600" b="1" i="0">
                <a:solidFill>
                  <a:srgbClr val="C0392B"/>
                </a:solidFill>
                <a:latin typeface="Calibri"/>
              </a:rPr>
              <a:t>Fos</a:t>
            </a:r>
          </a:p>
          <a:p>
            <a:pPr algn="l">
              <a:lnSpc>
                <a:spcPct val="100000"/>
              </a:lnSpc>
              <a:spcBef>
                <a:spcPts val="0"/>
              </a:spcBef>
              <a:spcAft>
                <a:spcPts val="800"/>
              </a:spcAft>
            </a:pPr>
            <a:r>
              <a:rPr sz="1700" b="0" i="0">
                <a:solidFill>
                  <a:srgbClr val="444A52"/>
                </a:solidFill>
                <a:latin typeface="Calibri"/>
              </a:rPr>
              <a:t>log2FC −2.35  ·  padj 2.4e-3</a:t>
            </a:r>
          </a:p>
          <a:p>
            <a:pPr algn="l">
              <a:lnSpc>
                <a:spcPct val="100000"/>
              </a:lnSpc>
              <a:spcBef>
                <a:spcPts val="0"/>
              </a:spcBef>
              <a:spcAft>
                <a:spcPts val="800"/>
              </a:spcAft>
            </a:pPr>
            <a:r>
              <a:rPr sz="1600" b="0" i="1">
                <a:solidFill>
                  <a:srgbClr val="444A52"/>
                </a:solidFill>
                <a:latin typeface="Calibri"/>
              </a:rPr>
              <a:t>The strongest DEG of the whole study.</a:t>
            </a:r>
          </a:p>
          <a:p>
            <a:pPr algn="l">
              <a:lnSpc>
                <a:spcPct val="100000"/>
              </a:lnSpc>
              <a:spcBef>
                <a:spcPts val="0"/>
              </a:spcBef>
              <a:spcAft>
                <a:spcPts val="800"/>
              </a:spcAft>
            </a:pPr>
            <a:r>
              <a:rPr sz="800" b="0" i="0">
                <a:solidFill>
                  <a:srgbClr val="444A52"/>
                </a:solidFill>
                <a:latin typeface="Calibri"/>
              </a:rPr>
              <a:t> </a:t>
            </a:r>
          </a:p>
          <a:p>
            <a:pPr algn="l">
              <a:lnSpc>
                <a:spcPct val="100000"/>
              </a:lnSpc>
              <a:spcBef>
                <a:spcPts val="0"/>
              </a:spcBef>
              <a:spcAft>
                <a:spcPts val="800"/>
              </a:spcAft>
            </a:pPr>
            <a:r>
              <a:rPr sz="1600" b="1" i="0">
                <a:solidFill>
                  <a:srgbClr val="102A43"/>
                </a:solidFill>
                <a:latin typeface="Calibri"/>
              </a:rPr>
              <a:t>Strong, significant acute repression.</a:t>
            </a:r>
          </a:p>
        </p:txBody>
      </p:sp>
      <p:sp>
        <p:nvSpPr>
          <p:cNvPr id="12" name="Rectangle 11"/>
          <p:cNvSpPr/>
          <p:nvPr/>
        </p:nvSpPr>
        <p:spPr>
          <a:xfrm>
            <a:off x="6263640" y="2926080"/>
            <a:ext cx="5166360" cy="3108960"/>
          </a:xfrm>
          <a:prstGeom prst="rect">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3108960"/>
            <a:ext cx="4754880" cy="2743200"/>
          </a:xfrm>
          <a:prstGeom prst="rect">
            <a:avLst/>
          </a:prstGeom>
          <a:noFill/>
        </p:spPr>
        <p:txBody>
          <a:bodyPr wrap="square" anchor="t">
            <a:spAutoFit/>
          </a:bodyPr>
          <a:lstStyle/>
          <a:p>
            <a:pPr algn="l">
              <a:lnSpc>
                <a:spcPct val="100000"/>
              </a:lnSpc>
              <a:spcBef>
                <a:spcPts val="0"/>
              </a:spcBef>
              <a:spcAft>
                <a:spcPts val="800"/>
              </a:spcAft>
            </a:pPr>
            <a:r>
              <a:rPr sz="2600" b="1" i="0">
                <a:solidFill>
                  <a:srgbClr val="C0392B"/>
                </a:solidFill>
                <a:latin typeface="Calibri"/>
              </a:rPr>
              <a:t>Npas4</a:t>
            </a:r>
          </a:p>
          <a:p>
            <a:pPr algn="l">
              <a:lnSpc>
                <a:spcPct val="100000"/>
              </a:lnSpc>
              <a:spcBef>
                <a:spcPts val="0"/>
              </a:spcBef>
              <a:spcAft>
                <a:spcPts val="800"/>
              </a:spcAft>
            </a:pPr>
            <a:r>
              <a:rPr sz="1700" b="0" i="0">
                <a:solidFill>
                  <a:srgbClr val="444A52"/>
                </a:solidFill>
                <a:latin typeface="Calibri"/>
              </a:rPr>
              <a:t>log2FC −1.75  ·  padj 0.076 (Wald, n.s.)</a:t>
            </a:r>
          </a:p>
          <a:p>
            <a:pPr algn="l">
              <a:lnSpc>
                <a:spcPct val="100000"/>
              </a:lnSpc>
              <a:spcBef>
                <a:spcPts val="0"/>
              </a:spcBef>
              <a:spcAft>
                <a:spcPts val="800"/>
              </a:spcAft>
            </a:pPr>
            <a:r>
              <a:rPr sz="1600" b="0" i="1">
                <a:solidFill>
                  <a:srgbClr val="444A52"/>
                </a:solidFill>
                <a:latin typeface="Calibri"/>
              </a:rPr>
              <a:t>Significant by the time-course LRT.</a:t>
            </a:r>
          </a:p>
          <a:p>
            <a:pPr algn="l">
              <a:lnSpc>
                <a:spcPct val="100000"/>
              </a:lnSpc>
              <a:spcBef>
                <a:spcPts val="0"/>
              </a:spcBef>
              <a:spcAft>
                <a:spcPts val="800"/>
              </a:spcAft>
            </a:pPr>
            <a:r>
              <a:rPr sz="800" b="0" i="0">
                <a:solidFill>
                  <a:srgbClr val="444A52"/>
                </a:solidFill>
                <a:latin typeface="Calibri"/>
              </a:rPr>
              <a:t> </a:t>
            </a:r>
          </a:p>
          <a:p>
            <a:pPr algn="l">
              <a:lnSpc>
                <a:spcPct val="100000"/>
              </a:lnSpc>
              <a:spcBef>
                <a:spcPts val="0"/>
              </a:spcBef>
              <a:spcAft>
                <a:spcPts val="800"/>
              </a:spcAft>
            </a:pPr>
            <a:r>
              <a:rPr sz="1600" b="1" i="0">
                <a:solidFill>
                  <a:srgbClr val="102A43"/>
                </a:solidFill>
                <a:latin typeface="Calibri"/>
              </a:rPr>
              <a:t>A second acutely-repressed IEG.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RESULTS · DYNAMICS</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Selective control: Rock1 down, Rock2 untouched</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15</a:t>
            </a:r>
          </a:p>
        </p:txBody>
      </p:sp>
      <p:pic>
        <p:nvPicPr>
          <p:cNvPr id="8" name="Picture 7" descr="f_rock.png"/>
          <p:cNvPicPr>
            <a:picLocks noChangeAspect="1"/>
          </p:cNvPicPr>
          <p:nvPr/>
        </p:nvPicPr>
        <p:blipFill>
          <a:blip r:embed="rId3"/>
          <a:stretch>
            <a:fillRect/>
          </a:stretch>
        </p:blipFill>
        <p:spPr>
          <a:xfrm>
            <a:off x="640080" y="1577340"/>
            <a:ext cx="6583680" cy="4526280"/>
          </a:xfrm>
          <a:prstGeom prst="rect">
            <a:avLst/>
          </a:prstGeom>
        </p:spPr>
      </p:pic>
      <p:sp>
        <p:nvSpPr>
          <p:cNvPr id="9" name="TextBox 8"/>
          <p:cNvSpPr txBox="1"/>
          <p:nvPr/>
        </p:nvSpPr>
        <p:spPr>
          <a:xfrm>
            <a:off x="7406640" y="1737360"/>
            <a:ext cx="4114800" cy="4572000"/>
          </a:xfrm>
          <a:prstGeom prst="rect">
            <a:avLst/>
          </a:prstGeom>
          <a:noFill/>
        </p:spPr>
        <p:txBody>
          <a:bodyPr wrap="square">
            <a:spAutoFit/>
          </a:bodyPr>
          <a:lstStyle/>
          <a:p>
            <a:pPr marL="0" indent="0">
              <a:lnSpc>
                <a:spcPct val="104000"/>
              </a:lnSpc>
              <a:spcBef>
                <a:spcPts val="0"/>
              </a:spcBef>
              <a:spcAft>
                <a:spcPts val="1100"/>
              </a:spcAft>
            </a:pPr>
            <a:r>
              <a:rPr sz="1650" b="1">
                <a:solidFill>
                  <a:srgbClr val="C0392B"/>
                </a:solidFill>
                <a:latin typeface="Calibri"/>
              </a:rPr>
              <a:t>▸  Rock1: log2FC −0.43, padj 9.4e-6 — clearly DOWN.</a:t>
            </a:r>
          </a:p>
          <a:p>
            <a:pPr marL="0" indent="0">
              <a:lnSpc>
                <a:spcPct val="104000"/>
              </a:lnSpc>
              <a:spcBef>
                <a:spcPts val="0"/>
              </a:spcBef>
              <a:spcAft>
                <a:spcPts val="1100"/>
              </a:spcAft>
            </a:pPr>
            <a:r>
              <a:rPr sz="1650" b="1">
                <a:solidFill>
                  <a:srgbClr val="444A52"/>
                </a:solidFill>
                <a:latin typeface="Calibri"/>
              </a:rPr>
              <a:t>▸  Rock2: log2FC +0.07, padj ≈ 1.0 — unchanged.</a:t>
            </a:r>
          </a:p>
          <a:p>
            <a:pPr marL="0" indent="0">
              <a:lnSpc>
                <a:spcPct val="104000"/>
              </a:lnSpc>
              <a:spcBef>
                <a:spcPts val="0"/>
              </a:spcBef>
              <a:spcAft>
                <a:spcPts val="1100"/>
              </a:spcAft>
            </a:pPr>
            <a:r>
              <a:rPr sz="1650" b="1">
                <a:solidFill>
                  <a:srgbClr val="102A43"/>
                </a:solidFill>
                <a:latin typeface="Calibri"/>
              </a:rPr>
              <a:t>▸  Two paralogues, opposite fates within one cell.</a:t>
            </a:r>
          </a:p>
          <a:p>
            <a:pPr marL="0" indent="0">
              <a:lnSpc>
                <a:spcPct val="104000"/>
              </a:lnSpc>
              <a:spcBef>
                <a:spcPts val="0"/>
              </a:spcBef>
              <a:spcAft>
                <a:spcPts val="1100"/>
              </a:spcAft>
            </a:pPr>
            <a:r>
              <a:rPr sz="1650" b="0">
                <a:solidFill>
                  <a:srgbClr val="444A52"/>
                </a:solidFill>
                <a:latin typeface="Calibri"/>
              </a:rPr>
              <a:t>▸  ROCK1 is a classic downstream effector of Netrin–DCC signaling.</a:t>
            </a:r>
          </a:p>
          <a:p>
            <a:pPr marL="0" indent="0">
              <a:lnSpc>
                <a:spcPct val="104000"/>
              </a:lnSpc>
              <a:spcBef>
                <a:spcPts val="0"/>
              </a:spcBef>
              <a:spcAft>
                <a:spcPts val="1100"/>
              </a:spcAft>
            </a:pPr>
            <a:r>
              <a:rPr sz="1650" b="1">
                <a:solidFill>
                  <a:srgbClr val="0E5A61"/>
                </a:solidFill>
                <a:latin typeface="Calibri"/>
              </a:rPr>
              <a:t>▸  Implication: Netrin exerts ISOFORM-SELECTIVE transcriptional control — precise, not a blunt instrument.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RESULTS · DYNAMICS</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DEGs separate the conditions coherently</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16</a:t>
            </a:r>
          </a:p>
        </p:txBody>
      </p:sp>
      <p:pic>
        <p:nvPicPr>
          <p:cNvPr id="8" name="Picture 7" descr="f_heatmap.png"/>
          <p:cNvPicPr>
            <a:picLocks noChangeAspect="1"/>
          </p:cNvPicPr>
          <p:nvPr/>
        </p:nvPicPr>
        <p:blipFill>
          <a:blip r:embed="rId3"/>
          <a:stretch>
            <a:fillRect/>
          </a:stretch>
        </p:blipFill>
        <p:spPr>
          <a:xfrm>
            <a:off x="1065007" y="1325880"/>
            <a:ext cx="4819425" cy="5120640"/>
          </a:xfrm>
          <a:prstGeom prst="rect">
            <a:avLst/>
          </a:prstGeom>
        </p:spPr>
      </p:pic>
      <p:sp>
        <p:nvSpPr>
          <p:cNvPr id="9" name="TextBox 8"/>
          <p:cNvSpPr txBox="1"/>
          <p:nvPr/>
        </p:nvSpPr>
        <p:spPr>
          <a:xfrm>
            <a:off x="6675120" y="1737360"/>
            <a:ext cx="4846320" cy="4572000"/>
          </a:xfrm>
          <a:prstGeom prst="rect">
            <a:avLst/>
          </a:prstGeom>
          <a:noFill/>
        </p:spPr>
        <p:txBody>
          <a:bodyPr wrap="square">
            <a:spAutoFit/>
          </a:bodyPr>
          <a:lstStyle/>
          <a:p>
            <a:pPr marL="0" indent="0">
              <a:lnSpc>
                <a:spcPct val="104000"/>
              </a:lnSpc>
              <a:spcBef>
                <a:spcPts val="0"/>
              </a:spcBef>
              <a:spcAft>
                <a:spcPts val="1100"/>
              </a:spcAft>
            </a:pPr>
            <a:r>
              <a:rPr sz="1700" b="1">
                <a:solidFill>
                  <a:srgbClr val="444A52"/>
                </a:solidFill>
                <a:latin typeface="Calibri"/>
              </a:rPr>
              <a:t>▸  Heatmap of 5-vs-0 DEGs across all samples.</a:t>
            </a:r>
          </a:p>
          <a:p>
            <a:pPr marL="0" indent="0">
              <a:lnSpc>
                <a:spcPct val="104000"/>
              </a:lnSpc>
              <a:spcBef>
                <a:spcPts val="0"/>
              </a:spcBef>
              <a:spcAft>
                <a:spcPts val="1100"/>
              </a:spcAft>
            </a:pPr>
            <a:r>
              <a:rPr sz="1700" b="0">
                <a:solidFill>
                  <a:srgbClr val="444A52"/>
                </a:solidFill>
                <a:latin typeface="Calibri"/>
              </a:rPr>
              <a:t>▸  Coordinated up- and down-blocks distinguish the Netrin-5min condition.</a:t>
            </a:r>
          </a:p>
          <a:p>
            <a:pPr marL="0" indent="0">
              <a:lnSpc>
                <a:spcPct val="104000"/>
              </a:lnSpc>
              <a:spcBef>
                <a:spcPts val="0"/>
              </a:spcBef>
              <a:spcAft>
                <a:spcPts val="1100"/>
              </a:spcAft>
            </a:pPr>
            <a:r>
              <a:rPr sz="1700" b="0">
                <a:solidFill>
                  <a:srgbClr val="444A52"/>
                </a:solidFill>
                <a:latin typeface="Calibri"/>
              </a:rPr>
              <a:t>▸  Patterns are consistent within replicates after batch handling.</a:t>
            </a:r>
          </a:p>
          <a:p>
            <a:pPr marL="0" indent="0">
              <a:lnSpc>
                <a:spcPct val="104000"/>
              </a:lnSpc>
              <a:spcBef>
                <a:spcPts val="0"/>
              </a:spcBef>
              <a:spcAft>
                <a:spcPts val="1100"/>
              </a:spcAft>
            </a:pPr>
            <a:r>
              <a:rPr sz="1700" b="0">
                <a:solidFill>
                  <a:srgbClr val="444A52"/>
                </a:solidFill>
                <a:latin typeface="Calibri"/>
              </a:rPr>
              <a:t>▸  Confirms, at the expression-matrix level, that the 5-minute state is a distinct and coherent program —</a:t>
            </a:r>
          </a:p>
          <a:p>
            <a:pPr marL="274320" indent="0">
              <a:lnSpc>
                <a:spcPct val="104000"/>
              </a:lnSpc>
              <a:spcBef>
                <a:spcPts val="0"/>
              </a:spcBef>
              <a:spcAft>
                <a:spcPts val="1100"/>
              </a:spcAft>
            </a:pPr>
            <a:r>
              <a:rPr sz="1600" b="0">
                <a:solidFill>
                  <a:srgbClr val="102A43"/>
                </a:solidFill>
                <a:latin typeface="Calibri"/>
              </a:rPr>
              <a:t>–  not scattered noise across a few genes.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RESULTS · PATHWAYS</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Result 3 — GSEA reveals a coordinated program</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17</a:t>
            </a:r>
          </a:p>
        </p:txBody>
      </p:sp>
      <p:pic>
        <p:nvPicPr>
          <p:cNvPr id="8" name="Picture 7" descr="f_gsea_go5.png"/>
          <p:cNvPicPr>
            <a:picLocks noChangeAspect="1"/>
          </p:cNvPicPr>
          <p:nvPr/>
        </p:nvPicPr>
        <p:blipFill>
          <a:blip r:embed="rId3"/>
          <a:stretch>
            <a:fillRect/>
          </a:stretch>
        </p:blipFill>
        <p:spPr>
          <a:xfrm>
            <a:off x="668655" y="1325880"/>
            <a:ext cx="6343650" cy="5074920"/>
          </a:xfrm>
          <a:prstGeom prst="rect">
            <a:avLst/>
          </a:prstGeom>
        </p:spPr>
      </p:pic>
      <p:sp>
        <p:nvSpPr>
          <p:cNvPr id="9" name="TextBox 8"/>
          <p:cNvSpPr txBox="1"/>
          <p:nvPr/>
        </p:nvSpPr>
        <p:spPr>
          <a:xfrm>
            <a:off x="7223760" y="1554480"/>
            <a:ext cx="4297680" cy="4754880"/>
          </a:xfrm>
          <a:prstGeom prst="rect">
            <a:avLst/>
          </a:prstGeom>
          <a:noFill/>
        </p:spPr>
        <p:txBody>
          <a:bodyPr wrap="square">
            <a:spAutoFit/>
          </a:bodyPr>
          <a:lstStyle/>
          <a:p>
            <a:pPr marL="0" indent="0">
              <a:lnSpc>
                <a:spcPct val="104000"/>
              </a:lnSpc>
              <a:spcBef>
                <a:spcPts val="0"/>
              </a:spcBef>
              <a:spcAft>
                <a:spcPts val="800"/>
              </a:spcAft>
            </a:pPr>
            <a:r>
              <a:rPr sz="1600" b="1">
                <a:solidFill>
                  <a:srgbClr val="444A52"/>
                </a:solidFill>
                <a:latin typeface="Calibri"/>
              </a:rPr>
              <a:t>▸  5v0 GO-BP: 313 significant terms (285 ↑ / 28 ↓).</a:t>
            </a:r>
          </a:p>
          <a:p>
            <a:pPr marL="0" indent="0">
              <a:lnSpc>
                <a:spcPct val="104000"/>
              </a:lnSpc>
              <a:spcBef>
                <a:spcPts val="0"/>
              </a:spcBef>
              <a:spcAft>
                <a:spcPts val="800"/>
              </a:spcAft>
            </a:pPr>
            <a:r>
              <a:rPr sz="1600" b="1">
                <a:solidFill>
                  <a:srgbClr val="1E7D52"/>
                </a:solidFill>
                <a:latin typeface="Calibri"/>
              </a:rPr>
              <a:t>▸  ACTIVATED at 5 min:</a:t>
            </a:r>
          </a:p>
          <a:p>
            <a:pPr marL="274320" indent="0">
              <a:lnSpc>
                <a:spcPct val="104000"/>
              </a:lnSpc>
              <a:spcBef>
                <a:spcPts val="0"/>
              </a:spcBef>
              <a:spcAft>
                <a:spcPts val="800"/>
              </a:spcAft>
            </a:pPr>
            <a:r>
              <a:rPr sz="1500" b="0">
                <a:solidFill>
                  <a:srgbClr val="1E7D52"/>
                </a:solidFill>
                <a:latin typeface="Calibri"/>
              </a:rPr>
              <a:t>–  axon guidance, neuron projection, synapse assembly.</a:t>
            </a:r>
          </a:p>
          <a:p>
            <a:pPr marL="0" indent="0">
              <a:lnSpc>
                <a:spcPct val="104000"/>
              </a:lnSpc>
              <a:spcBef>
                <a:spcPts val="0"/>
              </a:spcBef>
              <a:spcAft>
                <a:spcPts val="800"/>
              </a:spcAft>
            </a:pPr>
            <a:r>
              <a:rPr sz="1600" b="1">
                <a:solidFill>
                  <a:srgbClr val="C0392B"/>
                </a:solidFill>
                <a:latin typeface="Calibri"/>
              </a:rPr>
              <a:t>▸  SUPPRESSED at 5 min:</a:t>
            </a:r>
          </a:p>
          <a:p>
            <a:pPr marL="274320" indent="0">
              <a:lnSpc>
                <a:spcPct val="104000"/>
              </a:lnSpc>
              <a:spcBef>
                <a:spcPts val="0"/>
              </a:spcBef>
              <a:spcAft>
                <a:spcPts val="800"/>
              </a:spcAft>
            </a:pPr>
            <a:r>
              <a:rPr sz="1500" b="0">
                <a:solidFill>
                  <a:srgbClr val="C0392B"/>
                </a:solidFill>
                <a:latin typeface="Calibri"/>
              </a:rPr>
              <a:t>–  mRNA splicing / processing,</a:t>
            </a:r>
          </a:p>
          <a:p>
            <a:pPr marL="274320" indent="0">
              <a:lnSpc>
                <a:spcPct val="104000"/>
              </a:lnSpc>
              <a:spcBef>
                <a:spcPts val="0"/>
              </a:spcBef>
              <a:spcAft>
                <a:spcPts val="800"/>
              </a:spcAft>
            </a:pPr>
            <a:r>
              <a:rPr sz="1500" b="0">
                <a:solidFill>
                  <a:srgbClr val="C0392B"/>
                </a:solidFill>
                <a:latin typeface="Calibri"/>
              </a:rPr>
              <a:t>–  ribosome biogenesis &amp; translation.</a:t>
            </a:r>
          </a:p>
          <a:p>
            <a:pPr marL="0" indent="0">
              <a:lnSpc>
                <a:spcPct val="104000"/>
              </a:lnSpc>
              <a:spcBef>
                <a:spcPts val="0"/>
              </a:spcBef>
              <a:spcAft>
                <a:spcPts val="800"/>
              </a:spcAft>
            </a:pPr>
            <a:r>
              <a:rPr sz="1600" b="1">
                <a:solidFill>
                  <a:srgbClr val="102A43"/>
                </a:solidFill>
                <a:latin typeface="Calibri"/>
              </a:rPr>
              <a:t>▸  GSEA elevates the single-gene modules into a genome-wide, coordinated signal.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RESULTS · PATHWAYS</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KEGG: axon guidance tops the activated pathways</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18</a:t>
            </a:r>
          </a:p>
        </p:txBody>
      </p:sp>
      <p:pic>
        <p:nvPicPr>
          <p:cNvPr id="8" name="Picture 7" descr="f_gsea_kegg5.png"/>
          <p:cNvPicPr>
            <a:picLocks noChangeAspect="1"/>
          </p:cNvPicPr>
          <p:nvPr/>
        </p:nvPicPr>
        <p:blipFill>
          <a:blip r:embed="rId3"/>
          <a:stretch>
            <a:fillRect/>
          </a:stretch>
        </p:blipFill>
        <p:spPr>
          <a:xfrm>
            <a:off x="640080" y="1810512"/>
            <a:ext cx="6766560" cy="4059936"/>
          </a:xfrm>
          <a:prstGeom prst="rect">
            <a:avLst/>
          </a:prstGeom>
        </p:spPr>
      </p:pic>
      <p:sp>
        <p:nvSpPr>
          <p:cNvPr id="9" name="TextBox 8"/>
          <p:cNvSpPr txBox="1"/>
          <p:nvPr/>
        </p:nvSpPr>
        <p:spPr>
          <a:xfrm>
            <a:off x="7589520" y="1737360"/>
            <a:ext cx="3931920" cy="4572000"/>
          </a:xfrm>
          <a:prstGeom prst="rect">
            <a:avLst/>
          </a:prstGeom>
          <a:noFill/>
        </p:spPr>
        <p:txBody>
          <a:bodyPr wrap="square">
            <a:spAutoFit/>
          </a:bodyPr>
          <a:lstStyle/>
          <a:p>
            <a:pPr marL="0" indent="0">
              <a:lnSpc>
                <a:spcPct val="104000"/>
              </a:lnSpc>
              <a:spcBef>
                <a:spcPts val="0"/>
              </a:spcBef>
              <a:spcAft>
                <a:spcPts val="1000"/>
              </a:spcAft>
            </a:pPr>
            <a:r>
              <a:rPr sz="1650" b="1">
                <a:solidFill>
                  <a:srgbClr val="444A52"/>
                </a:solidFill>
                <a:latin typeface="Calibri"/>
              </a:rPr>
              <a:t>▸  5v0 KEGG: 14 significant pathways.</a:t>
            </a:r>
          </a:p>
          <a:p>
            <a:pPr marL="0" indent="0">
              <a:lnSpc>
                <a:spcPct val="104000"/>
              </a:lnSpc>
              <a:spcBef>
                <a:spcPts val="0"/>
              </a:spcBef>
              <a:spcAft>
                <a:spcPts val="1000"/>
              </a:spcAft>
            </a:pPr>
            <a:r>
              <a:rPr sz="1650" b="1">
                <a:solidFill>
                  <a:srgbClr val="1E7D52"/>
                </a:solidFill>
                <a:latin typeface="Calibri"/>
              </a:rPr>
              <a:t>▸  Axon guidance ranks first.</a:t>
            </a:r>
          </a:p>
          <a:p>
            <a:pPr marL="274320" indent="0">
              <a:lnSpc>
                <a:spcPct val="104000"/>
              </a:lnSpc>
              <a:spcBef>
                <a:spcPts val="0"/>
              </a:spcBef>
              <a:spcAft>
                <a:spcPts val="1000"/>
              </a:spcAft>
            </a:pPr>
            <a:r>
              <a:rPr sz="1550" b="0">
                <a:solidFill>
                  <a:srgbClr val="444A52"/>
                </a:solidFill>
                <a:latin typeface="Calibri"/>
              </a:rPr>
              <a:t>–  Includes the parallel ephrin guidance system.</a:t>
            </a:r>
          </a:p>
          <a:p>
            <a:pPr marL="0" indent="0">
              <a:lnSpc>
                <a:spcPct val="104000"/>
              </a:lnSpc>
              <a:spcBef>
                <a:spcPts val="0"/>
              </a:spcBef>
              <a:spcAft>
                <a:spcPts val="1000"/>
              </a:spcAft>
            </a:pPr>
            <a:r>
              <a:rPr sz="1650" b="1">
                <a:solidFill>
                  <a:srgbClr val="102A43"/>
                </a:solidFill>
                <a:latin typeface="Calibri"/>
              </a:rPr>
              <a:t>▸  Netrin's canonical, protein-level function is mirrored at the transcriptional level — in 5 minutes.</a:t>
            </a:r>
          </a:p>
          <a:p>
            <a:pPr marL="0" indent="0">
              <a:lnSpc>
                <a:spcPct val="104000"/>
              </a:lnSpc>
              <a:spcBef>
                <a:spcPts val="0"/>
              </a:spcBef>
              <a:spcAft>
                <a:spcPts val="1000"/>
              </a:spcAft>
            </a:pPr>
            <a:r>
              <a:rPr sz="1650" b="0">
                <a:solidFill>
                  <a:srgbClr val="0E5A61"/>
                </a:solidFill>
                <a:latin typeface="Calibri"/>
              </a:rPr>
              <a:t>▸  Suggests transcription RUNS IN PARALLEL with the classic post-translational mechanism, not just after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RESULTS · RETURN</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Result 4 — by 15 min the program fully reverses</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19</a:t>
            </a:r>
          </a:p>
        </p:txBody>
      </p:sp>
      <p:pic>
        <p:nvPicPr>
          <p:cNvPr id="8" name="Picture 7" descr="f_gsea_go15v5.png"/>
          <p:cNvPicPr>
            <a:picLocks noChangeAspect="1"/>
          </p:cNvPicPr>
          <p:nvPr/>
        </p:nvPicPr>
        <p:blipFill>
          <a:blip r:embed="rId3"/>
          <a:stretch>
            <a:fillRect/>
          </a:stretch>
        </p:blipFill>
        <p:spPr>
          <a:xfrm>
            <a:off x="668655" y="1325880"/>
            <a:ext cx="6343650" cy="5074920"/>
          </a:xfrm>
          <a:prstGeom prst="rect">
            <a:avLst/>
          </a:prstGeom>
        </p:spPr>
      </p:pic>
      <p:sp>
        <p:nvSpPr>
          <p:cNvPr id="9" name="TextBox 8"/>
          <p:cNvSpPr txBox="1"/>
          <p:nvPr/>
        </p:nvSpPr>
        <p:spPr>
          <a:xfrm>
            <a:off x="7223760" y="1554480"/>
            <a:ext cx="4297680" cy="4754880"/>
          </a:xfrm>
          <a:prstGeom prst="rect">
            <a:avLst/>
          </a:prstGeom>
          <a:noFill/>
        </p:spPr>
        <p:txBody>
          <a:bodyPr wrap="square">
            <a:spAutoFit/>
          </a:bodyPr>
          <a:lstStyle/>
          <a:p>
            <a:pPr marL="0" indent="0">
              <a:lnSpc>
                <a:spcPct val="104000"/>
              </a:lnSpc>
              <a:spcBef>
                <a:spcPts val="0"/>
              </a:spcBef>
              <a:spcAft>
                <a:spcPts val="800"/>
              </a:spcAft>
            </a:pPr>
            <a:r>
              <a:rPr sz="1600" b="1">
                <a:solidFill>
                  <a:srgbClr val="444A52"/>
                </a:solidFill>
                <a:latin typeface="Calibri"/>
              </a:rPr>
              <a:t>▸  15v5 GO-BP: 295 significant terms (31 ↑ / 264 ↓).</a:t>
            </a:r>
          </a:p>
          <a:p>
            <a:pPr marL="0" indent="0">
              <a:lnSpc>
                <a:spcPct val="104000"/>
              </a:lnSpc>
              <a:spcBef>
                <a:spcPts val="0"/>
              </a:spcBef>
              <a:spcAft>
                <a:spcPts val="800"/>
              </a:spcAft>
            </a:pPr>
            <a:r>
              <a:rPr sz="1600" b="1">
                <a:solidFill>
                  <a:srgbClr val="102A43"/>
                </a:solidFill>
                <a:latin typeface="Calibri"/>
              </a:rPr>
              <a:t>▸  Direction is FLIPPED versus 5v0:</a:t>
            </a:r>
          </a:p>
          <a:p>
            <a:pPr marL="274320" indent="0">
              <a:lnSpc>
                <a:spcPct val="104000"/>
              </a:lnSpc>
              <a:spcBef>
                <a:spcPts val="0"/>
              </a:spcBef>
              <a:spcAft>
                <a:spcPts val="800"/>
              </a:spcAft>
            </a:pPr>
            <a:r>
              <a:rPr sz="1500" b="0">
                <a:solidFill>
                  <a:srgbClr val="C0392B"/>
                </a:solidFill>
                <a:latin typeface="Calibri"/>
              </a:rPr>
              <a:t>–  axon-guidance terms now go DOWN,</a:t>
            </a:r>
          </a:p>
          <a:p>
            <a:pPr marL="274320" indent="0">
              <a:lnSpc>
                <a:spcPct val="104000"/>
              </a:lnSpc>
              <a:spcBef>
                <a:spcPts val="0"/>
              </a:spcBef>
              <a:spcAft>
                <a:spcPts val="800"/>
              </a:spcAft>
            </a:pPr>
            <a:r>
              <a:rPr sz="1500" b="0">
                <a:solidFill>
                  <a:srgbClr val="1E7D52"/>
                </a:solidFill>
                <a:latin typeface="Calibri"/>
              </a:rPr>
              <a:t>–  biosynthesis terms now go UP (recover).</a:t>
            </a:r>
          </a:p>
          <a:p>
            <a:pPr marL="0" indent="0">
              <a:lnSpc>
                <a:spcPct val="104000"/>
              </a:lnSpc>
              <a:spcBef>
                <a:spcPts val="0"/>
              </a:spcBef>
              <a:spcAft>
                <a:spcPts val="800"/>
              </a:spcAft>
            </a:pPr>
            <a:r>
              <a:rPr sz="1600" b="1">
                <a:solidFill>
                  <a:srgbClr val="0E5A61"/>
                </a:solidFill>
                <a:latin typeface="Calibri"/>
              </a:rPr>
              <a:t>▸  15v0 GO-BP: 0 significant terms.</a:t>
            </a:r>
          </a:p>
          <a:p>
            <a:pPr marL="274320" indent="0">
              <a:lnSpc>
                <a:spcPct val="104000"/>
              </a:lnSpc>
              <a:spcBef>
                <a:spcPts val="0"/>
              </a:spcBef>
              <a:spcAft>
                <a:spcPts val="800"/>
              </a:spcAft>
            </a:pPr>
            <a:r>
              <a:rPr sz="1500" b="0">
                <a:solidFill>
                  <a:srgbClr val="444A52"/>
                </a:solidFill>
                <a:latin typeface="Calibri"/>
              </a:rPr>
              <a:t>–  → at 15 min the transcriptome is back at baseline.</a:t>
            </a:r>
          </a:p>
          <a:p>
            <a:pPr marL="0" indent="0">
              <a:lnSpc>
                <a:spcPct val="104000"/>
              </a:lnSpc>
              <a:spcBef>
                <a:spcPts val="0"/>
              </a:spcBef>
              <a:spcAft>
                <a:spcPts val="800"/>
              </a:spcAft>
            </a:pPr>
            <a:r>
              <a:rPr sz="1600" b="1">
                <a:solidFill>
                  <a:srgbClr val="102A43"/>
                </a:solidFill>
                <a:latin typeface="Calibri"/>
              </a:rPr>
              <a:t>▸  The program is switched on at 5 min, off by 15.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RESULTS · RETURN</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The signature result: an r = −0.99 mirror</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20</a:t>
            </a:r>
          </a:p>
        </p:txBody>
      </p:sp>
      <p:pic>
        <p:nvPicPr>
          <p:cNvPr id="8" name="Picture 7" descr="f_mirror.png"/>
          <p:cNvPicPr>
            <a:picLocks noChangeAspect="1"/>
          </p:cNvPicPr>
          <p:nvPr/>
        </p:nvPicPr>
        <p:blipFill>
          <a:blip r:embed="rId3"/>
          <a:stretch>
            <a:fillRect/>
          </a:stretch>
        </p:blipFill>
        <p:spPr>
          <a:xfrm>
            <a:off x="777240" y="1325880"/>
            <a:ext cx="5760720" cy="5120640"/>
          </a:xfrm>
          <a:prstGeom prst="rect">
            <a:avLst/>
          </a:prstGeom>
        </p:spPr>
      </p:pic>
      <p:sp>
        <p:nvSpPr>
          <p:cNvPr id="9" name="Rectangle 8"/>
          <p:cNvSpPr/>
          <p:nvPr/>
        </p:nvSpPr>
        <p:spPr>
          <a:xfrm>
            <a:off x="6949440" y="1554480"/>
            <a:ext cx="4572000" cy="13716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0" y="1691640"/>
            <a:ext cx="4297680" cy="1097280"/>
          </a:xfrm>
          <a:prstGeom prst="rect">
            <a:avLst/>
          </a:prstGeom>
          <a:noFill/>
        </p:spPr>
        <p:txBody>
          <a:bodyPr wrap="square" anchor="ctr">
            <a:spAutoFit/>
          </a:bodyPr>
          <a:lstStyle/>
          <a:p>
            <a:pPr algn="l">
              <a:lnSpc>
                <a:spcPct val="100000"/>
              </a:lnSpc>
              <a:spcBef>
                <a:spcPts val="0"/>
              </a:spcBef>
              <a:spcAft>
                <a:spcPts val="400"/>
              </a:spcAft>
            </a:pPr>
            <a:r>
              <a:rPr sz="4000" b="1" i="0">
                <a:solidFill>
                  <a:srgbClr val="7FC4C9"/>
                </a:solidFill>
                <a:latin typeface="Calibri"/>
              </a:rPr>
              <a:t>r = −0.99</a:t>
            </a:r>
          </a:p>
          <a:p>
            <a:pPr algn="l">
              <a:lnSpc>
                <a:spcPct val="100000"/>
              </a:lnSpc>
              <a:spcBef>
                <a:spcPts val="0"/>
              </a:spcBef>
              <a:spcAft>
                <a:spcPts val="400"/>
              </a:spcAft>
            </a:pPr>
            <a:r>
              <a:rPr sz="1500" b="0" i="0">
                <a:solidFill>
                  <a:srgbClr val="FFFFFF"/>
                </a:solidFill>
                <a:latin typeface="Calibri"/>
              </a:rPr>
              <a:t>5v0 vs 15v5 pathway NES correlation</a:t>
            </a:r>
          </a:p>
        </p:txBody>
      </p:sp>
      <p:sp>
        <p:nvSpPr>
          <p:cNvPr id="11" name="TextBox 10"/>
          <p:cNvSpPr txBox="1"/>
          <p:nvPr/>
        </p:nvSpPr>
        <p:spPr>
          <a:xfrm>
            <a:off x="7040880" y="3154680"/>
            <a:ext cx="4480560" cy="3108960"/>
          </a:xfrm>
          <a:prstGeom prst="rect">
            <a:avLst/>
          </a:prstGeom>
          <a:noFill/>
        </p:spPr>
        <p:txBody>
          <a:bodyPr wrap="square">
            <a:spAutoFit/>
          </a:bodyPr>
          <a:lstStyle/>
          <a:p>
            <a:pPr marL="0" indent="0">
              <a:lnSpc>
                <a:spcPct val="104000"/>
              </a:lnSpc>
              <a:spcBef>
                <a:spcPts val="0"/>
              </a:spcBef>
              <a:spcAft>
                <a:spcPts val="900"/>
              </a:spcAft>
            </a:pPr>
            <a:r>
              <a:rPr sz="1600" b="1">
                <a:solidFill>
                  <a:srgbClr val="444A52"/>
                </a:solidFill>
                <a:latin typeface="Calibri"/>
              </a:rPr>
              <a:t>▸  603 pathways shared between 5v0 and 15v5.</a:t>
            </a:r>
          </a:p>
          <a:p>
            <a:pPr marL="0" indent="0">
              <a:lnSpc>
                <a:spcPct val="104000"/>
              </a:lnSpc>
              <a:spcBef>
                <a:spcPts val="0"/>
              </a:spcBef>
              <a:spcAft>
                <a:spcPts val="900"/>
              </a:spcAft>
            </a:pPr>
            <a:r>
              <a:rPr sz="1600" b="1">
                <a:solidFill>
                  <a:srgbClr val="102A43"/>
                </a:solidFill>
                <a:latin typeface="Calibri"/>
              </a:rPr>
              <a:t>▸  Their enrichment scores are near-perfect opposites.</a:t>
            </a:r>
          </a:p>
          <a:p>
            <a:pPr marL="0" indent="0">
              <a:lnSpc>
                <a:spcPct val="104000"/>
              </a:lnSpc>
              <a:spcBef>
                <a:spcPts val="0"/>
              </a:spcBef>
              <a:spcAft>
                <a:spcPts val="900"/>
              </a:spcAft>
            </a:pPr>
            <a:r>
              <a:rPr sz="1600" b="0">
                <a:solidFill>
                  <a:srgbClr val="444A52"/>
                </a:solidFill>
                <a:latin typeface="Calibri"/>
              </a:rPr>
              <a:t>▸  Every pathway activated at 5 min is suppressed from 5→15 min by almost exactly the same amount.</a:t>
            </a:r>
          </a:p>
          <a:p>
            <a:pPr marL="0" indent="0">
              <a:lnSpc>
                <a:spcPct val="104000"/>
              </a:lnSpc>
              <a:spcBef>
                <a:spcPts val="0"/>
              </a:spcBef>
              <a:spcAft>
                <a:spcPts val="900"/>
              </a:spcAft>
            </a:pPr>
            <a:r>
              <a:rPr sz="1600" b="1">
                <a:solidFill>
                  <a:srgbClr val="0E5A61"/>
                </a:solidFill>
                <a:latin typeface="Calibri"/>
              </a:rPr>
              <a:t>▸  Quantitative proof that the 5-minute program is PRECISELY UNDONE — a true transient.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RESULTS · RETURN</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A late, secondary signal: mitochondrial OXPHOS</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21</a:t>
            </a:r>
          </a:p>
        </p:txBody>
      </p:sp>
      <p:pic>
        <p:nvPicPr>
          <p:cNvPr id="8" name="Picture 7" descr="f_oxphos.png"/>
          <p:cNvPicPr>
            <a:picLocks noChangeAspect="1"/>
          </p:cNvPicPr>
          <p:nvPr/>
        </p:nvPicPr>
        <p:blipFill>
          <a:blip r:embed="rId3"/>
          <a:stretch>
            <a:fillRect/>
          </a:stretch>
        </p:blipFill>
        <p:spPr>
          <a:xfrm>
            <a:off x="640080" y="2318004"/>
            <a:ext cx="6766560" cy="3044952"/>
          </a:xfrm>
          <a:prstGeom prst="rect">
            <a:avLst/>
          </a:prstGeom>
        </p:spPr>
      </p:pic>
      <p:sp>
        <p:nvSpPr>
          <p:cNvPr id="9" name="TextBox 8"/>
          <p:cNvSpPr txBox="1"/>
          <p:nvPr/>
        </p:nvSpPr>
        <p:spPr>
          <a:xfrm>
            <a:off x="7589520" y="1737360"/>
            <a:ext cx="3931920" cy="4572000"/>
          </a:xfrm>
          <a:prstGeom prst="rect">
            <a:avLst/>
          </a:prstGeom>
          <a:noFill/>
        </p:spPr>
        <p:txBody>
          <a:bodyPr wrap="square">
            <a:spAutoFit/>
          </a:bodyPr>
          <a:lstStyle/>
          <a:p>
            <a:pPr marL="0" indent="0">
              <a:lnSpc>
                <a:spcPct val="104000"/>
              </a:lnSpc>
              <a:spcBef>
                <a:spcPts val="0"/>
              </a:spcBef>
              <a:spcAft>
                <a:spcPts val="900"/>
              </a:spcAft>
            </a:pPr>
            <a:r>
              <a:rPr sz="1600" b="1">
                <a:solidFill>
                  <a:srgbClr val="444A52"/>
                </a:solidFill>
                <a:latin typeface="Calibri"/>
              </a:rPr>
              <a:t>▸  At 15 min, a mild UP-regulation of mitochondrial OXPHOS / NADH-dehydrogenase genes emerges.</a:t>
            </a:r>
          </a:p>
          <a:p>
            <a:pPr marL="0" indent="0">
              <a:lnSpc>
                <a:spcPct val="104000"/>
              </a:lnSpc>
              <a:spcBef>
                <a:spcPts val="0"/>
              </a:spcBef>
              <a:spcAft>
                <a:spcPts val="900"/>
              </a:spcAft>
            </a:pPr>
            <a:r>
              <a:rPr sz="1600" b="0">
                <a:solidFill>
                  <a:srgbClr val="444A52"/>
                </a:solidFill>
                <a:latin typeface="Calibri"/>
              </a:rPr>
              <a:t>▸  Appears later than the main 5-minute program.</a:t>
            </a:r>
          </a:p>
          <a:p>
            <a:pPr marL="0" indent="0">
              <a:lnSpc>
                <a:spcPct val="104000"/>
              </a:lnSpc>
              <a:spcBef>
                <a:spcPts val="0"/>
              </a:spcBef>
              <a:spcAft>
                <a:spcPts val="900"/>
              </a:spcAft>
            </a:pPr>
            <a:r>
              <a:rPr sz="1600" b="1">
                <a:solidFill>
                  <a:srgbClr val="C0392B"/>
                </a:solidFill>
                <a:latin typeface="Calibri"/>
              </a:rPr>
              <a:t>▸  Interpretation caveat (important):</a:t>
            </a:r>
          </a:p>
          <a:p>
            <a:pPr marL="274320" indent="0">
              <a:lnSpc>
                <a:spcPct val="104000"/>
              </a:lnSpc>
              <a:spcBef>
                <a:spcPts val="0"/>
              </a:spcBef>
              <a:spcAft>
                <a:spcPts val="900"/>
              </a:spcAft>
            </a:pPr>
            <a:r>
              <a:rPr sz="1500" b="0">
                <a:solidFill>
                  <a:srgbClr val="C0392B"/>
                </a:solidFill>
                <a:latin typeface="Calibri"/>
              </a:rPr>
              <a:t>–  KEGG labels these as 'Prion / Huntington / Parkinson' disease pathways…</a:t>
            </a:r>
          </a:p>
          <a:p>
            <a:pPr marL="274320" indent="0">
              <a:lnSpc>
                <a:spcPct val="104000"/>
              </a:lnSpc>
              <a:spcBef>
                <a:spcPts val="0"/>
              </a:spcBef>
              <a:spcAft>
                <a:spcPts val="900"/>
              </a:spcAft>
            </a:pPr>
            <a:r>
              <a:rPr sz="1500" b="0">
                <a:solidFill>
                  <a:srgbClr val="444A52"/>
                </a:solidFill>
                <a:latin typeface="Calibri"/>
              </a:rPr>
              <a:t>–  …but those share the same mitochondrial genes.</a:t>
            </a:r>
          </a:p>
          <a:p>
            <a:pPr marL="274320" indent="0">
              <a:lnSpc>
                <a:spcPct val="104000"/>
              </a:lnSpc>
              <a:spcBef>
                <a:spcPts val="0"/>
              </a:spcBef>
              <a:spcAft>
                <a:spcPts val="900"/>
              </a:spcAft>
            </a:pPr>
            <a:r>
              <a:rPr sz="1500" b="0">
                <a:solidFill>
                  <a:srgbClr val="102A43"/>
                </a:solidFill>
                <a:latin typeface="Calibri"/>
              </a:rPr>
              <a:t>–  Read as OXPHOS up-regulation — NOT disease pathways.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SYNTHESIS</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Putting it together: modules of the transient program</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22</a:t>
            </a:r>
          </a:p>
        </p:txBody>
      </p:sp>
      <p:sp>
        <p:nvSpPr>
          <p:cNvPr id="8" name="Rectangle 7"/>
          <p:cNvSpPr/>
          <p:nvPr/>
        </p:nvSpPr>
        <p:spPr>
          <a:xfrm>
            <a:off x="640080" y="1325880"/>
            <a:ext cx="4114800" cy="457200"/>
          </a:xfrm>
          <a:prstGeom prst="rect">
            <a:avLst/>
          </a:prstGeom>
          <a:solidFill>
            <a:srgbClr val="102A43"/>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362456"/>
            <a:ext cx="3931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FFFFFF"/>
                </a:solidFill>
                <a:latin typeface="Calibri"/>
              </a:rPr>
              <a:t>Module</a:t>
            </a:r>
          </a:p>
        </p:txBody>
      </p:sp>
      <p:sp>
        <p:nvSpPr>
          <p:cNvPr id="10" name="Rectangle 9"/>
          <p:cNvSpPr/>
          <p:nvPr/>
        </p:nvSpPr>
        <p:spPr>
          <a:xfrm>
            <a:off x="4754880" y="1325880"/>
            <a:ext cx="1463040" cy="457200"/>
          </a:xfrm>
          <a:prstGeom prst="rect">
            <a:avLst/>
          </a:prstGeom>
          <a:solidFill>
            <a:srgbClr val="102A43"/>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64608" y="1362456"/>
            <a:ext cx="128016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FFFFFF"/>
                </a:solidFill>
                <a:latin typeface="Calibri"/>
              </a:rPr>
              <a:t>5 min</a:t>
            </a:r>
          </a:p>
        </p:txBody>
      </p:sp>
      <p:sp>
        <p:nvSpPr>
          <p:cNvPr id="12" name="Rectangle 11"/>
          <p:cNvSpPr/>
          <p:nvPr/>
        </p:nvSpPr>
        <p:spPr>
          <a:xfrm>
            <a:off x="6217920" y="1325880"/>
            <a:ext cx="1828800" cy="457200"/>
          </a:xfrm>
          <a:prstGeom prst="rect">
            <a:avLst/>
          </a:prstGeom>
          <a:solidFill>
            <a:srgbClr val="102A43"/>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27648" y="1362456"/>
            <a:ext cx="1645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FFFFFF"/>
                </a:solidFill>
                <a:latin typeface="Calibri"/>
              </a:rPr>
              <a:t>→ 15 min</a:t>
            </a:r>
          </a:p>
        </p:txBody>
      </p:sp>
      <p:sp>
        <p:nvSpPr>
          <p:cNvPr id="14" name="Rectangle 13"/>
          <p:cNvSpPr/>
          <p:nvPr/>
        </p:nvSpPr>
        <p:spPr>
          <a:xfrm>
            <a:off x="8046720" y="1325880"/>
            <a:ext cx="3383280" cy="457200"/>
          </a:xfrm>
          <a:prstGeom prst="rect">
            <a:avLst/>
          </a:prstGeom>
          <a:solidFill>
            <a:srgbClr val="102A43"/>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56448" y="1362456"/>
            <a:ext cx="320040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FFFFFF"/>
                </a:solidFill>
                <a:latin typeface="Calibri"/>
              </a:rPr>
              <a:t>Evidence</a:t>
            </a:r>
          </a:p>
        </p:txBody>
      </p:sp>
      <p:sp>
        <p:nvSpPr>
          <p:cNvPr id="16" name="Rectangle 15"/>
          <p:cNvSpPr/>
          <p:nvPr/>
        </p:nvSpPr>
        <p:spPr>
          <a:xfrm>
            <a:off x="640080" y="1783080"/>
            <a:ext cx="411480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1819656"/>
            <a:ext cx="3931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102A43"/>
                </a:solidFill>
                <a:latin typeface="Calibri"/>
              </a:rPr>
              <a:t>Splicing / RNA processing</a:t>
            </a:r>
          </a:p>
        </p:txBody>
      </p:sp>
      <p:sp>
        <p:nvSpPr>
          <p:cNvPr id="18" name="Rectangle 17"/>
          <p:cNvSpPr/>
          <p:nvPr/>
        </p:nvSpPr>
        <p:spPr>
          <a:xfrm>
            <a:off x="4754880" y="1783080"/>
            <a:ext cx="146304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64608" y="1819656"/>
            <a:ext cx="128016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C0392B"/>
                </a:solidFill>
                <a:latin typeface="Calibri"/>
              </a:rPr>
              <a:t>down</a:t>
            </a:r>
          </a:p>
        </p:txBody>
      </p:sp>
      <p:sp>
        <p:nvSpPr>
          <p:cNvPr id="20" name="Rectangle 19"/>
          <p:cNvSpPr/>
          <p:nvPr/>
        </p:nvSpPr>
        <p:spPr>
          <a:xfrm>
            <a:off x="6217920" y="1783080"/>
            <a:ext cx="182880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27648" y="1819656"/>
            <a:ext cx="1645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0E5A61"/>
                </a:solidFill>
                <a:latin typeface="Calibri"/>
              </a:rPr>
              <a:t>recover</a:t>
            </a:r>
          </a:p>
        </p:txBody>
      </p:sp>
      <p:sp>
        <p:nvSpPr>
          <p:cNvPr id="22" name="Rectangle 21"/>
          <p:cNvSpPr/>
          <p:nvPr/>
        </p:nvSpPr>
        <p:spPr>
          <a:xfrm>
            <a:off x="8046720" y="1783080"/>
            <a:ext cx="338328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56448" y="1819656"/>
            <a:ext cx="3200400" cy="384048"/>
          </a:xfrm>
          <a:prstGeom prst="rect">
            <a:avLst/>
          </a:prstGeom>
          <a:noFill/>
        </p:spPr>
        <p:txBody>
          <a:bodyPr wrap="square" anchor="ctr">
            <a:spAutoFit/>
          </a:bodyPr>
          <a:lstStyle/>
          <a:p>
            <a:pPr algn="l">
              <a:lnSpc>
                <a:spcPct val="100000"/>
              </a:lnSpc>
              <a:spcBef>
                <a:spcPts val="0"/>
              </a:spcBef>
              <a:spcAft>
                <a:spcPts val="0"/>
              </a:spcAft>
            </a:pPr>
            <a:r>
              <a:rPr sz="1400" b="0" i="0">
                <a:solidFill>
                  <a:srgbClr val="444A52"/>
                </a:solidFill>
                <a:latin typeface="Calibri"/>
              </a:rPr>
              <a:t>DEG + GSEA + LRT</a:t>
            </a:r>
          </a:p>
        </p:txBody>
      </p:sp>
      <p:sp>
        <p:nvSpPr>
          <p:cNvPr id="24" name="Rectangle 23"/>
          <p:cNvSpPr/>
          <p:nvPr/>
        </p:nvSpPr>
        <p:spPr>
          <a:xfrm>
            <a:off x="640080" y="2240280"/>
            <a:ext cx="411480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9808" y="2276856"/>
            <a:ext cx="3931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102A43"/>
                </a:solidFill>
                <a:latin typeface="Calibri"/>
              </a:rPr>
              <a:t>Ribosome / translation</a:t>
            </a:r>
          </a:p>
        </p:txBody>
      </p:sp>
      <p:sp>
        <p:nvSpPr>
          <p:cNvPr id="26" name="Rectangle 25"/>
          <p:cNvSpPr/>
          <p:nvPr/>
        </p:nvSpPr>
        <p:spPr>
          <a:xfrm>
            <a:off x="4754880" y="2240280"/>
            <a:ext cx="146304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64608" y="2276856"/>
            <a:ext cx="128016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C0392B"/>
                </a:solidFill>
                <a:latin typeface="Calibri"/>
              </a:rPr>
              <a:t>down</a:t>
            </a:r>
          </a:p>
        </p:txBody>
      </p:sp>
      <p:sp>
        <p:nvSpPr>
          <p:cNvPr id="28" name="Rectangle 27"/>
          <p:cNvSpPr/>
          <p:nvPr/>
        </p:nvSpPr>
        <p:spPr>
          <a:xfrm>
            <a:off x="6217920" y="2240280"/>
            <a:ext cx="182880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27648" y="2276856"/>
            <a:ext cx="1645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0E5A61"/>
                </a:solidFill>
                <a:latin typeface="Calibri"/>
              </a:rPr>
              <a:t>recover</a:t>
            </a:r>
          </a:p>
        </p:txBody>
      </p:sp>
      <p:sp>
        <p:nvSpPr>
          <p:cNvPr id="30" name="Rectangle 29"/>
          <p:cNvSpPr/>
          <p:nvPr/>
        </p:nvSpPr>
        <p:spPr>
          <a:xfrm>
            <a:off x="8046720" y="2240280"/>
            <a:ext cx="338328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156448" y="2276856"/>
            <a:ext cx="3200400" cy="384048"/>
          </a:xfrm>
          <a:prstGeom prst="rect">
            <a:avLst/>
          </a:prstGeom>
          <a:noFill/>
        </p:spPr>
        <p:txBody>
          <a:bodyPr wrap="square" anchor="ctr">
            <a:spAutoFit/>
          </a:bodyPr>
          <a:lstStyle/>
          <a:p>
            <a:pPr algn="l">
              <a:lnSpc>
                <a:spcPct val="100000"/>
              </a:lnSpc>
              <a:spcBef>
                <a:spcPts val="0"/>
              </a:spcBef>
              <a:spcAft>
                <a:spcPts val="0"/>
              </a:spcAft>
            </a:pPr>
            <a:r>
              <a:rPr sz="1400" b="0" i="0">
                <a:solidFill>
                  <a:srgbClr val="444A52"/>
                </a:solidFill>
                <a:latin typeface="Calibri"/>
              </a:rPr>
              <a:t>GSEA + mirror</a:t>
            </a:r>
          </a:p>
        </p:txBody>
      </p:sp>
      <p:sp>
        <p:nvSpPr>
          <p:cNvPr id="32" name="Rectangle 31"/>
          <p:cNvSpPr/>
          <p:nvPr/>
        </p:nvSpPr>
        <p:spPr>
          <a:xfrm>
            <a:off x="640080" y="2697480"/>
            <a:ext cx="411480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9808" y="2734056"/>
            <a:ext cx="3931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102A43"/>
                </a:solidFill>
                <a:latin typeface="Calibri"/>
              </a:rPr>
              <a:t>Immediate-early genes</a:t>
            </a:r>
          </a:p>
        </p:txBody>
      </p:sp>
      <p:sp>
        <p:nvSpPr>
          <p:cNvPr id="34" name="Rectangle 33"/>
          <p:cNvSpPr/>
          <p:nvPr/>
        </p:nvSpPr>
        <p:spPr>
          <a:xfrm>
            <a:off x="4754880" y="2697480"/>
            <a:ext cx="146304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864608" y="2734056"/>
            <a:ext cx="128016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C0392B"/>
                </a:solidFill>
                <a:latin typeface="Calibri"/>
              </a:rPr>
              <a:t>down</a:t>
            </a:r>
          </a:p>
        </p:txBody>
      </p:sp>
      <p:sp>
        <p:nvSpPr>
          <p:cNvPr id="36" name="Rectangle 35"/>
          <p:cNvSpPr/>
          <p:nvPr/>
        </p:nvSpPr>
        <p:spPr>
          <a:xfrm>
            <a:off x="6217920" y="2697480"/>
            <a:ext cx="182880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27648" y="2734056"/>
            <a:ext cx="1645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0E5A61"/>
                </a:solidFill>
                <a:latin typeface="Calibri"/>
              </a:rPr>
              <a:t>rebound</a:t>
            </a:r>
          </a:p>
        </p:txBody>
      </p:sp>
      <p:sp>
        <p:nvSpPr>
          <p:cNvPr id="38" name="Rectangle 37"/>
          <p:cNvSpPr/>
          <p:nvPr/>
        </p:nvSpPr>
        <p:spPr>
          <a:xfrm>
            <a:off x="8046720" y="2697480"/>
            <a:ext cx="338328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156448" y="2734056"/>
            <a:ext cx="3200400" cy="384048"/>
          </a:xfrm>
          <a:prstGeom prst="rect">
            <a:avLst/>
          </a:prstGeom>
          <a:noFill/>
        </p:spPr>
        <p:txBody>
          <a:bodyPr wrap="square" anchor="ctr">
            <a:spAutoFit/>
          </a:bodyPr>
          <a:lstStyle/>
          <a:p>
            <a:pPr algn="l">
              <a:lnSpc>
                <a:spcPct val="100000"/>
              </a:lnSpc>
              <a:spcBef>
                <a:spcPts val="0"/>
              </a:spcBef>
              <a:spcAft>
                <a:spcPts val="0"/>
              </a:spcAft>
            </a:pPr>
            <a:r>
              <a:rPr sz="1400" b="0" i="0">
                <a:solidFill>
                  <a:srgbClr val="444A52"/>
                </a:solidFill>
                <a:latin typeface="Calibri"/>
              </a:rPr>
              <a:t>Fos, Npas4 (LRT)</a:t>
            </a:r>
          </a:p>
        </p:txBody>
      </p:sp>
      <p:sp>
        <p:nvSpPr>
          <p:cNvPr id="40" name="Rectangle 39"/>
          <p:cNvSpPr/>
          <p:nvPr/>
        </p:nvSpPr>
        <p:spPr>
          <a:xfrm>
            <a:off x="640080" y="3154680"/>
            <a:ext cx="411480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49808" y="3191256"/>
            <a:ext cx="3931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102A43"/>
                </a:solidFill>
                <a:latin typeface="Calibri"/>
              </a:rPr>
              <a:t>Cytoskeleton / ROCK</a:t>
            </a:r>
          </a:p>
        </p:txBody>
      </p:sp>
      <p:sp>
        <p:nvSpPr>
          <p:cNvPr id="42" name="Rectangle 41"/>
          <p:cNvSpPr/>
          <p:nvPr/>
        </p:nvSpPr>
        <p:spPr>
          <a:xfrm>
            <a:off x="4754880" y="3154680"/>
            <a:ext cx="146304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864608" y="3191256"/>
            <a:ext cx="128016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C0392B"/>
                </a:solidFill>
                <a:latin typeface="Calibri"/>
              </a:rPr>
              <a:t>down</a:t>
            </a:r>
          </a:p>
        </p:txBody>
      </p:sp>
      <p:sp>
        <p:nvSpPr>
          <p:cNvPr id="44" name="Rectangle 43"/>
          <p:cNvSpPr/>
          <p:nvPr/>
        </p:nvSpPr>
        <p:spPr>
          <a:xfrm>
            <a:off x="6217920" y="3154680"/>
            <a:ext cx="182880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327648" y="3191256"/>
            <a:ext cx="1645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0E5A61"/>
                </a:solidFill>
                <a:latin typeface="Calibri"/>
              </a:rPr>
              <a:t>recover</a:t>
            </a:r>
          </a:p>
        </p:txBody>
      </p:sp>
      <p:sp>
        <p:nvSpPr>
          <p:cNvPr id="46" name="Rectangle 45"/>
          <p:cNvSpPr/>
          <p:nvPr/>
        </p:nvSpPr>
        <p:spPr>
          <a:xfrm>
            <a:off x="8046720" y="3154680"/>
            <a:ext cx="338328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156448" y="3191256"/>
            <a:ext cx="3200400" cy="384048"/>
          </a:xfrm>
          <a:prstGeom prst="rect">
            <a:avLst/>
          </a:prstGeom>
          <a:noFill/>
        </p:spPr>
        <p:txBody>
          <a:bodyPr wrap="square" anchor="ctr">
            <a:spAutoFit/>
          </a:bodyPr>
          <a:lstStyle/>
          <a:p>
            <a:pPr algn="l">
              <a:lnSpc>
                <a:spcPct val="100000"/>
              </a:lnSpc>
              <a:spcBef>
                <a:spcPts val="0"/>
              </a:spcBef>
              <a:spcAft>
                <a:spcPts val="0"/>
              </a:spcAft>
            </a:pPr>
            <a:r>
              <a:rPr sz="1400" b="0" i="0">
                <a:solidFill>
                  <a:srgbClr val="444A52"/>
                </a:solidFill>
                <a:latin typeface="Calibri"/>
              </a:rPr>
              <a:t>Rock1 (Rock2 n.s.)</a:t>
            </a:r>
          </a:p>
        </p:txBody>
      </p:sp>
      <p:sp>
        <p:nvSpPr>
          <p:cNvPr id="48" name="Rectangle 47"/>
          <p:cNvSpPr/>
          <p:nvPr/>
        </p:nvSpPr>
        <p:spPr>
          <a:xfrm>
            <a:off x="640080" y="3611880"/>
            <a:ext cx="411480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49808" y="3648456"/>
            <a:ext cx="3931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102A43"/>
                </a:solidFill>
                <a:latin typeface="Calibri"/>
              </a:rPr>
              <a:t>Axon guidance / projection</a:t>
            </a:r>
          </a:p>
        </p:txBody>
      </p:sp>
      <p:sp>
        <p:nvSpPr>
          <p:cNvPr id="50" name="Rectangle 49"/>
          <p:cNvSpPr/>
          <p:nvPr/>
        </p:nvSpPr>
        <p:spPr>
          <a:xfrm>
            <a:off x="4754880" y="3611880"/>
            <a:ext cx="146304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864608" y="3648456"/>
            <a:ext cx="128016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1E7D52"/>
                </a:solidFill>
                <a:latin typeface="Calibri"/>
              </a:rPr>
              <a:t>up</a:t>
            </a:r>
          </a:p>
        </p:txBody>
      </p:sp>
      <p:sp>
        <p:nvSpPr>
          <p:cNvPr id="52" name="Rectangle 51"/>
          <p:cNvSpPr/>
          <p:nvPr/>
        </p:nvSpPr>
        <p:spPr>
          <a:xfrm>
            <a:off x="6217920" y="3611880"/>
            <a:ext cx="182880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327648" y="3648456"/>
            <a:ext cx="1645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0E5A61"/>
                </a:solidFill>
                <a:latin typeface="Calibri"/>
              </a:rPr>
              <a:t>fall back</a:t>
            </a:r>
          </a:p>
        </p:txBody>
      </p:sp>
      <p:sp>
        <p:nvSpPr>
          <p:cNvPr id="54" name="Rectangle 53"/>
          <p:cNvSpPr/>
          <p:nvPr/>
        </p:nvSpPr>
        <p:spPr>
          <a:xfrm>
            <a:off x="8046720" y="3611880"/>
            <a:ext cx="338328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156448" y="3648456"/>
            <a:ext cx="3200400" cy="384048"/>
          </a:xfrm>
          <a:prstGeom prst="rect">
            <a:avLst/>
          </a:prstGeom>
          <a:noFill/>
        </p:spPr>
        <p:txBody>
          <a:bodyPr wrap="square" anchor="ctr">
            <a:spAutoFit/>
          </a:bodyPr>
          <a:lstStyle/>
          <a:p>
            <a:pPr algn="l">
              <a:lnSpc>
                <a:spcPct val="100000"/>
              </a:lnSpc>
              <a:spcBef>
                <a:spcPts val="0"/>
              </a:spcBef>
              <a:spcAft>
                <a:spcPts val="0"/>
              </a:spcAft>
            </a:pPr>
            <a:r>
              <a:rPr sz="1400" b="0" i="0">
                <a:solidFill>
                  <a:srgbClr val="444A52"/>
                </a:solidFill>
                <a:latin typeface="Calibri"/>
              </a:rPr>
              <a:t>DEG + GSEA + KEGG</a:t>
            </a:r>
          </a:p>
        </p:txBody>
      </p:sp>
      <p:sp>
        <p:nvSpPr>
          <p:cNvPr id="56" name="Rectangle 55"/>
          <p:cNvSpPr/>
          <p:nvPr/>
        </p:nvSpPr>
        <p:spPr>
          <a:xfrm>
            <a:off x="640080" y="4069080"/>
            <a:ext cx="411480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49808" y="4105656"/>
            <a:ext cx="3931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102A43"/>
                </a:solidFill>
                <a:latin typeface="Calibri"/>
              </a:rPr>
              <a:t>Synapse assembly</a:t>
            </a:r>
          </a:p>
        </p:txBody>
      </p:sp>
      <p:sp>
        <p:nvSpPr>
          <p:cNvPr id="58" name="Rectangle 57"/>
          <p:cNvSpPr/>
          <p:nvPr/>
        </p:nvSpPr>
        <p:spPr>
          <a:xfrm>
            <a:off x="4754880" y="4069080"/>
            <a:ext cx="146304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864608" y="4105656"/>
            <a:ext cx="128016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1E7D52"/>
                </a:solidFill>
                <a:latin typeface="Calibri"/>
              </a:rPr>
              <a:t>up</a:t>
            </a:r>
          </a:p>
        </p:txBody>
      </p:sp>
      <p:sp>
        <p:nvSpPr>
          <p:cNvPr id="60" name="Rectangle 59"/>
          <p:cNvSpPr/>
          <p:nvPr/>
        </p:nvSpPr>
        <p:spPr>
          <a:xfrm>
            <a:off x="6217920" y="4069080"/>
            <a:ext cx="182880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327648" y="4105656"/>
            <a:ext cx="1645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0E5A61"/>
                </a:solidFill>
                <a:latin typeface="Calibri"/>
              </a:rPr>
              <a:t>fall back</a:t>
            </a:r>
          </a:p>
        </p:txBody>
      </p:sp>
      <p:sp>
        <p:nvSpPr>
          <p:cNvPr id="62" name="Rectangle 61"/>
          <p:cNvSpPr/>
          <p:nvPr/>
        </p:nvSpPr>
        <p:spPr>
          <a:xfrm>
            <a:off x="8046720" y="4069080"/>
            <a:ext cx="338328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156448" y="4105656"/>
            <a:ext cx="3200400" cy="384048"/>
          </a:xfrm>
          <a:prstGeom prst="rect">
            <a:avLst/>
          </a:prstGeom>
          <a:noFill/>
        </p:spPr>
        <p:txBody>
          <a:bodyPr wrap="square" anchor="ctr">
            <a:spAutoFit/>
          </a:bodyPr>
          <a:lstStyle/>
          <a:p>
            <a:pPr algn="l">
              <a:lnSpc>
                <a:spcPct val="100000"/>
              </a:lnSpc>
              <a:spcBef>
                <a:spcPts val="0"/>
              </a:spcBef>
              <a:spcAft>
                <a:spcPts val="0"/>
              </a:spcAft>
            </a:pPr>
            <a:r>
              <a:rPr sz="1400" b="0" i="0">
                <a:solidFill>
                  <a:srgbClr val="444A52"/>
                </a:solidFill>
                <a:latin typeface="Calibri"/>
              </a:rPr>
              <a:t>GSEA</a:t>
            </a:r>
          </a:p>
        </p:txBody>
      </p:sp>
      <p:sp>
        <p:nvSpPr>
          <p:cNvPr id="64" name="Rectangle 63"/>
          <p:cNvSpPr/>
          <p:nvPr/>
        </p:nvSpPr>
        <p:spPr>
          <a:xfrm>
            <a:off x="640080" y="4526280"/>
            <a:ext cx="411480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49808" y="4562856"/>
            <a:ext cx="3931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102A43"/>
                </a:solidFill>
                <a:latin typeface="Calibri"/>
              </a:rPr>
              <a:t>NO–calcium signaling</a:t>
            </a:r>
          </a:p>
        </p:txBody>
      </p:sp>
      <p:sp>
        <p:nvSpPr>
          <p:cNvPr id="66" name="Rectangle 65"/>
          <p:cNvSpPr/>
          <p:nvPr/>
        </p:nvSpPr>
        <p:spPr>
          <a:xfrm>
            <a:off x="4754880" y="4526280"/>
            <a:ext cx="146304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864608" y="4562856"/>
            <a:ext cx="128016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1E7D52"/>
                </a:solidFill>
                <a:latin typeface="Calibri"/>
              </a:rPr>
              <a:t>up</a:t>
            </a:r>
          </a:p>
        </p:txBody>
      </p:sp>
      <p:sp>
        <p:nvSpPr>
          <p:cNvPr id="68" name="Rectangle 67"/>
          <p:cNvSpPr/>
          <p:nvPr/>
        </p:nvSpPr>
        <p:spPr>
          <a:xfrm>
            <a:off x="6217920" y="4526280"/>
            <a:ext cx="182880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327648" y="4562856"/>
            <a:ext cx="1645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0E5A61"/>
                </a:solidFill>
                <a:latin typeface="Calibri"/>
              </a:rPr>
              <a:t>fall back</a:t>
            </a:r>
          </a:p>
        </p:txBody>
      </p:sp>
      <p:sp>
        <p:nvSpPr>
          <p:cNvPr id="70" name="Rectangle 69"/>
          <p:cNvSpPr/>
          <p:nvPr/>
        </p:nvSpPr>
        <p:spPr>
          <a:xfrm>
            <a:off x="8046720" y="4526280"/>
            <a:ext cx="338328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156448" y="4562856"/>
            <a:ext cx="3200400" cy="384048"/>
          </a:xfrm>
          <a:prstGeom prst="rect">
            <a:avLst/>
          </a:prstGeom>
          <a:noFill/>
        </p:spPr>
        <p:txBody>
          <a:bodyPr wrap="square" anchor="ctr">
            <a:spAutoFit/>
          </a:bodyPr>
          <a:lstStyle/>
          <a:p>
            <a:pPr algn="l">
              <a:lnSpc>
                <a:spcPct val="100000"/>
              </a:lnSpc>
              <a:spcBef>
                <a:spcPts val="0"/>
              </a:spcBef>
              <a:spcAft>
                <a:spcPts val="0"/>
              </a:spcAft>
            </a:pPr>
            <a:r>
              <a:rPr sz="1400" b="0" i="0">
                <a:solidFill>
                  <a:srgbClr val="444A52"/>
                </a:solidFill>
                <a:latin typeface="Calibri"/>
              </a:rPr>
              <a:t>Nos1, Ryr3 + KEGG</a:t>
            </a:r>
          </a:p>
        </p:txBody>
      </p:sp>
      <p:sp>
        <p:nvSpPr>
          <p:cNvPr id="72" name="Rectangle 71"/>
          <p:cNvSpPr/>
          <p:nvPr/>
        </p:nvSpPr>
        <p:spPr>
          <a:xfrm>
            <a:off x="640080" y="4983480"/>
            <a:ext cx="411480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49808" y="5020056"/>
            <a:ext cx="3931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102A43"/>
                </a:solidFill>
                <a:latin typeface="Calibri"/>
              </a:rPr>
              <a:t>Adhesion</a:t>
            </a:r>
          </a:p>
        </p:txBody>
      </p:sp>
      <p:sp>
        <p:nvSpPr>
          <p:cNvPr id="74" name="Rectangle 73"/>
          <p:cNvSpPr/>
          <p:nvPr/>
        </p:nvSpPr>
        <p:spPr>
          <a:xfrm>
            <a:off x="4754880" y="4983480"/>
            <a:ext cx="146304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864608" y="5020056"/>
            <a:ext cx="128016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1E7D52"/>
                </a:solidFill>
                <a:latin typeface="Calibri"/>
              </a:rPr>
              <a:t>up</a:t>
            </a:r>
          </a:p>
        </p:txBody>
      </p:sp>
      <p:sp>
        <p:nvSpPr>
          <p:cNvPr id="76" name="Rectangle 75"/>
          <p:cNvSpPr/>
          <p:nvPr/>
        </p:nvSpPr>
        <p:spPr>
          <a:xfrm>
            <a:off x="6217920" y="4983480"/>
            <a:ext cx="182880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327648" y="5020056"/>
            <a:ext cx="1645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0E5A61"/>
                </a:solidFill>
                <a:latin typeface="Calibri"/>
              </a:rPr>
              <a:t>fall back</a:t>
            </a:r>
          </a:p>
        </p:txBody>
      </p:sp>
      <p:sp>
        <p:nvSpPr>
          <p:cNvPr id="78" name="Rectangle 77"/>
          <p:cNvSpPr/>
          <p:nvPr/>
        </p:nvSpPr>
        <p:spPr>
          <a:xfrm>
            <a:off x="8046720" y="4983480"/>
            <a:ext cx="3383280" cy="457200"/>
          </a:xfrm>
          <a:prstGeom prst="rect">
            <a:avLst/>
          </a:prstGeom>
          <a:solidFill>
            <a:srgbClr val="FFFFFF"/>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8156448" y="5020056"/>
            <a:ext cx="3200400" cy="384048"/>
          </a:xfrm>
          <a:prstGeom prst="rect">
            <a:avLst/>
          </a:prstGeom>
          <a:noFill/>
        </p:spPr>
        <p:txBody>
          <a:bodyPr wrap="square" anchor="ctr">
            <a:spAutoFit/>
          </a:bodyPr>
          <a:lstStyle/>
          <a:p>
            <a:pPr algn="l">
              <a:lnSpc>
                <a:spcPct val="100000"/>
              </a:lnSpc>
              <a:spcBef>
                <a:spcPts val="0"/>
              </a:spcBef>
              <a:spcAft>
                <a:spcPts val="0"/>
              </a:spcAft>
            </a:pPr>
            <a:r>
              <a:rPr sz="1400" b="0" i="0">
                <a:solidFill>
                  <a:srgbClr val="444A52"/>
                </a:solidFill>
                <a:latin typeface="Calibri"/>
              </a:rPr>
              <a:t>Tln2 + KEGG</a:t>
            </a:r>
          </a:p>
        </p:txBody>
      </p:sp>
      <p:sp>
        <p:nvSpPr>
          <p:cNvPr id="80" name="Rectangle 79"/>
          <p:cNvSpPr/>
          <p:nvPr/>
        </p:nvSpPr>
        <p:spPr>
          <a:xfrm>
            <a:off x="640080" y="5440680"/>
            <a:ext cx="411480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49808" y="5477256"/>
            <a:ext cx="3931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102A43"/>
                </a:solidFill>
                <a:latin typeface="Calibri"/>
              </a:rPr>
              <a:t>Mitochondria / OXPHOS</a:t>
            </a:r>
          </a:p>
        </p:txBody>
      </p:sp>
      <p:sp>
        <p:nvSpPr>
          <p:cNvPr id="82" name="Rectangle 81"/>
          <p:cNvSpPr/>
          <p:nvPr/>
        </p:nvSpPr>
        <p:spPr>
          <a:xfrm>
            <a:off x="4754880" y="5440680"/>
            <a:ext cx="146304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4864608" y="5477256"/>
            <a:ext cx="128016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444A52"/>
                </a:solidFill>
                <a:latin typeface="Calibri"/>
              </a:rPr>
              <a:t>flat</a:t>
            </a:r>
          </a:p>
        </p:txBody>
      </p:sp>
      <p:sp>
        <p:nvSpPr>
          <p:cNvPr id="84" name="Rectangle 83"/>
          <p:cNvSpPr/>
          <p:nvPr/>
        </p:nvSpPr>
        <p:spPr>
          <a:xfrm>
            <a:off x="6217920" y="5440680"/>
            <a:ext cx="182880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327648" y="5477256"/>
            <a:ext cx="1645920" cy="384048"/>
          </a:xfrm>
          <a:prstGeom prst="rect">
            <a:avLst/>
          </a:prstGeom>
          <a:noFill/>
        </p:spPr>
        <p:txBody>
          <a:bodyPr wrap="square" anchor="ctr">
            <a:spAutoFit/>
          </a:bodyPr>
          <a:lstStyle/>
          <a:p>
            <a:pPr algn="l">
              <a:lnSpc>
                <a:spcPct val="100000"/>
              </a:lnSpc>
              <a:spcBef>
                <a:spcPts val="0"/>
              </a:spcBef>
              <a:spcAft>
                <a:spcPts val="0"/>
              </a:spcAft>
            </a:pPr>
            <a:r>
              <a:rPr sz="1400" b="1" i="0">
                <a:solidFill>
                  <a:srgbClr val="0E5A61"/>
                </a:solidFill>
                <a:latin typeface="Calibri"/>
              </a:rPr>
              <a:t>late rise</a:t>
            </a:r>
          </a:p>
        </p:txBody>
      </p:sp>
      <p:sp>
        <p:nvSpPr>
          <p:cNvPr id="86" name="Rectangle 85"/>
          <p:cNvSpPr/>
          <p:nvPr/>
        </p:nvSpPr>
        <p:spPr>
          <a:xfrm>
            <a:off x="8046720" y="5440680"/>
            <a:ext cx="3383280" cy="457200"/>
          </a:xfrm>
          <a:prstGeom prst="rect">
            <a:avLst/>
          </a:prstGeom>
          <a:solidFill>
            <a:srgbClr val="F3F6F7"/>
          </a:solidFill>
          <a:ln w="6350">
            <a:solidFill>
              <a:srgbClr val="DD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8156448" y="5477256"/>
            <a:ext cx="3200400" cy="384048"/>
          </a:xfrm>
          <a:prstGeom prst="rect">
            <a:avLst/>
          </a:prstGeom>
          <a:noFill/>
        </p:spPr>
        <p:txBody>
          <a:bodyPr wrap="square" anchor="ctr">
            <a:spAutoFit/>
          </a:bodyPr>
          <a:lstStyle/>
          <a:p>
            <a:pPr algn="l">
              <a:lnSpc>
                <a:spcPct val="100000"/>
              </a:lnSpc>
              <a:spcBef>
                <a:spcPts val="0"/>
              </a:spcBef>
              <a:spcAft>
                <a:spcPts val="0"/>
              </a:spcAft>
            </a:pPr>
            <a:r>
              <a:rPr sz="1400" b="0" i="0">
                <a:solidFill>
                  <a:srgbClr val="444A52"/>
                </a:solidFill>
                <a:latin typeface="Calibri"/>
              </a:rPr>
              <a:t>GSEA 15v5 / 15v0</a:t>
            </a:r>
          </a:p>
        </p:txBody>
      </p:sp>
      <p:sp>
        <p:nvSpPr>
          <p:cNvPr id="88" name="TextBox 87"/>
          <p:cNvSpPr txBox="1"/>
          <p:nvPr/>
        </p:nvSpPr>
        <p:spPr>
          <a:xfrm>
            <a:off x="640080" y="6080760"/>
            <a:ext cx="10789920" cy="548640"/>
          </a:xfrm>
          <a:prstGeom prst="rect">
            <a:avLst/>
          </a:prstGeom>
          <a:noFill/>
        </p:spPr>
        <p:txBody>
          <a:bodyPr wrap="square" anchor="t">
            <a:spAutoFit/>
          </a:bodyPr>
          <a:lstStyle/>
          <a:p>
            <a:pPr algn="l">
              <a:lnSpc>
                <a:spcPct val="104000"/>
              </a:lnSpc>
              <a:spcBef>
                <a:spcPts val="0"/>
              </a:spcBef>
              <a:spcAft>
                <a:spcPts val="0"/>
              </a:spcAft>
            </a:pPr>
            <a:r>
              <a:rPr sz="1450" b="0" i="1">
                <a:solidFill>
                  <a:srgbClr val="444A52"/>
                </a:solidFill>
                <a:latin typeface="Calibri"/>
              </a:rPr>
              <a:t>One coherent program: guidance/projection UP, biosynthesis &amp; IEGs DOWN at 5 min — all reversing by 15 min, with a late OXPHOS rise.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SYNTHESIS</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A model: switch on at 5 min, switch off by 15</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23</a:t>
            </a:r>
          </a:p>
        </p:txBody>
      </p:sp>
      <p:sp>
        <p:nvSpPr>
          <p:cNvPr id="8" name="Rectangle 7"/>
          <p:cNvSpPr/>
          <p:nvPr/>
        </p:nvSpPr>
        <p:spPr>
          <a:xfrm>
            <a:off x="1097280" y="2286000"/>
            <a:ext cx="1828800" cy="1828800"/>
          </a:xfrm>
          <a:prstGeom prst="rect">
            <a:avLst/>
          </a:prstGeom>
          <a:solidFill>
            <a:srgbClr val="444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2697480"/>
            <a:ext cx="1828800" cy="1097280"/>
          </a:xfrm>
          <a:prstGeom prst="rect">
            <a:avLst/>
          </a:prstGeom>
          <a:noFill/>
        </p:spPr>
        <p:txBody>
          <a:bodyPr wrap="square" anchor="ctr">
            <a:spAutoFit/>
          </a:bodyPr>
          <a:lstStyle/>
          <a:p>
            <a:pPr algn="ctr">
              <a:lnSpc>
                <a:spcPct val="100000"/>
              </a:lnSpc>
              <a:spcBef>
                <a:spcPts val="0"/>
              </a:spcBef>
              <a:spcAft>
                <a:spcPts val="200"/>
              </a:spcAft>
            </a:pPr>
            <a:r>
              <a:rPr sz="1600" b="1" i="0">
                <a:solidFill>
                  <a:srgbClr val="FFFFFF"/>
                </a:solidFill>
                <a:latin typeface="Calibri"/>
              </a:rPr>
              <a:t>0 min</a:t>
            </a:r>
          </a:p>
          <a:p>
            <a:pPr algn="ctr">
              <a:lnSpc>
                <a:spcPct val="100000"/>
              </a:lnSpc>
              <a:spcBef>
                <a:spcPts val="0"/>
              </a:spcBef>
              <a:spcAft>
                <a:spcPts val="200"/>
              </a:spcAft>
            </a:pPr>
            <a:r>
              <a:rPr sz="1600" b="1" i="0">
                <a:solidFill>
                  <a:srgbClr val="FFFFFF"/>
                </a:solidFill>
                <a:latin typeface="Calibri"/>
              </a:rPr>
              <a:t>Vehicle</a:t>
            </a:r>
          </a:p>
        </p:txBody>
      </p:sp>
      <p:sp>
        <p:nvSpPr>
          <p:cNvPr id="10" name="TextBox 9"/>
          <p:cNvSpPr txBox="1"/>
          <p:nvPr/>
        </p:nvSpPr>
        <p:spPr>
          <a:xfrm>
            <a:off x="2926080" y="2788920"/>
            <a:ext cx="2103120" cy="822960"/>
          </a:xfrm>
          <a:prstGeom prst="rect">
            <a:avLst/>
          </a:prstGeom>
          <a:noFill/>
        </p:spPr>
        <p:txBody>
          <a:bodyPr wrap="square" anchor="t">
            <a:spAutoFit/>
          </a:bodyPr>
          <a:lstStyle/>
          <a:p>
            <a:pPr algn="ctr">
              <a:lnSpc>
                <a:spcPct val="100000"/>
              </a:lnSpc>
              <a:spcBef>
                <a:spcPts val="0"/>
              </a:spcBef>
              <a:spcAft>
                <a:spcPts val="0"/>
              </a:spcAft>
            </a:pPr>
            <a:r>
              <a:rPr sz="1500" b="1" i="0">
                <a:solidFill>
                  <a:srgbClr val="0E5A61"/>
                </a:solidFill>
                <a:latin typeface="Calibri"/>
              </a:rPr>
              <a:t>activate</a:t>
            </a:r>
          </a:p>
          <a:p>
            <a:pPr algn="ctr">
              <a:lnSpc>
                <a:spcPct val="100000"/>
              </a:lnSpc>
              <a:spcBef>
                <a:spcPts val="0"/>
              </a:spcBef>
              <a:spcAft>
                <a:spcPts val="0"/>
              </a:spcAft>
            </a:pPr>
            <a:r>
              <a:rPr sz="3000" b="1" i="0">
                <a:solidFill>
                  <a:srgbClr val="16828C"/>
                </a:solidFill>
                <a:latin typeface="Calibri"/>
              </a:rPr>
              <a:t>→</a:t>
            </a:r>
          </a:p>
        </p:txBody>
      </p:sp>
      <p:sp>
        <p:nvSpPr>
          <p:cNvPr id="11" name="Rectangle 10"/>
          <p:cNvSpPr/>
          <p:nvPr/>
        </p:nvSpPr>
        <p:spPr>
          <a:xfrm>
            <a:off x="5029200" y="2286000"/>
            <a:ext cx="1828800" cy="18288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0" y="2697480"/>
            <a:ext cx="1828800" cy="1097280"/>
          </a:xfrm>
          <a:prstGeom prst="rect">
            <a:avLst/>
          </a:prstGeom>
          <a:noFill/>
        </p:spPr>
        <p:txBody>
          <a:bodyPr wrap="square" anchor="ctr">
            <a:spAutoFit/>
          </a:bodyPr>
          <a:lstStyle/>
          <a:p>
            <a:pPr algn="ctr">
              <a:lnSpc>
                <a:spcPct val="100000"/>
              </a:lnSpc>
              <a:spcBef>
                <a:spcPts val="0"/>
              </a:spcBef>
              <a:spcAft>
                <a:spcPts val="200"/>
              </a:spcAft>
            </a:pPr>
            <a:r>
              <a:rPr sz="1600" b="1" i="0">
                <a:solidFill>
                  <a:srgbClr val="FFFFFF"/>
                </a:solidFill>
                <a:latin typeface="Calibri"/>
              </a:rPr>
              <a:t>5 min</a:t>
            </a:r>
          </a:p>
          <a:p>
            <a:pPr algn="ctr">
              <a:lnSpc>
                <a:spcPct val="100000"/>
              </a:lnSpc>
              <a:spcBef>
                <a:spcPts val="0"/>
              </a:spcBef>
              <a:spcAft>
                <a:spcPts val="200"/>
              </a:spcAft>
            </a:pPr>
            <a:r>
              <a:rPr sz="1600" b="1" i="0">
                <a:solidFill>
                  <a:srgbClr val="FFFFFF"/>
                </a:solidFill>
                <a:latin typeface="Calibri"/>
              </a:rPr>
              <a:t>Netrin-1</a:t>
            </a:r>
          </a:p>
        </p:txBody>
      </p:sp>
      <p:sp>
        <p:nvSpPr>
          <p:cNvPr id="13" name="TextBox 12"/>
          <p:cNvSpPr txBox="1"/>
          <p:nvPr/>
        </p:nvSpPr>
        <p:spPr>
          <a:xfrm>
            <a:off x="6858000" y="2788920"/>
            <a:ext cx="2103120" cy="822960"/>
          </a:xfrm>
          <a:prstGeom prst="rect">
            <a:avLst/>
          </a:prstGeom>
          <a:noFill/>
        </p:spPr>
        <p:txBody>
          <a:bodyPr wrap="square" anchor="t">
            <a:spAutoFit/>
          </a:bodyPr>
          <a:lstStyle/>
          <a:p>
            <a:pPr algn="ctr">
              <a:lnSpc>
                <a:spcPct val="100000"/>
              </a:lnSpc>
              <a:spcBef>
                <a:spcPts val="0"/>
              </a:spcBef>
              <a:spcAft>
                <a:spcPts val="0"/>
              </a:spcAft>
            </a:pPr>
            <a:r>
              <a:rPr sz="1500" b="1" i="0">
                <a:solidFill>
                  <a:srgbClr val="0E5A61"/>
                </a:solidFill>
                <a:latin typeface="Calibri"/>
              </a:rPr>
              <a:t>reverse</a:t>
            </a:r>
          </a:p>
          <a:p>
            <a:pPr algn="ctr">
              <a:lnSpc>
                <a:spcPct val="100000"/>
              </a:lnSpc>
              <a:spcBef>
                <a:spcPts val="0"/>
              </a:spcBef>
              <a:spcAft>
                <a:spcPts val="0"/>
              </a:spcAft>
            </a:pPr>
            <a:r>
              <a:rPr sz="3000" b="1" i="0">
                <a:solidFill>
                  <a:srgbClr val="16828C"/>
                </a:solidFill>
                <a:latin typeface="Calibri"/>
              </a:rPr>
              <a:t>→</a:t>
            </a:r>
          </a:p>
        </p:txBody>
      </p:sp>
      <p:sp>
        <p:nvSpPr>
          <p:cNvPr id="14" name="Rectangle 13"/>
          <p:cNvSpPr/>
          <p:nvPr/>
        </p:nvSpPr>
        <p:spPr>
          <a:xfrm>
            <a:off x="8961120" y="2286000"/>
            <a:ext cx="1828800" cy="18288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0" y="2697480"/>
            <a:ext cx="1828800" cy="1097280"/>
          </a:xfrm>
          <a:prstGeom prst="rect">
            <a:avLst/>
          </a:prstGeom>
          <a:noFill/>
        </p:spPr>
        <p:txBody>
          <a:bodyPr wrap="square" anchor="ctr">
            <a:spAutoFit/>
          </a:bodyPr>
          <a:lstStyle/>
          <a:p>
            <a:pPr algn="ctr">
              <a:lnSpc>
                <a:spcPct val="100000"/>
              </a:lnSpc>
              <a:spcBef>
                <a:spcPts val="0"/>
              </a:spcBef>
              <a:spcAft>
                <a:spcPts val="200"/>
              </a:spcAft>
            </a:pPr>
            <a:r>
              <a:rPr sz="1600" b="1" i="0">
                <a:solidFill>
                  <a:srgbClr val="FFFFFF"/>
                </a:solidFill>
                <a:latin typeface="Calibri"/>
              </a:rPr>
              <a:t>15 min</a:t>
            </a:r>
          </a:p>
          <a:p>
            <a:pPr algn="ctr">
              <a:lnSpc>
                <a:spcPct val="100000"/>
              </a:lnSpc>
              <a:spcBef>
                <a:spcPts val="0"/>
              </a:spcBef>
              <a:spcAft>
                <a:spcPts val="200"/>
              </a:spcAft>
            </a:pPr>
            <a:r>
              <a:rPr sz="1600" b="1" i="0">
                <a:solidFill>
                  <a:srgbClr val="FFFFFF"/>
                </a:solidFill>
                <a:latin typeface="Calibri"/>
              </a:rPr>
              <a:t>Netrin-1</a:t>
            </a:r>
          </a:p>
        </p:txBody>
      </p:sp>
      <p:sp>
        <p:nvSpPr>
          <p:cNvPr id="16" name="TextBox 15"/>
          <p:cNvSpPr txBox="1"/>
          <p:nvPr/>
        </p:nvSpPr>
        <p:spPr>
          <a:xfrm>
            <a:off x="822960" y="1371600"/>
            <a:ext cx="10607040" cy="1188720"/>
          </a:xfrm>
          <a:prstGeom prst="rect">
            <a:avLst/>
          </a:prstGeom>
          <a:noFill/>
        </p:spPr>
        <p:txBody>
          <a:bodyPr wrap="square" anchor="t">
            <a:spAutoFit/>
          </a:bodyPr>
          <a:lstStyle/>
          <a:p>
            <a:pPr algn="ctr">
              <a:lnSpc>
                <a:spcPct val="100000"/>
              </a:lnSpc>
              <a:spcBef>
                <a:spcPts val="0"/>
              </a:spcBef>
              <a:spcAft>
                <a:spcPts val="600"/>
              </a:spcAft>
            </a:pPr>
            <a:r>
              <a:rPr sz="1700" b="1" i="0">
                <a:solidFill>
                  <a:srgbClr val="1E7D52"/>
                </a:solidFill>
                <a:latin typeface="Calibri"/>
              </a:rPr>
              <a:t>UP: axon guidance · projection · synapse · NO–calcium · adhesion</a:t>
            </a:r>
          </a:p>
          <a:p>
            <a:pPr algn="ctr">
              <a:lnSpc>
                <a:spcPct val="100000"/>
              </a:lnSpc>
              <a:spcBef>
                <a:spcPts val="0"/>
              </a:spcBef>
              <a:spcAft>
                <a:spcPts val="600"/>
              </a:spcAft>
            </a:pPr>
            <a:r>
              <a:rPr sz="1700" b="1" i="0">
                <a:solidFill>
                  <a:srgbClr val="C0392B"/>
                </a:solidFill>
                <a:latin typeface="Calibri"/>
              </a:rPr>
              <a:t>DOWN: splicing · ribosome biogenesis · translation · IEGs · ROCK1</a:t>
            </a:r>
          </a:p>
        </p:txBody>
      </p:sp>
      <p:sp>
        <p:nvSpPr>
          <p:cNvPr id="17" name="TextBox 16"/>
          <p:cNvSpPr txBox="1"/>
          <p:nvPr/>
        </p:nvSpPr>
        <p:spPr>
          <a:xfrm>
            <a:off x="822960" y="5029200"/>
            <a:ext cx="10607040" cy="1280160"/>
          </a:xfrm>
          <a:prstGeom prst="rect">
            <a:avLst/>
          </a:prstGeom>
          <a:noFill/>
        </p:spPr>
        <p:txBody>
          <a:bodyPr wrap="square" anchor="t">
            <a:spAutoFit/>
          </a:bodyPr>
          <a:lstStyle/>
          <a:p>
            <a:pPr algn="ctr">
              <a:lnSpc>
                <a:spcPct val="110000"/>
              </a:lnSpc>
              <a:spcBef>
                <a:spcPts val="0"/>
              </a:spcBef>
              <a:spcAft>
                <a:spcPts val="0"/>
              </a:spcAft>
            </a:pPr>
            <a:r>
              <a:rPr sz="1700" b="0" i="0">
                <a:solidFill>
                  <a:srgbClr val="102A43"/>
                </a:solidFill>
                <a:latin typeface="Calibri"/>
              </a:rPr>
              <a:t>A 5-minute Netrin-1 pulse drives a coordinated transcriptional swing, then near-perfectly reverses it (r = −0.99) by 15 minutes — a transient program, with a late OXPHOS rise as the one lingering signal.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DISCUSSION</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Discussion — five take-home messages</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24</a:t>
            </a:r>
          </a:p>
        </p:txBody>
      </p:sp>
      <p:sp>
        <p:nvSpPr>
          <p:cNvPr id="8" name="Rectangle 7"/>
          <p:cNvSpPr/>
          <p:nvPr/>
        </p:nvSpPr>
        <p:spPr>
          <a:xfrm>
            <a:off x="822960" y="1325880"/>
            <a:ext cx="502920" cy="86868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472184"/>
            <a:ext cx="502920" cy="548640"/>
          </a:xfrm>
          <a:prstGeom prst="rect">
            <a:avLst/>
          </a:prstGeom>
          <a:noFill/>
        </p:spPr>
        <p:txBody>
          <a:bodyPr wrap="square" anchor="t">
            <a:spAutoFit/>
          </a:bodyPr>
          <a:lstStyle/>
          <a:p>
            <a:pPr algn="ctr">
              <a:lnSpc>
                <a:spcPct val="100000"/>
              </a:lnSpc>
              <a:spcBef>
                <a:spcPts val="0"/>
              </a:spcBef>
              <a:spcAft>
                <a:spcPts val="0"/>
              </a:spcAft>
            </a:pPr>
            <a:r>
              <a:rPr sz="2200" b="1" i="0">
                <a:solidFill>
                  <a:srgbClr val="FFFFFF"/>
                </a:solidFill>
                <a:latin typeface="Calibri"/>
              </a:rPr>
              <a:t>1</a:t>
            </a:r>
          </a:p>
        </p:txBody>
      </p:sp>
      <p:sp>
        <p:nvSpPr>
          <p:cNvPr id="10" name="TextBox 9"/>
          <p:cNvSpPr txBox="1"/>
          <p:nvPr/>
        </p:nvSpPr>
        <p:spPr>
          <a:xfrm>
            <a:off x="1508760" y="1344168"/>
            <a:ext cx="9875520" cy="868680"/>
          </a:xfrm>
          <a:prstGeom prst="rect">
            <a:avLst/>
          </a:prstGeom>
          <a:noFill/>
        </p:spPr>
        <p:txBody>
          <a:bodyPr wrap="square" anchor="ctr">
            <a:spAutoFit/>
          </a:bodyPr>
          <a:lstStyle/>
          <a:p>
            <a:pPr algn="l">
              <a:lnSpc>
                <a:spcPct val="100000"/>
              </a:lnSpc>
              <a:spcBef>
                <a:spcPts val="0"/>
              </a:spcBef>
              <a:spcAft>
                <a:spcPts val="0"/>
              </a:spcAft>
            </a:pPr>
            <a:r>
              <a:rPr sz="1650" b="1" i="0">
                <a:solidFill>
                  <a:srgbClr val="102A43"/>
                </a:solidFill>
                <a:latin typeface="Calibri"/>
              </a:rPr>
              <a:t>Dual IEG suppression — </a:t>
            </a:r>
            <a:r>
              <a:rPr sz="1500" b="0" i="0">
                <a:solidFill>
                  <a:srgbClr val="444A52"/>
                </a:solidFill>
                <a:latin typeface="Calibri"/>
              </a:rPr>
              <a:t>Fos AND Npas4 are acutely DOWN-regulated — opposite to the canonical activity-induced behavior of IEGs. A novel observation.</a:t>
            </a:r>
          </a:p>
        </p:txBody>
      </p:sp>
      <p:sp>
        <p:nvSpPr>
          <p:cNvPr id="11" name="Rectangle 10"/>
          <p:cNvSpPr/>
          <p:nvPr/>
        </p:nvSpPr>
        <p:spPr>
          <a:xfrm>
            <a:off x="822960" y="2295144"/>
            <a:ext cx="502920" cy="86868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441448"/>
            <a:ext cx="502920" cy="548640"/>
          </a:xfrm>
          <a:prstGeom prst="rect">
            <a:avLst/>
          </a:prstGeom>
          <a:noFill/>
        </p:spPr>
        <p:txBody>
          <a:bodyPr wrap="square" anchor="t">
            <a:spAutoFit/>
          </a:bodyPr>
          <a:lstStyle/>
          <a:p>
            <a:pPr algn="ctr">
              <a:lnSpc>
                <a:spcPct val="100000"/>
              </a:lnSpc>
              <a:spcBef>
                <a:spcPts val="0"/>
              </a:spcBef>
              <a:spcAft>
                <a:spcPts val="0"/>
              </a:spcAft>
            </a:pPr>
            <a:r>
              <a:rPr sz="2200" b="1" i="0">
                <a:solidFill>
                  <a:srgbClr val="FFFFFF"/>
                </a:solidFill>
                <a:latin typeface="Calibri"/>
              </a:rPr>
              <a:t>2</a:t>
            </a:r>
          </a:p>
        </p:txBody>
      </p:sp>
      <p:sp>
        <p:nvSpPr>
          <p:cNvPr id="13" name="TextBox 12"/>
          <p:cNvSpPr txBox="1"/>
          <p:nvPr/>
        </p:nvSpPr>
        <p:spPr>
          <a:xfrm>
            <a:off x="1508760" y="2313432"/>
            <a:ext cx="9875520" cy="868680"/>
          </a:xfrm>
          <a:prstGeom prst="rect">
            <a:avLst/>
          </a:prstGeom>
          <a:noFill/>
        </p:spPr>
        <p:txBody>
          <a:bodyPr wrap="square" anchor="ctr">
            <a:spAutoFit/>
          </a:bodyPr>
          <a:lstStyle/>
          <a:p>
            <a:pPr algn="l">
              <a:lnSpc>
                <a:spcPct val="100000"/>
              </a:lnSpc>
              <a:spcBef>
                <a:spcPts val="0"/>
              </a:spcBef>
              <a:spcAft>
                <a:spcPts val="0"/>
              </a:spcAft>
            </a:pPr>
            <a:r>
              <a:rPr sz="1650" b="1" i="0">
                <a:solidFill>
                  <a:srgbClr val="102A43"/>
                </a:solidFill>
                <a:latin typeface="Calibri"/>
              </a:rPr>
              <a:t>Coordinated biosynthesis shutdown — </a:t>
            </a:r>
            <a:r>
              <a:rPr sz="1500" b="0" i="0">
                <a:solidFill>
                  <a:srgbClr val="444A52"/>
                </a:solidFill>
                <a:latin typeface="Calibri"/>
              </a:rPr>
              <a:t>Splicing + ribosome biogenesis + translation are transiently suppressed together — possibly reallocating resources toward local translation.</a:t>
            </a:r>
          </a:p>
        </p:txBody>
      </p:sp>
      <p:sp>
        <p:nvSpPr>
          <p:cNvPr id="14" name="Rectangle 13"/>
          <p:cNvSpPr/>
          <p:nvPr/>
        </p:nvSpPr>
        <p:spPr>
          <a:xfrm>
            <a:off x="822960" y="3264408"/>
            <a:ext cx="502920" cy="86868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410712"/>
            <a:ext cx="502920" cy="548640"/>
          </a:xfrm>
          <a:prstGeom prst="rect">
            <a:avLst/>
          </a:prstGeom>
          <a:noFill/>
        </p:spPr>
        <p:txBody>
          <a:bodyPr wrap="square" anchor="t">
            <a:spAutoFit/>
          </a:bodyPr>
          <a:lstStyle/>
          <a:p>
            <a:pPr algn="ctr">
              <a:lnSpc>
                <a:spcPct val="100000"/>
              </a:lnSpc>
              <a:spcBef>
                <a:spcPts val="0"/>
              </a:spcBef>
              <a:spcAft>
                <a:spcPts val="0"/>
              </a:spcAft>
            </a:pPr>
            <a:r>
              <a:rPr sz="2200" b="1" i="0">
                <a:solidFill>
                  <a:srgbClr val="FFFFFF"/>
                </a:solidFill>
                <a:latin typeface="Calibri"/>
              </a:rPr>
              <a:t>3</a:t>
            </a:r>
          </a:p>
        </p:txBody>
      </p:sp>
      <p:sp>
        <p:nvSpPr>
          <p:cNvPr id="16" name="TextBox 15"/>
          <p:cNvSpPr txBox="1"/>
          <p:nvPr/>
        </p:nvSpPr>
        <p:spPr>
          <a:xfrm>
            <a:off x="1508760" y="3282696"/>
            <a:ext cx="9875520" cy="868680"/>
          </a:xfrm>
          <a:prstGeom prst="rect">
            <a:avLst/>
          </a:prstGeom>
          <a:noFill/>
        </p:spPr>
        <p:txBody>
          <a:bodyPr wrap="square" anchor="ctr">
            <a:spAutoFit/>
          </a:bodyPr>
          <a:lstStyle/>
          <a:p>
            <a:pPr algn="l">
              <a:lnSpc>
                <a:spcPct val="100000"/>
              </a:lnSpc>
              <a:spcBef>
                <a:spcPts val="0"/>
              </a:spcBef>
              <a:spcAft>
                <a:spcPts val="0"/>
              </a:spcAft>
            </a:pPr>
            <a:r>
              <a:rPr sz="1650" b="1" i="0">
                <a:solidFill>
                  <a:srgbClr val="102A43"/>
                </a:solidFill>
                <a:latin typeface="Calibri"/>
              </a:rPr>
              <a:t>Guidance program — transcriptional arm — </a:t>
            </a:r>
            <a:r>
              <a:rPr sz="1500" b="0" i="0">
                <a:solidFill>
                  <a:srgbClr val="444A52"/>
                </a:solidFill>
                <a:latin typeface="Calibri"/>
              </a:rPr>
              <a:t>Axon guidance is induced at the mRNA level in minutes, running in parallel with Netrin's classic post-translational mechanism.</a:t>
            </a:r>
          </a:p>
        </p:txBody>
      </p:sp>
      <p:sp>
        <p:nvSpPr>
          <p:cNvPr id="17" name="Rectangle 16"/>
          <p:cNvSpPr/>
          <p:nvPr/>
        </p:nvSpPr>
        <p:spPr>
          <a:xfrm>
            <a:off x="822960" y="4233672"/>
            <a:ext cx="502920" cy="86868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4379976"/>
            <a:ext cx="502920" cy="548640"/>
          </a:xfrm>
          <a:prstGeom prst="rect">
            <a:avLst/>
          </a:prstGeom>
          <a:noFill/>
        </p:spPr>
        <p:txBody>
          <a:bodyPr wrap="square" anchor="t">
            <a:spAutoFit/>
          </a:bodyPr>
          <a:lstStyle/>
          <a:p>
            <a:pPr algn="ctr">
              <a:lnSpc>
                <a:spcPct val="100000"/>
              </a:lnSpc>
              <a:spcBef>
                <a:spcPts val="0"/>
              </a:spcBef>
              <a:spcAft>
                <a:spcPts val="0"/>
              </a:spcAft>
            </a:pPr>
            <a:r>
              <a:rPr sz="2200" b="1" i="0">
                <a:solidFill>
                  <a:srgbClr val="FFFFFF"/>
                </a:solidFill>
                <a:latin typeface="Calibri"/>
              </a:rPr>
              <a:t>4</a:t>
            </a:r>
          </a:p>
        </p:txBody>
      </p:sp>
      <p:sp>
        <p:nvSpPr>
          <p:cNvPr id="19" name="TextBox 18"/>
          <p:cNvSpPr txBox="1"/>
          <p:nvPr/>
        </p:nvSpPr>
        <p:spPr>
          <a:xfrm>
            <a:off x="1508760" y="4251960"/>
            <a:ext cx="9875520" cy="868680"/>
          </a:xfrm>
          <a:prstGeom prst="rect">
            <a:avLst/>
          </a:prstGeom>
          <a:noFill/>
        </p:spPr>
        <p:txBody>
          <a:bodyPr wrap="square" anchor="ctr">
            <a:spAutoFit/>
          </a:bodyPr>
          <a:lstStyle/>
          <a:p>
            <a:pPr algn="l">
              <a:lnSpc>
                <a:spcPct val="100000"/>
              </a:lnSpc>
              <a:spcBef>
                <a:spcPts val="0"/>
              </a:spcBef>
              <a:spcAft>
                <a:spcPts val="0"/>
              </a:spcAft>
            </a:pPr>
            <a:r>
              <a:rPr sz="1650" b="1" i="0">
                <a:solidFill>
                  <a:srgbClr val="102A43"/>
                </a:solidFill>
                <a:latin typeface="Calibri"/>
              </a:rPr>
              <a:t>r = −0.99 transient reversal — </a:t>
            </a:r>
            <a:r>
              <a:rPr sz="1500" b="0" i="0">
                <a:solidFill>
                  <a:srgbClr val="444A52"/>
                </a:solidFill>
                <a:latin typeface="Calibri"/>
              </a:rPr>
              <a:t>A near-perfect mirror: the 5-min program is precisely undone by 15 min. The study's strongest quantitative result.</a:t>
            </a:r>
          </a:p>
        </p:txBody>
      </p:sp>
      <p:sp>
        <p:nvSpPr>
          <p:cNvPr id="20" name="Rectangle 19"/>
          <p:cNvSpPr/>
          <p:nvPr/>
        </p:nvSpPr>
        <p:spPr>
          <a:xfrm>
            <a:off x="822960" y="5202936"/>
            <a:ext cx="502920" cy="86868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5349240"/>
            <a:ext cx="502920" cy="548640"/>
          </a:xfrm>
          <a:prstGeom prst="rect">
            <a:avLst/>
          </a:prstGeom>
          <a:noFill/>
        </p:spPr>
        <p:txBody>
          <a:bodyPr wrap="square" anchor="t">
            <a:spAutoFit/>
          </a:bodyPr>
          <a:lstStyle/>
          <a:p>
            <a:pPr algn="ctr">
              <a:lnSpc>
                <a:spcPct val="100000"/>
              </a:lnSpc>
              <a:spcBef>
                <a:spcPts val="0"/>
              </a:spcBef>
              <a:spcAft>
                <a:spcPts val="0"/>
              </a:spcAft>
            </a:pPr>
            <a:r>
              <a:rPr sz="2200" b="1" i="0">
                <a:solidFill>
                  <a:srgbClr val="FFFFFF"/>
                </a:solidFill>
                <a:latin typeface="Calibri"/>
              </a:rPr>
              <a:t>5</a:t>
            </a:r>
          </a:p>
        </p:txBody>
      </p:sp>
      <p:sp>
        <p:nvSpPr>
          <p:cNvPr id="22" name="TextBox 21"/>
          <p:cNvSpPr txBox="1"/>
          <p:nvPr/>
        </p:nvSpPr>
        <p:spPr>
          <a:xfrm>
            <a:off x="1508760" y="5221224"/>
            <a:ext cx="9875520" cy="868680"/>
          </a:xfrm>
          <a:prstGeom prst="rect">
            <a:avLst/>
          </a:prstGeom>
          <a:noFill/>
        </p:spPr>
        <p:txBody>
          <a:bodyPr wrap="square" anchor="ctr">
            <a:spAutoFit/>
          </a:bodyPr>
          <a:lstStyle/>
          <a:p>
            <a:pPr algn="l">
              <a:lnSpc>
                <a:spcPct val="100000"/>
              </a:lnSpc>
              <a:spcBef>
                <a:spcPts val="0"/>
              </a:spcBef>
              <a:spcAft>
                <a:spcPts val="0"/>
              </a:spcAft>
            </a:pPr>
            <a:r>
              <a:rPr sz="1650" b="1" i="0">
                <a:solidFill>
                  <a:srgbClr val="102A43"/>
                </a:solidFill>
                <a:latin typeface="Calibri"/>
              </a:rPr>
              <a:t>ROCK1-selective control — </a:t>
            </a:r>
            <a:r>
              <a:rPr sz="1500" b="0" i="0">
                <a:solidFill>
                  <a:srgbClr val="444A52"/>
                </a:solidFill>
                <a:latin typeface="Calibri"/>
              </a:rPr>
              <a:t>Rock1 down, Rock2 unchanged — isoform-specific regulation of a canonical Netrin–DCC effector.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DISCUSSION</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Limitations — read honestly</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25</a:t>
            </a:r>
          </a:p>
        </p:txBody>
      </p:sp>
      <p:sp>
        <p:nvSpPr>
          <p:cNvPr id="8" name="TextBox 7"/>
          <p:cNvSpPr txBox="1"/>
          <p:nvPr/>
        </p:nvSpPr>
        <p:spPr>
          <a:xfrm>
            <a:off x="822960" y="1417320"/>
            <a:ext cx="10515600" cy="4937760"/>
          </a:xfrm>
          <a:prstGeom prst="rect">
            <a:avLst/>
          </a:prstGeom>
          <a:noFill/>
        </p:spPr>
        <p:txBody>
          <a:bodyPr wrap="square">
            <a:spAutoFit/>
          </a:bodyPr>
          <a:lstStyle/>
          <a:p>
            <a:pPr marL="0" indent="0">
              <a:lnSpc>
                <a:spcPct val="104000"/>
              </a:lnSpc>
              <a:spcBef>
                <a:spcPts val="0"/>
              </a:spcBef>
              <a:spcAft>
                <a:spcPts val="600"/>
              </a:spcAft>
            </a:pPr>
            <a:r>
              <a:rPr sz="1650" b="1">
                <a:solidFill>
                  <a:srgbClr val="444A52"/>
                </a:solidFill>
                <a:latin typeface="Calibri"/>
              </a:rPr>
              <a:t>▸  n = 3, and the acute signal is weak.</a:t>
            </a:r>
          </a:p>
          <a:p>
            <a:pPr marL="274320" indent="0">
              <a:lnSpc>
                <a:spcPct val="104000"/>
              </a:lnSpc>
              <a:spcBef>
                <a:spcPts val="0"/>
              </a:spcBef>
              <a:spcAft>
                <a:spcPts val="600"/>
              </a:spcAft>
            </a:pPr>
            <a:r>
              <a:rPr sz="1550" b="0">
                <a:solidFill>
                  <a:srgbClr val="444A52"/>
                </a:solidFill>
                <a:latin typeface="Calibri"/>
              </a:rPr>
              <a:t>–  Most single-gene effects are small → pathway-level GSEA is the primary analysis.</a:t>
            </a:r>
          </a:p>
          <a:p>
            <a:pPr marL="0" indent="0">
              <a:lnSpc>
                <a:spcPct val="104000"/>
              </a:lnSpc>
              <a:spcBef>
                <a:spcPts val="0"/>
              </a:spcBef>
              <a:spcAft>
                <a:spcPts val="600"/>
              </a:spcAft>
            </a:pPr>
            <a:r>
              <a:rPr sz="1650" b="1">
                <a:solidFill>
                  <a:srgbClr val="444A52"/>
                </a:solidFill>
                <a:latin typeface="Calibri"/>
              </a:rPr>
              <a:t>▸  No independent PBS-15min control.</a:t>
            </a:r>
          </a:p>
          <a:p>
            <a:pPr marL="274320" indent="0">
              <a:lnSpc>
                <a:spcPct val="104000"/>
              </a:lnSpc>
              <a:spcBef>
                <a:spcPts val="0"/>
              </a:spcBef>
              <a:spcAft>
                <a:spcPts val="600"/>
              </a:spcAft>
            </a:pPr>
            <a:r>
              <a:rPr sz="1550" b="0">
                <a:solidFill>
                  <a:srgbClr val="444A52"/>
                </a:solidFill>
                <a:latin typeface="Calibri"/>
              </a:rPr>
              <a:t>–  The 15-vs-0 contrast confounds treatment with elapsed time; main results rely on 5v0 and 15v5.</a:t>
            </a:r>
          </a:p>
          <a:p>
            <a:pPr marL="0" indent="0">
              <a:lnSpc>
                <a:spcPct val="104000"/>
              </a:lnSpc>
              <a:spcBef>
                <a:spcPts val="0"/>
              </a:spcBef>
              <a:spcAft>
                <a:spcPts val="600"/>
              </a:spcAft>
            </a:pPr>
            <a:r>
              <a:rPr sz="1650" b="1">
                <a:solidFill>
                  <a:srgbClr val="444A52"/>
                </a:solidFill>
                <a:latin typeface="Calibri"/>
              </a:rPr>
              <a:t>▸  Only three timepoints.</a:t>
            </a:r>
          </a:p>
          <a:p>
            <a:pPr marL="274320" indent="0">
              <a:lnSpc>
                <a:spcPct val="104000"/>
              </a:lnSpc>
              <a:spcBef>
                <a:spcPts val="0"/>
              </a:spcBef>
              <a:spcAft>
                <a:spcPts val="600"/>
              </a:spcAft>
            </a:pPr>
            <a:r>
              <a:rPr sz="1550" b="0">
                <a:solidFill>
                  <a:srgbClr val="444A52"/>
                </a:solidFill>
                <a:latin typeface="Calibri"/>
              </a:rPr>
              <a:t>–  Dynamics inferred via LRT + trend classification; dense time-series methods (e.g. ImpulseDE2) are not applicable.</a:t>
            </a:r>
          </a:p>
          <a:p>
            <a:pPr marL="0" indent="0">
              <a:lnSpc>
                <a:spcPct val="104000"/>
              </a:lnSpc>
              <a:spcBef>
                <a:spcPts val="0"/>
              </a:spcBef>
              <a:spcAft>
                <a:spcPts val="600"/>
              </a:spcAft>
            </a:pPr>
            <a:r>
              <a:rPr sz="1650" b="1">
                <a:solidFill>
                  <a:srgbClr val="444A52"/>
                </a:solidFill>
                <a:latin typeface="Calibri"/>
              </a:rPr>
              <a:t>▸  Fos shows high Vehicle-replicate variability.</a:t>
            </a:r>
          </a:p>
          <a:p>
            <a:pPr marL="274320" indent="0">
              <a:lnSpc>
                <a:spcPct val="104000"/>
              </a:lnSpc>
              <a:spcBef>
                <a:spcPts val="0"/>
              </a:spcBef>
              <a:spcAft>
                <a:spcPts val="600"/>
              </a:spcAft>
            </a:pPr>
            <a:r>
              <a:rPr sz="1550" b="0">
                <a:solidFill>
                  <a:srgbClr val="444A52"/>
                </a:solidFill>
                <a:latin typeface="Calibri"/>
              </a:rPr>
              <a:t>–  Its trajectory error band is wide — interpreted cautiously.</a:t>
            </a:r>
          </a:p>
          <a:p>
            <a:pPr marL="0" indent="0">
              <a:lnSpc>
                <a:spcPct val="104000"/>
              </a:lnSpc>
              <a:spcBef>
                <a:spcPts val="0"/>
              </a:spcBef>
              <a:spcAft>
                <a:spcPts val="600"/>
              </a:spcAft>
            </a:pPr>
            <a:r>
              <a:rPr sz="1650" b="1">
                <a:solidFill>
                  <a:srgbClr val="444A52"/>
                </a:solidFill>
                <a:latin typeface="Calibri"/>
              </a:rPr>
              <a:t>▸  Bulk RNA-seq, not single-cell.</a:t>
            </a:r>
          </a:p>
          <a:p>
            <a:pPr marL="274320" indent="0">
              <a:lnSpc>
                <a:spcPct val="104000"/>
              </a:lnSpc>
              <a:spcBef>
                <a:spcPts val="0"/>
              </a:spcBef>
              <a:spcAft>
                <a:spcPts val="600"/>
              </a:spcAft>
            </a:pPr>
            <a:r>
              <a:rPr sz="1550" b="0">
                <a:solidFill>
                  <a:srgbClr val="444A52"/>
                </a:solidFill>
                <a:latin typeface="Calibri"/>
              </a:rPr>
              <a:t>–  Markers reflect overall expression, not cell-type proportions.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WRAP-UP</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Conclusions</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26</a:t>
            </a:r>
          </a:p>
        </p:txBody>
      </p:sp>
      <p:sp>
        <p:nvSpPr>
          <p:cNvPr id="8" name="Rectangle 7"/>
          <p:cNvSpPr/>
          <p:nvPr/>
        </p:nvSpPr>
        <p:spPr>
          <a:xfrm>
            <a:off x="822960" y="1463040"/>
            <a:ext cx="10607040" cy="20116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1645920"/>
            <a:ext cx="10058400" cy="1737360"/>
          </a:xfrm>
          <a:prstGeom prst="rect">
            <a:avLst/>
          </a:prstGeom>
          <a:noFill/>
        </p:spPr>
        <p:txBody>
          <a:bodyPr wrap="square" anchor="ctr">
            <a:spAutoFit/>
          </a:bodyPr>
          <a:lstStyle/>
          <a:p>
            <a:pPr algn="l">
              <a:lnSpc>
                <a:spcPct val="110000"/>
              </a:lnSpc>
              <a:spcBef>
                <a:spcPts val="0"/>
              </a:spcBef>
              <a:spcAft>
                <a:spcPts val="0"/>
              </a:spcAft>
            </a:pPr>
            <a:r>
              <a:rPr sz="2100" b="1" i="0">
                <a:solidFill>
                  <a:srgbClr val="FFFFFF"/>
                </a:solidFill>
                <a:latin typeface="Calibri"/>
              </a:rPr>
              <a:t>Acute Netrin-1 triggers a rapid, coordinated and TRANSIENT transcriptional program in cortical neurons — activating axon-guidance / projection while suppressing RNA processing and ribosome biogenesis — that is reversed to baseline with r = −0.99 precision within 15 minutes.</a:t>
            </a:r>
          </a:p>
        </p:txBody>
      </p:sp>
      <p:sp>
        <p:nvSpPr>
          <p:cNvPr id="10" name="TextBox 9"/>
          <p:cNvSpPr txBox="1"/>
          <p:nvPr/>
        </p:nvSpPr>
        <p:spPr>
          <a:xfrm>
            <a:off x="822960" y="3749039"/>
            <a:ext cx="10607040" cy="2560320"/>
          </a:xfrm>
          <a:prstGeom prst="rect">
            <a:avLst/>
          </a:prstGeom>
          <a:noFill/>
        </p:spPr>
        <p:txBody>
          <a:bodyPr wrap="square">
            <a:spAutoFit/>
          </a:bodyPr>
          <a:lstStyle/>
          <a:p>
            <a:pPr marL="0" indent="0">
              <a:lnSpc>
                <a:spcPct val="104000"/>
              </a:lnSpc>
              <a:spcBef>
                <a:spcPts val="0"/>
              </a:spcBef>
              <a:spcAft>
                <a:spcPts val="1100"/>
              </a:spcAft>
            </a:pPr>
            <a:r>
              <a:rPr sz="1700" b="1">
                <a:solidFill>
                  <a:srgbClr val="444A52"/>
                </a:solidFill>
                <a:latin typeface="Calibri"/>
              </a:rPr>
              <a:t>▸  First characterization of Netrin-1's minute-scale transcriptional response.</a:t>
            </a:r>
          </a:p>
          <a:p>
            <a:pPr marL="0" indent="0">
              <a:lnSpc>
                <a:spcPct val="104000"/>
              </a:lnSpc>
              <a:spcBef>
                <a:spcPts val="0"/>
              </a:spcBef>
              <a:spcAft>
                <a:spcPts val="1100"/>
              </a:spcAft>
            </a:pPr>
            <a:r>
              <a:rPr sz="1700" b="1">
                <a:solidFill>
                  <a:srgbClr val="444A52"/>
                </a:solidFill>
                <a:latin typeface="Calibri"/>
              </a:rPr>
              <a:t>▸  Transcription runs in PARALLEL with the classic post-translational mechanism.</a:t>
            </a:r>
          </a:p>
          <a:p>
            <a:pPr marL="0" indent="0">
              <a:lnSpc>
                <a:spcPct val="104000"/>
              </a:lnSpc>
              <a:spcBef>
                <a:spcPts val="0"/>
              </a:spcBef>
              <a:spcAft>
                <a:spcPts val="1100"/>
              </a:spcAft>
            </a:pPr>
            <a:r>
              <a:rPr sz="1700" b="1">
                <a:solidFill>
                  <a:srgbClr val="444A52"/>
                </a:solidFill>
                <a:latin typeface="Calibri"/>
              </a:rPr>
              <a:t>▸  Novel findings: dual-IEG suppression and ROCK1-selective regulation.</a:t>
            </a:r>
          </a:p>
          <a:p>
            <a:pPr marL="0" indent="0">
              <a:lnSpc>
                <a:spcPct val="104000"/>
              </a:lnSpc>
              <a:spcBef>
                <a:spcPts val="0"/>
              </a:spcBef>
              <a:spcAft>
                <a:spcPts val="1100"/>
              </a:spcAft>
            </a:pPr>
            <a:r>
              <a:rPr sz="1700" b="1">
                <a:solidFill>
                  <a:srgbClr val="0E5A61"/>
                </a:solidFill>
                <a:latin typeface="Calibri"/>
              </a:rPr>
              <a:t>▸  The r = −0.99 mirror defines a precisely-controlled transient — not reprogramming.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19329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46304"/>
            <a:ext cx="10058400" cy="274320"/>
          </a:xfrm>
          <a:prstGeom prst="rect">
            <a:avLst/>
          </a:prstGeom>
          <a:noFill/>
        </p:spPr>
        <p:txBody>
          <a:bodyPr wrap="square" anchor="t">
            <a:spAutoFit/>
          </a:bodyPr>
          <a:lstStyle/>
          <a:p>
            <a:pPr algn="l">
              <a:lnSpc>
                <a:spcPct val="100000"/>
              </a:lnSpc>
              <a:spcBef>
                <a:spcPts val="0"/>
              </a:spcBef>
              <a:spcAft>
                <a:spcPts val="0"/>
              </a:spcAft>
            </a:pPr>
            <a:r>
              <a:rPr sz="1200" b="1" i="0">
                <a:solidFill>
                  <a:srgbClr val="16828C"/>
                </a:solidFill>
                <a:latin typeface="Calibri"/>
              </a:rPr>
              <a:t>WRAP-UP</a:t>
            </a:r>
          </a:p>
        </p:txBody>
      </p:sp>
      <p:sp>
        <p:nvSpPr>
          <p:cNvPr id="5" name="TextBox 4"/>
          <p:cNvSpPr txBox="1"/>
          <p:nvPr/>
        </p:nvSpPr>
        <p:spPr>
          <a:xfrm>
            <a:off x="566928" y="365760"/>
            <a:ext cx="10607040" cy="640080"/>
          </a:xfrm>
          <a:prstGeom prst="rect">
            <a:avLst/>
          </a:prstGeom>
          <a:noFill/>
        </p:spPr>
        <p:txBody>
          <a:bodyPr wrap="square" anchor="t">
            <a:spAutoFit/>
          </a:bodyPr>
          <a:lstStyle/>
          <a:p>
            <a:pPr algn="l">
              <a:lnSpc>
                <a:spcPct val="100000"/>
              </a:lnSpc>
              <a:spcBef>
                <a:spcPts val="0"/>
              </a:spcBef>
              <a:spcAft>
                <a:spcPts val="0"/>
              </a:spcAft>
            </a:pPr>
            <a:r>
              <a:rPr sz="2700" b="1" i="0">
                <a:solidFill>
                  <a:srgbClr val="102A43"/>
                </a:solidFill>
                <a:latin typeface="Calibri"/>
              </a:rPr>
              <a:t>Future directions</a:t>
            </a:r>
          </a:p>
        </p:txBody>
      </p:sp>
      <p:sp>
        <p:nvSpPr>
          <p:cNvPr id="6" name="Rectangle 5"/>
          <p:cNvSpPr/>
          <p:nvPr/>
        </p:nvSpPr>
        <p:spPr>
          <a:xfrm>
            <a:off x="594360" y="969264"/>
            <a:ext cx="1005840" cy="381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37376"/>
            <a:ext cx="822960" cy="320040"/>
          </a:xfrm>
          <a:prstGeom prst="rect">
            <a:avLst/>
          </a:prstGeom>
          <a:noFill/>
        </p:spPr>
        <p:txBody>
          <a:bodyPr wrap="square" anchor="t">
            <a:spAutoFit/>
          </a:bodyPr>
          <a:lstStyle/>
          <a:p>
            <a:pPr algn="r">
              <a:lnSpc>
                <a:spcPct val="100000"/>
              </a:lnSpc>
              <a:spcBef>
                <a:spcPts val="0"/>
              </a:spcBef>
              <a:spcAft>
                <a:spcPts val="0"/>
              </a:spcAft>
            </a:pPr>
            <a:r>
              <a:rPr sz="1100" b="0" i="0">
                <a:solidFill>
                  <a:srgbClr val="6B727B"/>
                </a:solidFill>
                <a:latin typeface="Calibri"/>
              </a:rPr>
              <a:t>27</a:t>
            </a:r>
          </a:p>
        </p:txBody>
      </p:sp>
      <p:sp>
        <p:nvSpPr>
          <p:cNvPr id="8" name="TextBox 7"/>
          <p:cNvSpPr txBox="1"/>
          <p:nvPr/>
        </p:nvSpPr>
        <p:spPr>
          <a:xfrm>
            <a:off x="822960" y="1463040"/>
            <a:ext cx="10515600" cy="4754880"/>
          </a:xfrm>
          <a:prstGeom prst="rect">
            <a:avLst/>
          </a:prstGeom>
          <a:noFill/>
        </p:spPr>
        <p:txBody>
          <a:bodyPr wrap="square">
            <a:spAutoFit/>
          </a:bodyPr>
          <a:lstStyle/>
          <a:p>
            <a:pPr marL="0" indent="0">
              <a:lnSpc>
                <a:spcPct val="104000"/>
              </a:lnSpc>
              <a:spcBef>
                <a:spcPts val="0"/>
              </a:spcBef>
              <a:spcAft>
                <a:spcPts val="1400"/>
              </a:spcAft>
            </a:pPr>
            <a:r>
              <a:rPr sz="1800" b="1">
                <a:solidFill>
                  <a:srgbClr val="444A52"/>
                </a:solidFill>
                <a:latin typeface="Calibri"/>
              </a:rPr>
              <a:t>▸  Denser time course (+ proper per-timepoint controls) to map the full pulse shape.</a:t>
            </a:r>
          </a:p>
          <a:p>
            <a:pPr marL="0" indent="0">
              <a:lnSpc>
                <a:spcPct val="104000"/>
              </a:lnSpc>
              <a:spcBef>
                <a:spcPts val="0"/>
              </a:spcBef>
              <a:spcAft>
                <a:spcPts val="1400"/>
              </a:spcAft>
            </a:pPr>
            <a:r>
              <a:rPr sz="1800" b="1">
                <a:solidFill>
                  <a:srgbClr val="444A52"/>
                </a:solidFill>
                <a:latin typeface="Calibri"/>
              </a:rPr>
              <a:t>▸  Single-cell / spatial RNA-seq to localize the response to neuronal subtypes &amp; compartments.</a:t>
            </a:r>
          </a:p>
          <a:p>
            <a:pPr marL="0" indent="0">
              <a:lnSpc>
                <a:spcPct val="104000"/>
              </a:lnSpc>
              <a:spcBef>
                <a:spcPts val="0"/>
              </a:spcBef>
              <a:spcAft>
                <a:spcPts val="1400"/>
              </a:spcAft>
            </a:pPr>
            <a:r>
              <a:rPr sz="1800" b="1">
                <a:solidFill>
                  <a:srgbClr val="444A52"/>
                </a:solidFill>
                <a:latin typeface="Calibri"/>
              </a:rPr>
              <a:t>▸  Mechanism of dual-IEG suppression — what represses Fos and Npas4 acutely?</a:t>
            </a:r>
          </a:p>
          <a:p>
            <a:pPr marL="0" indent="0">
              <a:lnSpc>
                <a:spcPct val="104000"/>
              </a:lnSpc>
              <a:spcBef>
                <a:spcPts val="0"/>
              </a:spcBef>
              <a:spcAft>
                <a:spcPts val="1400"/>
              </a:spcAft>
            </a:pPr>
            <a:r>
              <a:rPr sz="1800" b="1">
                <a:solidFill>
                  <a:srgbClr val="444A52"/>
                </a:solidFill>
                <a:latin typeface="Calibri"/>
              </a:rPr>
              <a:t>▸  Link the transient transcriptional swing to local translation at the growth cone.</a:t>
            </a:r>
          </a:p>
          <a:p>
            <a:pPr marL="0" indent="0">
              <a:lnSpc>
                <a:spcPct val="104000"/>
              </a:lnSpc>
              <a:spcBef>
                <a:spcPts val="0"/>
              </a:spcBef>
              <a:spcAft>
                <a:spcPts val="1400"/>
              </a:spcAft>
            </a:pPr>
            <a:r>
              <a:rPr sz="1800" b="1">
                <a:solidFill>
                  <a:srgbClr val="444A52"/>
                </a:solidFill>
                <a:latin typeface="Calibri"/>
              </a:rPr>
              <a:t>▸  Test DCC/UNC5 dependence and ROCK1-selectivity with perturbations.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286000"/>
            <a:ext cx="2194560" cy="50800"/>
          </a:xfrm>
          <a:prstGeom prst="rect">
            <a:avLst/>
          </a:prstGeom>
          <a:solidFill>
            <a:srgbClr val="16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4672" y="2560320"/>
            <a:ext cx="10515600" cy="1097280"/>
          </a:xfrm>
          <a:prstGeom prst="rect">
            <a:avLst/>
          </a:prstGeom>
          <a:noFill/>
        </p:spPr>
        <p:txBody>
          <a:bodyPr wrap="square" anchor="t">
            <a:spAutoFit/>
          </a:bodyPr>
          <a:lstStyle/>
          <a:p>
            <a:pPr algn="l">
              <a:lnSpc>
                <a:spcPct val="100000"/>
              </a:lnSpc>
              <a:spcBef>
                <a:spcPts val="0"/>
              </a:spcBef>
              <a:spcAft>
                <a:spcPts val="0"/>
              </a:spcAft>
            </a:pPr>
            <a:r>
              <a:rPr sz="4600" b="1" i="0">
                <a:solidFill>
                  <a:srgbClr val="FFFFFF"/>
                </a:solidFill>
                <a:latin typeface="Calibri"/>
              </a:rPr>
              <a:t>Thank you</a:t>
            </a:r>
          </a:p>
        </p:txBody>
      </p:sp>
      <p:sp>
        <p:nvSpPr>
          <p:cNvPr id="5" name="TextBox 4"/>
          <p:cNvSpPr txBox="1"/>
          <p:nvPr/>
        </p:nvSpPr>
        <p:spPr>
          <a:xfrm>
            <a:off x="822960" y="3657600"/>
            <a:ext cx="10515600" cy="640080"/>
          </a:xfrm>
          <a:prstGeom prst="rect">
            <a:avLst/>
          </a:prstGeom>
          <a:noFill/>
        </p:spPr>
        <p:txBody>
          <a:bodyPr wrap="square" anchor="t">
            <a:spAutoFit/>
          </a:bodyPr>
          <a:lstStyle/>
          <a:p>
            <a:pPr algn="l">
              <a:lnSpc>
                <a:spcPct val="100000"/>
              </a:lnSpc>
              <a:spcBef>
                <a:spcPts val="0"/>
              </a:spcBef>
              <a:spcAft>
                <a:spcPts val="0"/>
              </a:spcAft>
            </a:pPr>
            <a:r>
              <a:rPr sz="2000" b="0" i="1">
                <a:solidFill>
                  <a:srgbClr val="8FC7CB"/>
                </a:solidFill>
                <a:latin typeface="Calibri"/>
              </a:rPr>
              <a:t>Questions &amp; discussion welcome</a:t>
            </a:r>
          </a:p>
        </p:txBody>
      </p:sp>
      <p:sp>
        <p:nvSpPr>
          <p:cNvPr id="6" name="TextBox 5"/>
          <p:cNvSpPr txBox="1"/>
          <p:nvPr/>
        </p:nvSpPr>
        <p:spPr>
          <a:xfrm>
            <a:off x="822960" y="4754880"/>
            <a:ext cx="10515600" cy="1463040"/>
          </a:xfrm>
          <a:prstGeom prst="rect">
            <a:avLst/>
          </a:prstGeom>
          <a:noFill/>
        </p:spPr>
        <p:txBody>
          <a:bodyPr wrap="square" anchor="t">
            <a:spAutoFit/>
          </a:bodyPr>
          <a:lstStyle/>
          <a:p>
            <a:pPr algn="l">
              <a:lnSpc>
                <a:spcPct val="108000"/>
              </a:lnSpc>
              <a:spcBef>
                <a:spcPts val="0"/>
              </a:spcBef>
              <a:spcAft>
                <a:spcPts val="800"/>
              </a:spcAft>
            </a:pPr>
            <a:r>
              <a:rPr sz="1500" b="1" i="0">
                <a:solidFill>
                  <a:srgbClr val="9AA6B0"/>
                </a:solidFill>
                <a:latin typeface="Calibri"/>
              </a:rPr>
              <a:t>One sentence to remember:</a:t>
            </a:r>
          </a:p>
          <a:p>
            <a:pPr algn="l">
              <a:lnSpc>
                <a:spcPct val="108000"/>
              </a:lnSpc>
              <a:spcBef>
                <a:spcPts val="0"/>
              </a:spcBef>
              <a:spcAft>
                <a:spcPts val="800"/>
              </a:spcAft>
            </a:pPr>
            <a:r>
              <a:rPr sz="1800" b="0" i="1">
                <a:solidFill>
                  <a:srgbClr val="FFFFFF"/>
                </a:solidFill>
                <a:latin typeface="Calibri"/>
              </a:rPr>
              <a:t>A 5-minute Netrin-1 pulse switches a coordinated transcriptional program ON — then OFF again by 15 minutes, with r = −0.99 precision.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5509</Words>
  <Application>Microsoft Office PowerPoint</Application>
  <PresentationFormat>Widescreen</PresentationFormat>
  <Paragraphs>419</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Xinyu Miao</cp:lastModifiedBy>
  <cp:revision>2</cp:revision>
  <dcterms:created xsi:type="dcterms:W3CDTF">2013-01-27T09:14:16Z</dcterms:created>
  <dcterms:modified xsi:type="dcterms:W3CDTF">2026-06-16T15:10:31Z</dcterms:modified>
  <cp:category/>
</cp:coreProperties>
</file>