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numbers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DB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Netrin-1 RNA-seq · rat E18 cortical mixed culture · 3 conditions × 3 replicates · all values verified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983480"/>
          </a:xfrm>
          <a:prstGeom prst="roundRect">
            <a:avLst>
              <a:gd name="adj" fmla="val 2025"/>
            </a:avLst>
          </a:prstGeom>
          <a:solidFill>
            <a:srgbClr val="243842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2E5F5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3611880" cy="283464"/>
          </a:xfrm>
          <a:prstGeom prst="rect">
            <a:avLst/>
          </a:prstGeom>
          <a:solidFill>
            <a:srgbClr val="2E5F5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8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32,623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41248" y="2715768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B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quantified (Salmon)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45536"/>
            <a:ext cx="3063240" cy="0"/>
          </a:xfrm>
          <a:prstGeom prst="line">
            <a:avLst/>
          </a:prstGeom>
          <a:noFill/>
          <a:ln w="12700">
            <a:solidFill>
              <a:srgbClr val="3A4D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644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8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14,148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1248" y="3721608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B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after low-count filter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151376"/>
            <a:ext cx="3063240" cy="0"/>
          </a:xfrm>
          <a:prstGeom prst="line">
            <a:avLst/>
          </a:prstGeom>
          <a:noFill/>
          <a:ln w="12700">
            <a:solidFill>
              <a:srgbClr val="3A4D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70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8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" y="4727448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B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(3 cond × 3 rep)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57216"/>
            <a:ext cx="3063240" cy="0"/>
          </a:xfrm>
          <a:prstGeom prst="line">
            <a:avLst/>
          </a:prstGeom>
          <a:noFill/>
          <a:ln w="12700">
            <a:solidFill>
              <a:srgbClr val="3A4D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760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8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12,107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" y="5733288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B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ranked for GSEA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07408" y="1417320"/>
            <a:ext cx="3611880" cy="4983480"/>
          </a:xfrm>
          <a:prstGeom prst="roundRect">
            <a:avLst>
              <a:gd name="adj" fmla="val 2025"/>
            </a:avLst>
          </a:prstGeom>
          <a:solidFill>
            <a:srgbClr val="243842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07408" y="141732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2E5F58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1700784"/>
            <a:ext cx="3611880" cy="283464"/>
          </a:xfrm>
          <a:prstGeom prst="rect">
            <a:avLst/>
          </a:prstGeom>
          <a:solidFill>
            <a:srgbClr val="2E5F58"/>
          </a:solidFill>
          <a:ln/>
        </p:spPr>
      </p:sp>
      <p:sp>
        <p:nvSpPr>
          <p:cNvPr id="22" name="Text 20"/>
          <p:cNvSpPr/>
          <p:nvPr/>
        </p:nvSpPr>
        <p:spPr>
          <a:xfrm>
            <a:off x="4453128" y="14173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expression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0288" y="22037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DB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= padj&lt;0.05 &amp; |log2FC|&gt;0.585    ·    RELAXED = padj&lt;0.05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706624"/>
          <a:ext cx="328269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68680"/>
                <a:gridCol w="87782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F0F1"/>
                          </a:solidFill>
                        </a:rPr>
                        <a:t>Contrast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F0F1"/>
                          </a:solidFill>
                        </a:rPr>
                        <a:t>STRICT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F0F1"/>
                          </a:solidFill>
                        </a:rPr>
                        <a:t>RELAXED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5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0F1"/>
                          </a:solidFill>
                        </a:rPr>
                        <a:t>C1  Netrin vs DIV2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88040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DB1B5"/>
                          </a:solidFill>
                        </a:rPr>
                        <a:t>66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9DB1B5"/>
                          </a:solidFill>
                        </a:rPr>
                        <a:t>    up / down</a:t>
                      </a:r>
                      <a:endParaRPr lang="en-US" sz="9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DB1B5"/>
                          </a:solidFill>
                        </a:rPr>
                        <a:t>7 / 18</a:t>
                      </a:r>
                      <a:endParaRPr lang="en-US" sz="10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DB1B5"/>
                          </a:solidFill>
                        </a:rPr>
                        <a:t>10 / 56</a:t>
                      </a:r>
                      <a:endParaRPr lang="en-US" sz="10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0F1"/>
                          </a:solidFill>
                        </a:rPr>
                        <a:t>C2  DIV2 vs DIV1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88040"/>
                          </a:solidFill>
                        </a:rPr>
                        <a:t>1,495</a:t>
                      </a:r>
                      <a:endParaRPr lang="en-US" sz="13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DB1B5"/>
                          </a:solidFill>
                        </a:rPr>
                        <a:t>4,636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9DB1B5"/>
                          </a:solidFill>
                        </a:rPr>
                        <a:t>    up / down</a:t>
                      </a:r>
                      <a:endParaRPr lang="en-US" sz="9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DB1B5"/>
                          </a:solidFill>
                        </a:rPr>
                        <a:t>1098 / 397</a:t>
                      </a:r>
                      <a:endParaRPr lang="en-US" sz="10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DB1B5"/>
                          </a:solidFill>
                        </a:rPr>
                        <a:t>2603 / 2033</a:t>
                      </a:r>
                      <a:endParaRPr lang="en-US" sz="10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90288" y="43982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1"/>
                </a:solidFill>
              </a:rPr>
              <a:t>C2 ≈ 60× C1 </a:t>
            </a:r>
            <a:pPr algn="ctr" indent="0" marL="0">
              <a:buNone/>
            </a:pPr>
            <a:r>
              <a:rPr lang="en-US" sz="1150" dirty="0">
                <a:solidFill>
                  <a:srgbClr val="9DB1B5"/>
                </a:solidFill>
              </a:rPr>
              <a:t>→ development ≫ treatment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66176" y="1417320"/>
            <a:ext cx="3611880" cy="4983480"/>
          </a:xfrm>
          <a:prstGeom prst="roundRect">
            <a:avLst>
              <a:gd name="adj" fmla="val 2025"/>
            </a:avLst>
          </a:prstGeom>
          <a:solidFill>
            <a:srgbClr val="243842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266176" y="141732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2E5F58"/>
          </a:solidFill>
          <a:ln/>
        </p:spPr>
      </p:sp>
      <p:sp>
        <p:nvSpPr>
          <p:cNvPr id="28" name="Shape 25"/>
          <p:cNvSpPr/>
          <p:nvPr/>
        </p:nvSpPr>
        <p:spPr>
          <a:xfrm>
            <a:off x="8266176" y="1700784"/>
            <a:ext cx="3611880" cy="283464"/>
          </a:xfrm>
          <a:prstGeom prst="rect">
            <a:avLst/>
          </a:prstGeom>
          <a:solidFill>
            <a:srgbClr val="2E5F58"/>
          </a:solidFill>
          <a:ln/>
        </p:spPr>
      </p:sp>
      <p:sp>
        <p:nvSpPr>
          <p:cNvPr id="29" name="Text 26"/>
          <p:cNvSpPr/>
          <p:nvPr/>
        </p:nvSpPr>
        <p:spPr>
          <a:xfrm>
            <a:off x="8311896" y="14173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GSEA (FDR &lt; 0.05)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449056" y="22037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DB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terms  (activated / suppressed)</a:t>
            </a:r>
            <a:endParaRPr lang="en-US" sz="10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30768" y="2660904"/>
          <a:ext cx="328269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60120"/>
                <a:gridCol w="96926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F0F1"/>
                          </a:solidFill>
                        </a:rPr>
                        <a:t>GO BP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F0F1"/>
                          </a:solidFill>
                        </a:rPr>
                        <a:t>KEGG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5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0F1"/>
                          </a:solidFill>
                        </a:rPr>
                        <a:t>Contrast 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88040"/>
                          </a:solidFill>
                        </a:rPr>
                        <a:t>481</a:t>
                      </a:r>
                      <a:endParaRPr lang="en-US" sz="14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88040"/>
                          </a:solidFill>
                        </a:rPr>
                        <a:t>42</a:t>
                      </a:r>
                      <a:endParaRPr lang="en-US" sz="14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9DB1B5"/>
                          </a:solidFill>
                        </a:rPr>
                        <a:t>  act / supp</a:t>
                      </a:r>
                      <a:endParaRPr lang="en-US" sz="9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DB1B5"/>
                          </a:solidFill>
                        </a:rPr>
                        <a:t>255 / 226</a:t>
                      </a:r>
                      <a:endParaRPr lang="en-US" sz="10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DB1B5"/>
                          </a:solidFill>
                        </a:rPr>
                        <a:t>20 / 22</a:t>
                      </a:r>
                      <a:endParaRPr lang="en-US" sz="10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0F1"/>
                          </a:solidFill>
                        </a:rPr>
                        <a:t>Contrast 2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88040"/>
                          </a:solidFill>
                        </a:rPr>
                        <a:t>534</a:t>
                      </a:r>
                      <a:endParaRPr lang="en-US" sz="14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88040"/>
                          </a:solidFill>
                        </a:rPr>
                        <a:t>99</a:t>
                      </a:r>
                      <a:endParaRPr lang="en-US" sz="14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9DB1B5"/>
                          </a:solidFill>
                        </a:rPr>
                        <a:t>  act / supp</a:t>
                      </a:r>
                      <a:endParaRPr lang="en-US" sz="9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DB1B5"/>
                          </a:solidFill>
                        </a:rPr>
                        <a:t>410 / 124</a:t>
                      </a:r>
                      <a:endParaRPr lang="en-US" sz="10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DB1B5"/>
                          </a:solidFill>
                        </a:rPr>
                        <a:t>89 / 10</a:t>
                      </a:r>
                      <a:endParaRPr lang="en-US" sz="10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42"/>
                    </a:solidFill>
                  </a:tcPr>
                </a:tc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8430768" y="4443984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0F1"/>
                </a:solidFill>
              </a:rPr>
              <a:t>C1 ~1:1 </a:t>
            </a:r>
            <a:pPr algn="ctr" indent="0" marL="0">
              <a:buNone/>
            </a:pPr>
            <a:r>
              <a:rPr lang="en-US" sz="1100" dirty="0">
                <a:solidFill>
                  <a:srgbClr val="9DB1B5"/>
                </a:solidFill>
              </a:rPr>
              <a:t>bidirectional   ·   </a:t>
            </a:r>
            <a:pPr algn="ctr" indent="0" marL="0">
              <a:buNone/>
            </a:pPr>
            <a:r>
              <a:rPr lang="en-US" sz="1200" b="1" dirty="0">
                <a:solidFill>
                  <a:srgbClr val="EAF0F1"/>
                </a:solidFill>
              </a:rPr>
              <a:t>C2 </a:t>
            </a:r>
            <a:pPr algn="ctr" indent="0" marL="0">
              <a:buNone/>
            </a:pPr>
            <a:r>
              <a:rPr lang="en-US" sz="1100" dirty="0">
                <a:solidFill>
                  <a:srgbClr val="9DB1B5"/>
                </a:solidFill>
              </a:rPr>
              <a:t>activation-skewed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DB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STRICT/RELAXED: DESeq2 ~batch+condition, BH FDR.  GSEA: Wald-stat ranked, clusterProfiler, cross-validated with fgseaMultilevel.  Mixed culture (no AraC).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2026-06-18T03:15:48Z</dcterms:created>
  <dcterms:modified xsi:type="dcterms:W3CDTF">2026-06-18T03:15:48Z</dcterms:modified>
</cp:coreProperties>
</file>