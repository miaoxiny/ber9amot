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35bef6accb4cf6" /><Relationship Type="http://schemas.openxmlformats.org/officeDocument/2006/relationships/extended-properties" Target="/docProps/app.xml" Id="Rc0e0dd82d5d240b7" /><Relationship Type="http://schemas.openxmlformats.org/officeDocument/2006/relationships/officeDocument" Target="/ppt/presentation.xml" Id="Rc6b890c682aa4e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0e00edd1ac4807"/>
  </p:sldMasterIdLst>
  <p:notesMasterIdLst>
    <p:notesMasterId xmlns:r="http://schemas.openxmlformats.org/officeDocument/2006/relationships" r:id="Ra1915ebb8d444ae2"/>
  </p:notesMasterIdLst>
  <p:sldIdLst>
    <p:sldId xmlns:r="http://schemas.openxmlformats.org/officeDocument/2006/relationships" id="256" r:id="R51b590d8cd4e4d49"/>
    <p:sldId xmlns:r="http://schemas.openxmlformats.org/officeDocument/2006/relationships" id="257" r:id="Rd521eab42d534724"/>
    <p:sldId xmlns:r="http://schemas.openxmlformats.org/officeDocument/2006/relationships" id="258" r:id="R6de2e60590ab44f5"/>
    <p:sldId xmlns:r="http://schemas.openxmlformats.org/officeDocument/2006/relationships" id="259" r:id="R922ecec116034fdd"/>
    <p:sldId xmlns:r="http://schemas.openxmlformats.org/officeDocument/2006/relationships" id="260" r:id="R78a71f22eb834ea1"/>
    <p:sldId xmlns:r="http://schemas.openxmlformats.org/officeDocument/2006/relationships" id="261" r:id="Rf85b61e536b14d55"/>
    <p:sldId xmlns:r="http://schemas.openxmlformats.org/officeDocument/2006/relationships" id="262" r:id="R6e89f7a89d724949"/>
    <p:sldId xmlns:r="http://schemas.openxmlformats.org/officeDocument/2006/relationships" id="263" r:id="R59383e1f35f94617"/>
    <p:sldId xmlns:r="http://schemas.openxmlformats.org/officeDocument/2006/relationships" id="264" r:id="R373f4e6955104b50"/>
    <p:sldId xmlns:r="http://schemas.openxmlformats.org/officeDocument/2006/relationships" id="265" r:id="R2b9b05bcc1fc4305"/>
    <p:sldId xmlns:r="http://schemas.openxmlformats.org/officeDocument/2006/relationships" id="266" r:id="Rcf9743dde64e4da1"/>
    <p:sldId xmlns:r="http://schemas.openxmlformats.org/officeDocument/2006/relationships" id="267" r:id="R28bb9af98df44f67"/>
    <p:sldId xmlns:r="http://schemas.openxmlformats.org/officeDocument/2006/relationships" id="268" r:id="R71718d7913a54f4a"/>
    <p:sldId xmlns:r="http://schemas.openxmlformats.org/officeDocument/2006/relationships" id="269" r:id="R4f63462d04ac4f6c"/>
    <p:sldId xmlns:r="http://schemas.openxmlformats.org/officeDocument/2006/relationships" id="270" r:id="R43347743e61c43c0"/>
    <p:sldId xmlns:r="http://schemas.openxmlformats.org/officeDocument/2006/relationships" id="271" r:id="Rc0956009de16403b"/>
    <p:sldId xmlns:r="http://schemas.openxmlformats.org/officeDocument/2006/relationships" id="272" r:id="R96f813c2eb6a44f7"/>
    <p:sldId xmlns:r="http://schemas.openxmlformats.org/officeDocument/2006/relationships" id="273" r:id="R35e4d730b16b4baa"/>
    <p:sldId xmlns:r="http://schemas.openxmlformats.org/officeDocument/2006/relationships" id="274" r:id="R7035bbf2f6364c07"/>
    <p:sldId xmlns:r="http://schemas.openxmlformats.org/officeDocument/2006/relationships" id="275" r:id="Reb67d2cb51f648e0"/>
    <p:sldId xmlns:r="http://schemas.openxmlformats.org/officeDocument/2006/relationships" id="276" r:id="R236ac1cadd794c8c"/>
    <p:sldId xmlns:r="http://schemas.openxmlformats.org/officeDocument/2006/relationships" id="277" r:id="Rdafb1e876da545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1c7c13d6f844c2" /><Relationship Type="http://schemas.openxmlformats.org/officeDocument/2006/relationships/slideMaster" Target="/ppt/slideMasters/slideMaster1.xml" Id="Rfc0e00edd1ac4807" /><Relationship Type="http://schemas.openxmlformats.org/officeDocument/2006/relationships/notesMaster" Target="/ppt/notesMasters/notesMaster1.xml" Id="Ra1915ebb8d444ae2" /><Relationship Type="http://schemas.openxmlformats.org/officeDocument/2006/relationships/presProps" Target="/ppt/presProps.xml" Id="Rfa510483c30b49c8" /><Relationship Type="http://schemas.openxmlformats.org/officeDocument/2006/relationships/viewProps" Target="/ppt/viewProps.xml" Id="Rab7659448441445a" /><Relationship Type="http://schemas.openxmlformats.org/officeDocument/2006/relationships/tableStyles" Target="/ppt/tableStyles.xml" Id="Rcce520d2960a4d30" /><Relationship Type="http://schemas.openxmlformats.org/officeDocument/2006/relationships/slide" Target="/ppt/slides/slide1.xml" Id="R51b590d8cd4e4d49" /><Relationship Type="http://schemas.openxmlformats.org/officeDocument/2006/relationships/slide" Target="/ppt/slides/slide2.xml" Id="Rd521eab42d534724" /><Relationship Type="http://schemas.openxmlformats.org/officeDocument/2006/relationships/slide" Target="/ppt/slides/slide3.xml" Id="R6de2e60590ab44f5" /><Relationship Type="http://schemas.openxmlformats.org/officeDocument/2006/relationships/slide" Target="/ppt/slides/slide4.xml" Id="R922ecec116034fdd" /><Relationship Type="http://schemas.openxmlformats.org/officeDocument/2006/relationships/slide" Target="/ppt/slides/slide5.xml" Id="R78a71f22eb834ea1" /><Relationship Type="http://schemas.openxmlformats.org/officeDocument/2006/relationships/slide" Target="/ppt/slides/slide6.xml" Id="Rf85b61e536b14d55" /><Relationship Type="http://schemas.openxmlformats.org/officeDocument/2006/relationships/slide" Target="/ppt/slides/slide7.xml" Id="R6e89f7a89d724949" /><Relationship Type="http://schemas.openxmlformats.org/officeDocument/2006/relationships/slide" Target="/ppt/slides/slide8.xml" Id="R59383e1f35f94617" /><Relationship Type="http://schemas.openxmlformats.org/officeDocument/2006/relationships/slide" Target="/ppt/slides/slide9.xml" Id="R373f4e6955104b50" /><Relationship Type="http://schemas.openxmlformats.org/officeDocument/2006/relationships/slide" Target="/ppt/slides/slide10.xml" Id="R2b9b05bcc1fc4305" /><Relationship Type="http://schemas.openxmlformats.org/officeDocument/2006/relationships/slide" Target="/ppt/slides/slide11.xml" Id="Rcf9743dde64e4da1" /><Relationship Type="http://schemas.openxmlformats.org/officeDocument/2006/relationships/slide" Target="/ppt/slides/slide12.xml" Id="R28bb9af98df44f67" /><Relationship Type="http://schemas.openxmlformats.org/officeDocument/2006/relationships/slide" Target="/ppt/slides/slide13.xml" Id="R71718d7913a54f4a" /><Relationship Type="http://schemas.openxmlformats.org/officeDocument/2006/relationships/slide" Target="/ppt/slides/slide14.xml" Id="R4f63462d04ac4f6c" /><Relationship Type="http://schemas.openxmlformats.org/officeDocument/2006/relationships/slide" Target="/ppt/slides/slide15.xml" Id="R43347743e61c43c0" /><Relationship Type="http://schemas.openxmlformats.org/officeDocument/2006/relationships/slide" Target="/ppt/slides/slide16.xml" Id="Rc0956009de16403b" /><Relationship Type="http://schemas.openxmlformats.org/officeDocument/2006/relationships/slide" Target="/ppt/slides/slide17.xml" Id="R96f813c2eb6a44f7" /><Relationship Type="http://schemas.openxmlformats.org/officeDocument/2006/relationships/slide" Target="/ppt/slides/slide18.xml" Id="R35e4d730b16b4baa" /><Relationship Type="http://schemas.openxmlformats.org/officeDocument/2006/relationships/slide" Target="/ppt/slides/slide19.xml" Id="R7035bbf2f6364c07" /><Relationship Type="http://schemas.openxmlformats.org/officeDocument/2006/relationships/slide" Target="/ppt/slides/slide20.xml" Id="Reb67d2cb51f648e0" /><Relationship Type="http://schemas.openxmlformats.org/officeDocument/2006/relationships/slide" Target="/ppt/slides/slide21.xml" Id="R236ac1cadd794c8c" /><Relationship Type="http://schemas.openxmlformats.org/officeDocument/2006/relationships/slide" Target="/ppt/slides/slide22.xml" Id="Rdafb1e876da545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9f5135020b4c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4fec9017084f10" /><Relationship Type="http://schemas.openxmlformats.org/officeDocument/2006/relationships/notesMaster" Target="/ppt/notesMasters/notesMaster1.xml" Id="R0a27878850db4c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a34b3e2a2f4930" /><Relationship Type="http://schemas.openxmlformats.org/officeDocument/2006/relationships/notesMaster" Target="/ppt/notesMasters/notesMaster1.xml" Id="R526cf4894de543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73af8837314cba" /><Relationship Type="http://schemas.openxmlformats.org/officeDocument/2006/relationships/notesMaster" Target="/ppt/notesMasters/notesMaster1.xml" Id="R3b5ab20115d747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957189ccb24e29" /><Relationship Type="http://schemas.openxmlformats.org/officeDocument/2006/relationships/notesMaster" Target="/ppt/notesMasters/notesMaster1.xml" Id="Rad617fb6df5548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2e72fa02104a2c" /><Relationship Type="http://schemas.openxmlformats.org/officeDocument/2006/relationships/notesMaster" Target="/ppt/notesMasters/notesMaster1.xml" Id="Ra8c4613f5e4647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8e8b8aaccd4dba" /><Relationship Type="http://schemas.openxmlformats.org/officeDocument/2006/relationships/notesMaster" Target="/ppt/notesMasters/notesMaster1.xml" Id="R1365ea2081a84c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57378b9f334b77" /><Relationship Type="http://schemas.openxmlformats.org/officeDocument/2006/relationships/notesMaster" Target="/ppt/notesMasters/notesMaster1.xml" Id="Rb1672c42d1424b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6e401a5ecd4aab" /><Relationship Type="http://schemas.openxmlformats.org/officeDocument/2006/relationships/notesMaster" Target="/ppt/notesMasters/notesMaster1.xml" Id="Rcd309fa5dce445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a136a030bc4b44" /><Relationship Type="http://schemas.openxmlformats.org/officeDocument/2006/relationships/notesMaster" Target="/ppt/notesMasters/notesMaster1.xml" Id="R8c7128185d0f49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a733d2cd7f46c9" /><Relationship Type="http://schemas.openxmlformats.org/officeDocument/2006/relationships/notesMaster" Target="/ppt/notesMasters/notesMaster1.xml" Id="R4067522c598342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a4589f6b5e4150" /><Relationship Type="http://schemas.openxmlformats.org/officeDocument/2006/relationships/notesMaster" Target="/ppt/notesMasters/notesMaster1.xml" Id="R03aa9327c6c740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6d0ef178ea4153" /><Relationship Type="http://schemas.openxmlformats.org/officeDocument/2006/relationships/notesMaster" Target="/ppt/notesMasters/notesMaster1.xml" Id="R31b6407c894146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7e3513fcc240c3" /><Relationship Type="http://schemas.openxmlformats.org/officeDocument/2006/relationships/notesMaster" Target="/ppt/notesMasters/notesMaster1.xml" Id="R64ff5522022641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6e43a0adb442a1" /><Relationship Type="http://schemas.openxmlformats.org/officeDocument/2006/relationships/notesMaster" Target="/ppt/notesMasters/notesMaster1.xml" Id="Ra42394ca390647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e4eae0548349b1" /><Relationship Type="http://schemas.openxmlformats.org/officeDocument/2006/relationships/notesMaster" Target="/ppt/notesMasters/notesMaster1.xml" Id="R74bbfbab452240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e56d38a40441f4" /><Relationship Type="http://schemas.openxmlformats.org/officeDocument/2006/relationships/notesMaster" Target="/ppt/notesMasters/notesMaster1.xml" Id="R65adc718aa734d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6991de8ce24efa" /><Relationship Type="http://schemas.openxmlformats.org/officeDocument/2006/relationships/notesMaster" Target="/ppt/notesMasters/notesMaster1.xml" Id="Ra95969e85a8340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937a30681043b0" /><Relationship Type="http://schemas.openxmlformats.org/officeDocument/2006/relationships/notesMaster" Target="/ppt/notesMasters/notesMaster1.xml" Id="Rbf2a0a8585f246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4559f994ca4fca" /><Relationship Type="http://schemas.openxmlformats.org/officeDocument/2006/relationships/notesMaster" Target="/ppt/notesMasters/notesMaster1.xml" Id="R0736ce3568d64a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5fabcec67b47a6" /><Relationship Type="http://schemas.openxmlformats.org/officeDocument/2006/relationships/notesMaster" Target="/ppt/notesMasters/notesMaster1.xml" Id="Rfa9c341260ff45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1d3ed07d8ea4aaa" /><Relationship Type="http://schemas.openxmlformats.org/officeDocument/2006/relationships/notesMaster" Target="/ppt/notesMasters/notesMaster1.xml" Id="R19a76c6db94043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94894ea1a554cc5" /><Relationship Type="http://schemas.openxmlformats.org/officeDocument/2006/relationships/notesMaster" Target="/ppt/notesMasters/notesMaster1.xml" Id="Rd03d000a8b8a44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a396943a146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a6ef87137f4218" /><Relationship Type="http://schemas.openxmlformats.org/officeDocument/2006/relationships/slideLayout" Target="/ppt/slideLayouts/slideLayout1.xml" Id="Rabeef71252644e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eef71252644e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e712874704b09" /><Relationship Type="http://schemas.openxmlformats.org/officeDocument/2006/relationships/notesSlide" Target="/ppt/notesSlides/notesSlide1.xml" Id="R0becd286dca347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e7b47dca74123" /><Relationship Type="http://schemas.openxmlformats.org/officeDocument/2006/relationships/notesSlide" Target="/ppt/notesSlides/notesSlide2.xml" Id="R1c3c2a857f3f49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fa8b581504df1" /><Relationship Type="http://schemas.openxmlformats.org/officeDocument/2006/relationships/notesSlide" Target="/ppt/notesSlides/notesSlide3.xml" Id="R74bbbfc57b334c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0793411e64422" /><Relationship Type="http://schemas.openxmlformats.org/officeDocument/2006/relationships/notesSlide" Target="/ppt/notesSlides/notesSlide4.xml" Id="R6b5187b818af45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dd80e66674d22" /><Relationship Type="http://schemas.openxmlformats.org/officeDocument/2006/relationships/image" Target="/ppt/media/image.png" Id="Rcc444fab9a604930" /><Relationship Type="http://schemas.openxmlformats.org/officeDocument/2006/relationships/notesSlide" Target="/ppt/notesSlides/notesSlide5.xml" Id="Rb491929a03244f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a5ba8fd66490c" /><Relationship Type="http://schemas.openxmlformats.org/officeDocument/2006/relationships/image" Target="/ppt/media/image2.png" Id="Rd24e845671984590" /><Relationship Type="http://schemas.openxmlformats.org/officeDocument/2006/relationships/notesSlide" Target="/ppt/notesSlides/notesSlide6.xml" Id="Rf869556f2e994f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2a943e9f74b20" /><Relationship Type="http://schemas.openxmlformats.org/officeDocument/2006/relationships/image" Target="/ppt/media/image3.png" Id="Rf172aa874c84441f" /><Relationship Type="http://schemas.openxmlformats.org/officeDocument/2006/relationships/notesSlide" Target="/ppt/notesSlides/notesSlide7.xml" Id="Rd39338407bad42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56e9481d74db5" /><Relationship Type="http://schemas.openxmlformats.org/officeDocument/2006/relationships/image" Target="/ppt/media/image4.png" Id="Reb378be025db4c5f" /><Relationship Type="http://schemas.openxmlformats.org/officeDocument/2006/relationships/image" Target="/ppt/media/image5.png" Id="R0f39c26278be4cc9" /><Relationship Type="http://schemas.openxmlformats.org/officeDocument/2006/relationships/notesSlide" Target="/ppt/notesSlides/notesSlide8.xml" Id="R080ab000707746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0b5a735af40a6" /><Relationship Type="http://schemas.openxmlformats.org/officeDocument/2006/relationships/image" Target="/ppt/media/image6.png" Id="Rfb52c937f78041e8" /><Relationship Type="http://schemas.openxmlformats.org/officeDocument/2006/relationships/notesSlide" Target="/ppt/notesSlides/notesSlide9.xml" Id="Rffeb81463f9344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67adc5e4c4ca5" /><Relationship Type="http://schemas.openxmlformats.org/officeDocument/2006/relationships/image" Target="/ppt/media/image7.png" Id="R48e96b57c99d4f95" /><Relationship Type="http://schemas.openxmlformats.org/officeDocument/2006/relationships/image" Target="/ppt/media/image8.png" Id="R2622000a47c44a0a" /><Relationship Type="http://schemas.openxmlformats.org/officeDocument/2006/relationships/notesSlide" Target="/ppt/notesSlides/notesSlide10.xml" Id="R24d4ffe1573c45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5f1dbf7364a79" /><Relationship Type="http://schemas.openxmlformats.org/officeDocument/2006/relationships/notesSlide" Target="/ppt/notesSlides/notesSlide11.xml" Id="R64c514ad6ad640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c5ca221fc47d1" /><Relationship Type="http://schemas.openxmlformats.org/officeDocument/2006/relationships/image" Target="/ppt/media/image9.png" Id="R5a746b9f16804794" /><Relationship Type="http://schemas.openxmlformats.org/officeDocument/2006/relationships/notesSlide" Target="/ppt/notesSlides/notesSlide12.xml" Id="R9c73a1cb057544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7bd7cba3e42d7" /><Relationship Type="http://schemas.openxmlformats.org/officeDocument/2006/relationships/image" Target="/ppt/media/image10.png" Id="R295332228b244d0c" /><Relationship Type="http://schemas.openxmlformats.org/officeDocument/2006/relationships/image" Target="/ppt/media/image11.png" Id="R586227c3c77a4fb5" /><Relationship Type="http://schemas.openxmlformats.org/officeDocument/2006/relationships/notesSlide" Target="/ppt/notesSlides/notesSlide13.xml" Id="Re8afa919884d47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61564399c4767" /><Relationship Type="http://schemas.openxmlformats.org/officeDocument/2006/relationships/image" Target="/ppt/media/image12.png" Id="Rb07ed443f1c843e9" /><Relationship Type="http://schemas.openxmlformats.org/officeDocument/2006/relationships/notesSlide" Target="/ppt/notesSlides/notesSlide14.xml" Id="Rf3138fabdb9e41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d46fe1c214ab3" /><Relationship Type="http://schemas.openxmlformats.org/officeDocument/2006/relationships/image" Target="/ppt/media/image13.png" Id="R5b63183ae42b4df0" /><Relationship Type="http://schemas.openxmlformats.org/officeDocument/2006/relationships/notesSlide" Target="/ppt/notesSlides/notesSlide15.xml" Id="R3e01036a711b4d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cb3a47f1748f4" /><Relationship Type="http://schemas.openxmlformats.org/officeDocument/2006/relationships/image" Target="/ppt/media/image14.png" Id="R681d86f638d74e6a" /><Relationship Type="http://schemas.openxmlformats.org/officeDocument/2006/relationships/image" Target="/ppt/media/image15.png" Id="R04c759517292406c" /><Relationship Type="http://schemas.openxmlformats.org/officeDocument/2006/relationships/notesSlide" Target="/ppt/notesSlides/notesSlide16.xml" Id="R33ebd9e3d28847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a71d0f1714004" /><Relationship Type="http://schemas.openxmlformats.org/officeDocument/2006/relationships/notesSlide" Target="/ppt/notesSlides/notesSlide17.xml" Id="Ra102a57d13224e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bbfb591f4497e" /><Relationship Type="http://schemas.openxmlformats.org/officeDocument/2006/relationships/notesSlide" Target="/ppt/notesSlides/notesSlide18.xml" Id="R3b2cb85499c044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3f856febb4531" /><Relationship Type="http://schemas.openxmlformats.org/officeDocument/2006/relationships/notesSlide" Target="/ppt/notesSlides/notesSlide19.xml" Id="R4285f6254cd44f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834a5663747c8" /><Relationship Type="http://schemas.openxmlformats.org/officeDocument/2006/relationships/notesSlide" Target="/ppt/notesSlides/notesSlide20.xml" Id="R21d208d49faa49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c60e3c5974163" /><Relationship Type="http://schemas.openxmlformats.org/officeDocument/2006/relationships/notesSlide" Target="/ppt/notesSlides/notesSlide21.xml" Id="R3b8ed40b5a6e439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574827923405e" /><Relationship Type="http://schemas.openxmlformats.org/officeDocument/2006/relationships/notesSlide" Target="/ppt/notesSlides/notesSlide22.xml" Id="R634efc95f84f48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02C622-9E52-4532-8A95-1B2CAAA8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23C84-2D69-4BA5-9926-FF961E9B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0">
            <a:solidFill>
              <a:srgbClr val="F1EC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9E622-7DC8-4C87-8471-B145FAB5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Transcriptomic response to Netrin-1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ADE1F-5EB2-415B-88EF-E7BE97B5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7810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550">
                <a:solidFill>
                  <a:srgbClr val="DDE8DF"/>
                </a:solidFill>
                <a:latin typeface="Aptos Display"/>
                <a:ea typeface="Aptos Display"/>
                <a:cs typeface="Aptos Display"/>
              </a:rPr>
              <a:t>in primary rat cortical neurons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353D4-8DB1-4053-B8BA-61CC67AF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723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50" b="1">
                <a:solidFill>
                  <a:srgbClr val="1B1D22"/>
                </a:solidFill>
                <a:latin typeface="Aptos"/>
                <a:ea typeface="Aptos"/>
                <a:cs typeface="Aptos"/>
              </a:rPr>
              <a:t>Bulk RNA-seq across DIV1, DIV2 and DIV2 + Netrin-1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92AA8-9850-416A-98E8-3D840A13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8382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>
                <a:solidFill>
                  <a:srgbClr val="5B6068"/>
                </a:solidFill>
                <a:latin typeface="Aptos"/>
                <a:ea typeface="Aptos"/>
                <a:cs typeface="Aptos"/>
              </a:rPr>
              <a:t>3 conditions x 3 biological replicates | 24 h Netrin-1 treatment | DESeq2 + GSEA/ORA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AA39B-1330-4F84-B596-3CB7537E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05400"/>
            <a:ext cx="13906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6DF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8A8AB-8AB4-43BF-86EA-15670E90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29225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B6B13-C432-44FB-A6DA-1CB32957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0070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strict Netrin-responsive DEGs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CB236-F591-42FE-BE6F-6B401266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13906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6DFD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F8963-45A8-4330-BA23-3C8B0F5A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29225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>
                <a:solidFill>
                  <a:srgbClr val="C58B2E"/>
                </a:solidFill>
                <a:latin typeface="Aptos Display"/>
                <a:ea typeface="Aptos Display"/>
                <a:cs typeface="Aptos Display"/>
              </a:rPr>
              <a:t>1,495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C05D6-A0BD-42C1-8D59-0F94789D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0070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strict DIV2 vs DIV1 DEGs</a:t>
            </a:r>
          </a:p>
        </p:txBody>
      </p:sp>
    </p:spTree>
    <p:extLst>
      <p:ext uri="{BB962C8B-B14F-4D97-AF65-F5344CB8AC3E}">
        <p14:creationId xmlns:p14="http://schemas.microsoft.com/office/powerpoint/2010/main" val="857350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1533EA41-7255-4301-BD98-79FD0791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20720-A3A7-440A-97AD-975C866B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The talk has one question and three evidence layers.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2214D-7D6C-4780-BE5F-81DB3796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9DDFD-5C01-42EB-B6EB-1929AAE3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65CBB-5754-4954-A696-CDB1E832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20002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BCDCB-8C4A-4E85-9B77-E6F18A73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6858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2100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What does Netrin-1 do to the transcriptome after 24 h, and which signals are likely neuronal versus glial?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0CD8C-6E94-4252-9B04-F2D73516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19050">
            <a:solidFill>
              <a:srgbClr val="2E7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D3C93-772B-467F-88E8-62062299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514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5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954A6-C531-4013-AB82-E78B29CA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6235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7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Single-gene differential expression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98B2E-3CA7-4E93-BFB1-AD686F78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381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DEGs and top marker genes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3772F-5243-43BF-9AFC-36CD59D5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EDEA"/>
          </a:solidFill>
          <a:ln xmlns:a="http://schemas.openxmlformats.org/drawingml/2006/main" w="19050">
            <a:solidFill>
              <a:srgbClr val="C73E3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1320C-4BA2-43CA-B967-51D87E9C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514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50" b="1">
                <a:solidFill>
                  <a:srgbClr val="C73E3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7F42B-F8AA-48B6-B844-8B96DDB0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6235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7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Gene-set programs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71D86-A69D-4D24-942F-AA46C599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38600"/>
            <a:ext cx="2381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GSEA/ORA resolves coordinated biology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6C858-EC4C-4139-B498-7E573DF4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EAF4"/>
          </a:solidFill>
          <a:ln xmlns:a="http://schemas.openxmlformats.org/drawingml/2006/main" w="19050">
            <a:solidFill>
              <a:srgbClr val="6B5B9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2C2AF-A7A5-4910-91A9-D853DD4B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514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50" b="1">
                <a:solidFill>
                  <a:srgbClr val="6B5B9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9919D-2310-4F8F-9219-47A16D69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6235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7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Cell-type attribution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DE630-7008-4C71-988C-24A629D7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2381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Marker panels and receptor expression constrain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F565A-2D07-4BA5-BF92-838A7C1E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207566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87FC428B-920A-4A50-8B66-340DF4E1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BIOLOGY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1F376-7D59-4207-AFE8-7E3E2CD6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Netrin-1 is known for guidance; the transcriptional program is the open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6A99B-F0E0-400C-94E1-F18FD3C6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F594E-42E3-4DBE-BB22-5394AF9B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E0F88-2E51-4437-9AC2-1EECE390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53AB0-E454-4B40-A662-ED581255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571500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575">
                <a:solidFill>
                  <a:srgbClr val="1B1D22"/>
                </a:solidFill>
                <a:latin typeface="Aptos"/>
                <a:ea typeface="Aptos"/>
                <a:cs typeface="Aptos"/>
              </a:rPr>
              <a:t>Canonical axon-guidance cue acting through DCC, UNC5, Neogenin and DSCAM-family receptors.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148C1-8EA0-4F33-B8CC-D3C93241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949B0-1C7F-4AE7-B371-CAED975A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571500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575">
                <a:solidFill>
                  <a:srgbClr val="1B1D22"/>
                </a:solidFill>
                <a:latin typeface="Aptos"/>
                <a:ea typeface="Aptos"/>
                <a:cs typeface="Aptos"/>
              </a:rPr>
              <a:t>Acute growth-cone steering and local translation are well established.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F3D45-9C4D-491F-8917-20FFD39A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3A423-57A4-4E14-8ABD-3DE84304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571500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575">
                <a:solidFill>
                  <a:srgbClr val="1B1D22"/>
                </a:solidFill>
                <a:latin typeface="Aptos"/>
                <a:ea typeface="Aptos"/>
                <a:cs typeface="Aptos"/>
              </a:rPr>
              <a:t>A 24 h bulk RNA-seq response can reveal slower programs, but mixed cultures demand careful cell-source attribution.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CEBAB-8D9B-40C6-B210-3E90EC86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383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2E7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942FF-6DD5-42E4-A4A2-A1BC392D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62125"/>
            <a:ext cx="28384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165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Known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B599F-2D98-404E-AF52-3B1E82DC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28384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directional guidance, local translation, receptor-mediated signaling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44C8C-C803-4E84-AD01-B504E51A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3143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C73E3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2E8A2-5FFB-4D3E-B3F6-B4C3C6EA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43275"/>
            <a:ext cx="28384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1650" b="1">
                <a:solidFill>
                  <a:srgbClr val="C73E3E"/>
                </a:solidFill>
                <a:latin typeface="Aptos Display"/>
                <a:ea typeface="Aptos Display"/>
                <a:cs typeface="Aptos Display"/>
              </a:rPr>
              <a:t>Unknown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D534A-D7F8-482E-9A4D-F918EEA0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10000"/>
            <a:ext cx="283845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whether the 24 h response is neuronal, glial, immune-like, or a mixture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218BF-9625-47BC-8113-19F15708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590222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CF08B420-3EBA-47B0-A99B-A1178FC3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3FB7C-C9D2-4C0C-A111-BCDA4E7B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The design separates treatment response from the larger DIV1-to-DIV2 transition.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1129F-36CF-4035-B9EB-91057473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8CA8C-26F7-48EB-89C6-3C17F6E3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C5CB4-7C51-4205-9515-CFDE76AF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9F2E8"/>
          </a:solidFill>
          <a:ln xmlns:a="http://schemas.openxmlformats.org/drawingml/2006/main" w="19050">
            <a:solidFill>
              <a:srgbClr val="C58B2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D0BFA-236E-4703-97B6-CF6A4F65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95500"/>
            <a:ext cx="16573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C58B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C58B2E"/>
                </a:solidFill>
                <a:latin typeface="Aptos Display"/>
                <a:ea typeface="Aptos Display"/>
                <a:cs typeface="Aptos Display"/>
              </a:rPr>
              <a:t>DIV1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5F892-A3FD-4829-8F63-43C48766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1428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n = 3 biological replicates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283AC-E7D5-4245-B936-0825BCAA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19050">
            <a:solidFill>
              <a:srgbClr val="3B7AB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CAD71-3844-459B-877B-468A2CB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95500"/>
            <a:ext cx="16573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3B7AB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3B7AB8"/>
                </a:solidFill>
                <a:latin typeface="Aptos Display"/>
                <a:ea typeface="Aptos Display"/>
                <a:cs typeface="Aptos Display"/>
              </a:rPr>
              <a:t>DIV2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2C523-0AD9-4D50-97BF-A0477398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428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n = 3 biological replicates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2C7CF-08E6-47CA-AB3A-B45FBC9D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050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5EF"/>
          </a:solidFill>
          <a:ln xmlns:a="http://schemas.openxmlformats.org/drawingml/2006/main" w="19050">
            <a:solidFill>
              <a:srgbClr val="2E7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3754F-E292-42DA-9587-5D3665A7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6573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DIV2 + Netrin-1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2B786-1BB3-4DBD-97E4-9E75195A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1428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n = 3 biological replicates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E7945-9FE5-4008-AA04-E36A1FEE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Primary contrast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054A7-7816-481D-A4C5-37DE47E7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377190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950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C1: DIV2 + Netrin-1 vs DIV2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54A08-BE4A-415A-8F50-1625025B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2857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125">
                <a:solidFill>
                  <a:srgbClr val="5B6068"/>
                </a:solidFill>
                <a:latin typeface="Aptos"/>
                <a:ea typeface="Aptos"/>
                <a:cs typeface="Aptos"/>
              </a:rPr>
              <a:t>Treatment effect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F30ED-4AAB-4DC2-AE0C-3A515EE3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 b="1">
                <a:solidFill>
                  <a:srgbClr val="C58B2E"/>
                </a:solidFill>
                <a:latin typeface="Aptos"/>
                <a:ea typeface="Aptos"/>
                <a:cs typeface="Aptos"/>
              </a:rPr>
              <a:t>Context contrast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AD2D4-6115-45E3-899A-8B28FA27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285750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950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C2: DIV2 vs DIV1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8EBD4-0961-4B1F-B840-D7C1DCE9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3238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125">
                <a:solidFill>
                  <a:srgbClr val="5B6068"/>
                </a:solidFill>
                <a:latin typeface="Aptos"/>
                <a:ea typeface="Aptos"/>
                <a:cs typeface="Aptos"/>
              </a:rPr>
              <a:t>24 h developmental change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11445-126F-4672-A975-1058A5B4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B6068"/>
          </a:solidFill>
          <a:ln xmlns:a="http://schemas.openxmlformats.org/drawingml/2006/main" w="0">
            <a:solidFill>
              <a:srgbClr val="5B606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D46E4-14A9-4580-AD7C-990997D3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91100"/>
            <a:ext cx="8667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75">
                <a:solidFill>
                  <a:srgbClr val="1B1D22"/>
                </a:solidFill>
                <a:latin typeface="Aptos"/>
                <a:ea typeface="Aptos"/>
                <a:cs typeface="Aptos"/>
              </a:rPr>
              <a:t>DESeq2 model: ~ batch + condition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4DAAA-E15E-48BB-B25D-25B2BA0F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816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B6068"/>
          </a:solidFill>
          <a:ln xmlns:a="http://schemas.openxmlformats.org/drawingml/2006/main" w="0">
            <a:solidFill>
              <a:srgbClr val="5B60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FBC6B-EE53-4705-9347-102A160C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8667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75">
                <a:solidFill>
                  <a:srgbClr val="1B1D22"/>
                </a:solidFill>
                <a:latin typeface="Aptos"/>
                <a:ea typeface="Aptos"/>
                <a:cs typeface="Aptos"/>
              </a:rPr>
              <a:t>Strict DEGs: padj &lt; 0.05 and |log2FC| &gt; 0.585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CFF76-9EED-4851-9132-5E96380E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054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B6068"/>
          </a:solidFill>
          <a:ln xmlns:a="http://schemas.openxmlformats.org/drawingml/2006/main" w="0">
            <a:solidFill>
              <a:srgbClr val="5B606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E2E918-049F-449F-BBDE-44B3E05A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38800"/>
            <a:ext cx="8667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75">
                <a:solidFill>
                  <a:srgbClr val="1B1D22"/>
                </a:solidFill>
                <a:latin typeface="Aptos"/>
                <a:ea typeface="Aptos"/>
                <a:cs typeface="Aptos"/>
              </a:rPr>
              <a:t>GSEA: Wald-ranked genes, minGSSize = 15, nPermSimple = 10,000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E5ED7E-2526-4F27-9EF8-161393A1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1877025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29118646-6542-4BFD-8893-D78D7D15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QUALITY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1E960-3676-4ED8-A897-2D78DB22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The sequencing data are clean enough for contrast-level interpretation.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63BAF-AD18-4264-9C3C-5C0EE76D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F177A-6533-45AD-A2AE-3E26E2BF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44fab9a604930"/>
          <a:stretch xmlns:a="http://schemas.openxmlformats.org/drawingml/2006/main"/>
        </p:blipFill>
        <p:spPr>
          <a:xfrm xmlns:a="http://schemas.openxmlformats.org/drawingml/2006/main">
            <a:off x="666750" y="1562100"/>
            <a:ext cx="5734050" cy="3714750"/>
          </a:xfrm>
          <a:prstGeom xmlns:a="http://schemas.openxmlformats.org/drawingml/2006/main" prst="roundRect">
            <a:avLst>
              <a:gd name="adj" fmla="val 102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99CC9-AD8A-4B55-AB65-3E61BBD8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1925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6DFD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AADAA-5B58-4F41-B007-3B240C51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743075"/>
            <a:ext cx="1543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0.986-0.999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AD100-4D8D-4B2F-89B8-33133DE2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14550"/>
            <a:ext cx="1543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sample correlation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71295-F37B-44F8-8541-1132BA29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1925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6DF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ACE1F-F913-4947-992A-31941F75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43075"/>
            <a:ext cx="1543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9-10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4B152-D156-4ABA-BC34-A372BAA3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1543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RIN range; mean 9.9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34919-719F-4308-B62B-4F85F612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8130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6DF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E8B1D-14CD-40D5-85C8-4696D0E6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05125"/>
            <a:ext cx="1543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>
                <a:solidFill>
                  <a:srgbClr val="3B7AB8"/>
                </a:solidFill>
                <a:latin typeface="Aptos Display"/>
                <a:ea typeface="Aptos Display"/>
                <a:cs typeface="Aptos Display"/>
              </a:rPr>
              <a:t>34.2-52.3M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86280-E9F5-4C30-951D-218DD0A2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76600"/>
            <a:ext cx="1543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read pairs per 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60F06-5BB1-4F05-AF7F-16113D0F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6DFD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12448-EE49-499D-BF10-CE5DB668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05125"/>
            <a:ext cx="1543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>
                <a:solidFill>
                  <a:srgbClr val="3B7AB8"/>
                </a:solidFill>
                <a:latin typeface="Aptos Display"/>
                <a:ea typeface="Aptos Display"/>
                <a:cs typeface="Aptos Display"/>
              </a:rPr>
              <a:t>16,451-17,093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50F64-8B0D-486D-96D6-4B53FA45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76600"/>
            <a:ext cx="1543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detected genes per 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21ACA-4A76-42BB-9DA7-690E228D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29100"/>
            <a:ext cx="390525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50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Batch correction was used for display only; statistical testing retained the DESeq2 batch term.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7AA2CC-6D2D-4C9D-A270-EACE0909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1406684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DBB1738A-7976-487B-AF3D-51B26D63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CONTRAST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0D84A-A110-4973-A441-2DF4653B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Netrin-1 elicits a focused bidirectional response, not a wholesale transcriptome shift.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EE1D8-1741-4B9F-8282-4113D735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942B7-2720-4E10-B3C9-2B7838BF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e845671984590"/>
          <a:stretch xmlns:a="http://schemas.openxmlformats.org/drawingml/2006/main"/>
        </p:blipFill>
        <p:spPr>
          <a:xfrm xmlns:a="http://schemas.openxmlformats.org/drawingml/2006/main">
            <a:off x="742950" y="1466850"/>
            <a:ext cx="6572250" cy="4248150"/>
          </a:xfrm>
          <a:prstGeom xmlns:a="http://schemas.openxmlformats.org/drawingml/2006/main" prst="roundRect">
            <a:avLst>
              <a:gd name="adj" fmla="val 89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8D64C-B280-464C-806C-7293FA06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2571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6DFD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B6DB5-C927-4E46-8721-29159ABC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04975"/>
            <a:ext cx="2305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CFCDC-B7D2-4E45-B983-26D2F99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2305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strict DEGs: 7 up + 18 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B4EE5-2BD1-45D4-8788-92180791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2571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6DF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F79DB-8174-4B47-AFDD-68009DC0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47975"/>
            <a:ext cx="2305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>
                <a:solidFill>
                  <a:srgbClr val="3B7AB8"/>
                </a:solidFill>
                <a:latin typeface="Aptos Display"/>
                <a:ea typeface="Aptos Display"/>
                <a:cs typeface="Aptos Display"/>
              </a:rPr>
              <a:t>66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A2E03-A64B-4752-992F-E43B22DB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2305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relaxed DEGs: 10 up + 56 down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7195C-A07D-4281-969B-4C4B319A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E0B7C-B769-41D5-843B-90BE5915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2952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00">
                <a:solidFill>
                  <a:srgbClr val="1B1D22"/>
                </a:solidFill>
                <a:latin typeface="Aptos"/>
                <a:ea typeface="Aptos"/>
                <a:cs typeface="Aptos"/>
              </a:rPr>
              <a:t>Up: C3, Apoe, Adgre1, Ncf1, Itgal, Acod1.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B16E5-884C-465E-BFC8-31D25B7B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00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AB4F9-7F6B-4D9B-99E8-A6607E8C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2952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00">
                <a:solidFill>
                  <a:srgbClr val="1B1D22"/>
                </a:solidFill>
                <a:latin typeface="Aptos"/>
                <a:ea typeface="Aptos"/>
                <a:cs typeface="Aptos"/>
              </a:rPr>
              <a:t>Down: Olig1, Olig2, Ccnd1, Sparcl1 and related progenitor/glial markers.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8269D-B7EB-4961-942A-325185CF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38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96DB5-AC39-4043-B614-35842614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72050"/>
            <a:ext cx="2952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00">
                <a:solidFill>
                  <a:srgbClr val="1B1D22"/>
                </a:solidFill>
                <a:latin typeface="Aptos"/>
                <a:ea typeface="Aptos"/>
                <a:cs typeface="Aptos"/>
              </a:rPr>
              <a:t>The response is small in DEG count, but coherent in biology.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B5834-0FEB-474E-B48B-B04823E8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190248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A2717ABE-2544-498C-A7D9-DA3810A2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SINGLE GENES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2CE29-EB52-437E-A572-9D8CF0AD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The strongest individual DEGs point to immune/glial and progenitor modules.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BD6DA-E7EE-4F7B-AC78-215FB110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26F33-ADB4-469F-AB47-88724352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2aa874c84441f"/>
          <a:stretch xmlns:a="http://schemas.openxmlformats.org/drawingml/2006/main"/>
        </p:blipFill>
        <p:spPr>
          <a:xfrm xmlns:a="http://schemas.openxmlformats.org/drawingml/2006/main">
            <a:off x="647700" y="1428750"/>
            <a:ext cx="6858000" cy="4400550"/>
          </a:xfrm>
          <a:prstGeom xmlns:a="http://schemas.openxmlformats.org/drawingml/2006/main" prst="roundRect">
            <a:avLst>
              <a:gd name="adj" fmla="val 86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0EEAA-C477-4B5C-94C6-31E15BF6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0495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Module 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B50B4-48A1-4552-B0A7-178E17DD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2857500" cy="857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2100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Immune-like genes rise, while oligodendrocyte/progenitor genes fall.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2601B-8910-4CF9-9A72-C0D157B8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718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27D91-9C8B-4675-8BEA-14F3F107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29908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00">
                <a:solidFill>
                  <a:srgbClr val="1B1D22"/>
                </a:solidFill>
                <a:latin typeface="Aptos"/>
                <a:ea typeface="Aptos"/>
                <a:cs typeface="Aptos"/>
              </a:rPr>
              <a:t>C3 is the most significant up-regulated gene.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74D1F-4518-4604-AED7-4815717B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67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61A1F-D88F-4CCE-87AC-05BA626B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29908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00">
                <a:solidFill>
                  <a:srgbClr val="1B1D22"/>
                </a:solidFill>
                <a:latin typeface="Aptos"/>
                <a:ea typeface="Aptos"/>
                <a:cs typeface="Aptos"/>
              </a:rPr>
              <a:t>Olig1 is the most significant down-regulated gene.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FE198-2441-475B-BEC2-9794B809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E3E0F-6045-44AF-96DC-F98EBFD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29908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00">
                <a:solidFill>
                  <a:srgbClr val="1B1D22"/>
                </a:solidFill>
                <a:latin typeface="Aptos"/>
                <a:ea typeface="Aptos"/>
                <a:cs typeface="Aptos"/>
              </a:rPr>
              <a:t>The single-gene signal alone is not enough to claim a neuron-intrinsic program.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23DDC-E610-4BEA-AADA-35E81237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4036501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CB29C801-B547-4E6D-83CB-79893DE7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EXPRESSION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17EBE-C51C-4236-80D1-2FEF688E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The 66 relaxed DEGs organize into interpretable trajectories across DIV1, DIV2 and Netrin.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5C83B-7B8E-494E-9B6E-1D37AEB4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01EB9-F70B-42FE-85E2-A558FF69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78be025db4c5f"/>
          <a:stretch xmlns:a="http://schemas.openxmlformats.org/drawingml/2006/main"/>
        </p:blipFill>
        <p:spPr>
          <a:xfrm xmlns:a="http://schemas.openxmlformats.org/drawingml/2006/main">
            <a:off x="514350" y="1371600"/>
            <a:ext cx="5619750" cy="4476750"/>
          </a:xfrm>
          <a:prstGeom xmlns:a="http://schemas.openxmlformats.org/drawingml/2006/main" prst="roundRect">
            <a:avLst>
              <a:gd name="adj" fmla="val 851"/>
            </a:avLst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9c26278be4cc9"/>
          <a:stretch xmlns:a="http://schemas.openxmlformats.org/drawingml/2006/main"/>
        </p:blipFill>
        <p:spPr>
          <a:xfrm xmlns:a="http://schemas.openxmlformats.org/drawingml/2006/main">
            <a:off x="6572250" y="1371600"/>
            <a:ext cx="4762500" cy="4476750"/>
          </a:xfrm>
          <a:prstGeom xmlns:a="http://schemas.openxmlformats.org/drawingml/2006/main" prst="roundRect">
            <a:avLst>
              <a:gd name="adj" fmla="val 8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0860D-A962-4643-915B-73EE6723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14822849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A7171205-6B73-424E-B3AD-4C23646E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GENE 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F9E3-9CBB-4BC0-8535-B3CB8416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GSEA reveals the neuronal signal that single-gene DEG lists understate.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9AB14-9E90-490A-9AE0-3088F55E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80119-2A4D-47EE-9A9A-0FAFB984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2c937f78041e8"/>
          <a:stretch xmlns:a="http://schemas.openxmlformats.org/drawingml/2006/main"/>
        </p:blipFill>
        <p:spPr>
          <a:xfrm xmlns:a="http://schemas.openxmlformats.org/drawingml/2006/main">
            <a:off x="609600" y="1390650"/>
            <a:ext cx="6667500" cy="4476750"/>
          </a:xfrm>
          <a:prstGeom xmlns:a="http://schemas.openxmlformats.org/drawingml/2006/main" prst="roundRect">
            <a:avLst>
              <a:gd name="adj" fmla="val 85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4312F-D90A-4735-A1C4-8D1D8B84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24000"/>
            <a:ext cx="23812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6DFD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89F1E-6E7C-4E62-BB52-79B68456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47825"/>
            <a:ext cx="21145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481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CC2F3-AAB3-42FF-870A-6E89306B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21145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GO BP terms significant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3B0C3-502F-47CE-AA7D-1FF02456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86050"/>
            <a:ext cx="23812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6DF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9837F-6E2F-4B60-8A45-ABDB77C6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21145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255 / 226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D304D-C282-4A42-BAA1-BC87269F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21145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activated / suppressed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29A19-1BEC-4598-BD76-EADD4729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386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32D58-8AB9-4B5F-BF05-C6FA8986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71950"/>
            <a:ext cx="304800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00">
                <a:solidFill>
                  <a:srgbClr val="1B1D22"/>
                </a:solidFill>
                <a:latin typeface="Aptos"/>
                <a:ea typeface="Aptos"/>
                <a:cs typeface="Aptos"/>
              </a:rPr>
              <a:t>Activated: excitatory postsynaptic potential, synapse assembly, exocytosis, learning/memory.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CFA1C-DA61-4BB0-AD5D-4C71E8F7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48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F6A11-F1B5-4038-84F0-33EF6428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304800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00">
                <a:solidFill>
                  <a:srgbClr val="1B1D22"/>
                </a:solidFill>
                <a:latin typeface="Aptos"/>
                <a:ea typeface="Aptos"/>
                <a:cs typeface="Aptos"/>
              </a:rPr>
              <a:t>Suppressed: chromosome segregation, DNA replication and cell-cycle programs.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BB48E-E40D-48D8-AFDD-88C1922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11002462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76BD6CDF-AE86-48E9-BFA1-E0787C54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PATHWAY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5D86A-4DC8-46A9-999C-363A7DF1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Axon guidance is activated while cell-cycle machinery is suppressed.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93E09-D836-4C7C-AEC3-913FC6AC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34E91-CB02-47B1-947A-55056883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96b57c99d4f95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5219700" cy="4114800"/>
          </a:xfrm>
          <a:prstGeom xmlns:a="http://schemas.openxmlformats.org/drawingml/2006/main" prst="roundRect">
            <a:avLst>
              <a:gd name="adj" fmla="val 926"/>
            </a:avLst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2000a47c44a0a"/>
          <a:stretch xmlns:a="http://schemas.openxmlformats.org/drawingml/2006/main"/>
        </p:blipFill>
        <p:spPr>
          <a:xfrm xmlns:a="http://schemas.openxmlformats.org/drawingml/2006/main">
            <a:off x="6362700" y="1447800"/>
            <a:ext cx="5219700" cy="4114800"/>
          </a:xfrm>
          <a:prstGeom xmlns:a="http://schemas.openxmlformats.org/drawingml/2006/main" prst="roundRect">
            <a:avLst>
              <a:gd name="adj" fmla="val 9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E3935-5B36-4E9C-A8C0-EA3D63FD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490537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Axon guidance: GO BP NES +1.85, padj 3.6e-5; KEGG NES +1.72, padj 0.0024.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10A73-7F5C-41BD-8A05-A3A24F37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72150"/>
            <a:ext cx="4095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KEGG Cell cycle: NES -2.70, padj 1.7e-8.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4AF09-A051-4C9B-B3D7-842D54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16591321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BB71810C-7ED8-48E7-AB68-71F01422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CONTRAST 1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A8206-B052-48DE-A190-9568F600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Netrin-1 looks like two linked modules: neuronal tuning plus glial/immune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11900-5E1C-4EAA-BC81-4EDC8452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62889-ECAD-421C-8940-BEA64F10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D729C-9BBE-4282-9CC1-5020F632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000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2E7D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B6589-9EBC-4E6C-823C-BD8D2D7D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9775"/>
            <a:ext cx="36957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165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Module A: neuronal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13B64-EDC4-43C4-B6E5-93B40426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36957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synapse assembly, axon guidance, exocytosis; coordinated at gene-set 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2A6D1-D457-47A6-A62D-D2041CCC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4000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C73E3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B8B4B-3125-4B68-8599-AE277D11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09775"/>
            <a:ext cx="36957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1650" b="1">
                <a:solidFill>
                  <a:srgbClr val="C73E3E"/>
                </a:solidFill>
                <a:latin typeface="Aptos Display"/>
                <a:ea typeface="Aptos Display"/>
                <a:cs typeface="Aptos Display"/>
              </a:rPr>
              <a:t>Module B: immune/glial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A7E4C-CA11-467B-B521-D88626BB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76500"/>
            <a:ext cx="36957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C3, Apoe, Adgre1, Ncf1, Acod1; strong single-gene signature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B1A01-FEF5-47A2-9352-5C55CC7E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4000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3B7AB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FF58A-E5C5-47D7-8900-A2DEA4E8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9575"/>
            <a:ext cx="36957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1650" b="1">
                <a:solidFill>
                  <a:srgbClr val="3B7AB8"/>
                </a:solidFill>
                <a:latin typeface="Aptos Display"/>
                <a:ea typeface="Aptos Display"/>
                <a:cs typeface="Aptos Display"/>
              </a:rPr>
              <a:t>Suppressed program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1E12C-2FAB-4891-A831-BB161983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86300"/>
            <a:ext cx="369570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cell cycle and progenitor/oligodendrocyte-associated markers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2254E-2D9D-415A-8691-F51822E2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032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068"/>
          </a:solidFill>
          <a:ln xmlns:a="http://schemas.openxmlformats.org/drawingml/2006/main" w="0">
            <a:solidFill>
              <a:srgbClr val="5B606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64C5A-7262-4024-82FE-F2F778E8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62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068"/>
          </a:solidFill>
          <a:ln xmlns:a="http://schemas.openxmlformats.org/drawingml/2006/main" w="0">
            <a:solidFill>
              <a:srgbClr val="5B60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2788A-92CA-4B08-B593-5BB305DC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24225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068"/>
          </a:solidFill>
          <a:ln xmlns:a="http://schemas.openxmlformats.org/drawingml/2006/main" w="0">
            <a:solidFill>
              <a:srgbClr val="5B60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9509C-4714-4B7B-9095-B4C9490B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48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068"/>
          </a:solidFill>
          <a:ln xmlns:a="http://schemas.openxmlformats.org/drawingml/2006/main" w="0">
            <a:solidFill>
              <a:srgbClr val="5B60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4CC23-DA3A-4424-8ACE-709147A4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068"/>
          </a:solidFill>
          <a:ln xmlns:a="http://schemas.openxmlformats.org/drawingml/2006/main" w="0">
            <a:solidFill>
              <a:srgbClr val="5B606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6981B-13F0-4644-A4EB-6A4359A6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48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068"/>
          </a:solidFill>
          <a:ln xmlns:a="http://schemas.openxmlformats.org/drawingml/2006/main" w="0">
            <a:solidFill>
              <a:srgbClr val="5B60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B411B-0F5D-41B5-A49A-1651CE0C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19750"/>
            <a:ext cx="9144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The honest interpretation: direct neuronal receptor signaling is likely, but immune genes are best treated as secondary or cell-type-linked until validated.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3C0291-35EE-4004-8859-52793EB1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20017870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9DA04BB3-69A3-4893-8111-FD024097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CONTRAST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FC346-326C-4181-A364-1B63E4BD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DIV1-to-DIV2 development is much larger than the Netrin treatment effect.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1621F-75A6-4341-8A84-5B12D00B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6F8C3-4BA4-4957-9BC2-2EE71210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46b9f16804794"/>
          <a:stretch xmlns:a="http://schemas.openxmlformats.org/drawingml/2006/main"/>
        </p:blipFill>
        <p:spPr>
          <a:xfrm xmlns:a="http://schemas.openxmlformats.org/drawingml/2006/main">
            <a:off x="742950" y="1409700"/>
            <a:ext cx="6572250" cy="4381500"/>
          </a:xfrm>
          <a:prstGeom xmlns:a="http://schemas.openxmlformats.org/drawingml/2006/main" prst="roundRect">
            <a:avLst>
              <a:gd name="adj" fmla="val 87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9D00B-2CA4-4C42-895D-F3EB8ECF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27241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6DFD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446A4-DB71-4763-A6EA-D98F11F3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04975"/>
            <a:ext cx="24574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>
                <a:solidFill>
                  <a:srgbClr val="C58B2E"/>
                </a:solidFill>
                <a:latin typeface="Aptos Display"/>
                <a:ea typeface="Aptos Display"/>
                <a:cs typeface="Aptos Display"/>
              </a:rPr>
              <a:t>1,495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6A66B-00F2-4010-9F6C-6B12E6D3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24574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strict DEGs: 1,098 up + 397 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F5512-F0EF-4079-8642-3DB5C993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27241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6DF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5D41E-7ED3-4EE5-B90A-65B6612C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67025"/>
            <a:ext cx="24574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>
                <a:solidFill>
                  <a:srgbClr val="C58B2E"/>
                </a:solidFill>
                <a:latin typeface="Aptos Display"/>
                <a:ea typeface="Aptos Display"/>
                <a:cs typeface="Aptos Display"/>
              </a:rPr>
              <a:t>4,636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8A8C6-1360-4E98-96F8-1F013CB6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0"/>
            <a:ext cx="24574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relaxed DEGs: 2,603 up + 2,033 down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2E424-A675-40DC-BC1F-32DB6E1D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304800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7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Olig1 reverses direction: up during DIV2 development, down after Netrin treatment.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DB811-4461-4E09-BA06-E0E066FC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14711883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03883B32-3535-48E4-90A4-9E266455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DEVELOPMENTAL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4EB27-9C85-4F97-B205-F986093A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Development opens neuronal maturation programs en masse.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3D2BD-F615-4BD6-9D5E-E9973D94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37345-A005-4595-8464-97288BD6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332228b244d0c"/>
          <a:stretch xmlns:a="http://schemas.openxmlformats.org/drawingml/2006/main"/>
        </p:blipFill>
        <p:spPr>
          <a:xfrm xmlns:a="http://schemas.openxmlformats.org/drawingml/2006/main">
            <a:off x="533400" y="1371600"/>
            <a:ext cx="5372100" cy="4286250"/>
          </a:xfrm>
          <a:prstGeom xmlns:a="http://schemas.openxmlformats.org/drawingml/2006/main" prst="roundRect">
            <a:avLst>
              <a:gd name="adj" fmla="val 889"/>
            </a:avLst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227c3c77a4fb5"/>
          <a:stretch xmlns:a="http://schemas.openxmlformats.org/drawingml/2006/main"/>
        </p:blipFill>
        <p:spPr>
          <a:xfrm xmlns:a="http://schemas.openxmlformats.org/drawingml/2006/main">
            <a:off x="6248400" y="1371600"/>
            <a:ext cx="5372100" cy="4286250"/>
          </a:xfrm>
          <a:prstGeom xmlns:a="http://schemas.openxmlformats.org/drawingml/2006/main" prst="roundRect">
            <a:avLst>
              <a:gd name="adj" fmla="val 88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528F5-634D-4B4F-AEC7-36CB8CA0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10001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125">
                <a:solidFill>
                  <a:srgbClr val="5B6068"/>
                </a:solidFill>
                <a:latin typeface="Aptos"/>
                <a:ea typeface="Aptos"/>
                <a:cs typeface="Aptos"/>
              </a:rPr>
              <a:t>DIV2-enriched: synaptic transmission, neurotransmitter transport, plasticity, GABAergic/glutamatergic synapse.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06EEF-E885-435A-B3F8-80C00D10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4838516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820B4B50-37CA-4507-8F9F-D02BCDEC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EXPRESSION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B1F87-9FAB-403D-B6E3-BFA7BE75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C2 heatmaps show development dominating sample structure.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74D81-7F75-465B-B5D3-1600DEFF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DDDBB-3F9C-4BF2-9355-04923C5D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ed443f1c843e9"/>
          <a:stretch xmlns:a="http://schemas.openxmlformats.org/drawingml/2006/main"/>
        </p:blipFill>
        <p:spPr>
          <a:xfrm xmlns:a="http://schemas.openxmlformats.org/drawingml/2006/main">
            <a:off x="781050" y="1390650"/>
            <a:ext cx="5753100" cy="4457700"/>
          </a:xfrm>
          <a:prstGeom xmlns:a="http://schemas.openxmlformats.org/drawingml/2006/main" prst="roundRect">
            <a:avLst>
              <a:gd name="adj" fmla="val 85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8CD21-D751-4C87-B944-45BDAD9E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58B2E"/>
          </a:solidFill>
          <a:ln xmlns:a="http://schemas.openxmlformats.org/drawingml/2006/main" w="0">
            <a:solidFill>
              <a:srgbClr val="C58B2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667E1-E4A0-43A0-80C1-6014B924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14550"/>
            <a:ext cx="323850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500">
                <a:solidFill>
                  <a:srgbClr val="1B1D22"/>
                </a:solidFill>
                <a:latin typeface="Aptos"/>
                <a:ea typeface="Aptos"/>
                <a:cs typeface="Aptos"/>
              </a:rPr>
              <a:t>DIV1 separates strongly from DIV2 and DIV2 + Netrin.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A5BCE-ECB6-495B-9A26-E796D8BF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67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58B2E"/>
          </a:solidFill>
          <a:ln xmlns:a="http://schemas.openxmlformats.org/drawingml/2006/main" w="0">
            <a:solidFill>
              <a:srgbClr val="C58B2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545E5-A016-416D-826D-28A3B553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23850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500">
                <a:solidFill>
                  <a:srgbClr val="1B1D22"/>
                </a:solidFill>
                <a:latin typeface="Aptos"/>
                <a:ea typeface="Aptos"/>
                <a:cs typeface="Aptos"/>
              </a:rPr>
              <a:t>This contrast is a context anchor rather than the main treatment conclusion.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F7D8F-D330-4A36-BD30-9CC737A4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528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58B2E"/>
          </a:solidFill>
          <a:ln xmlns:a="http://schemas.openxmlformats.org/drawingml/2006/main" w="0">
            <a:solidFill>
              <a:srgbClr val="C58B2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340CD-CAA6-4307-A62C-92E72A84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323850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500">
                <a:solidFill>
                  <a:srgbClr val="1B1D22"/>
                </a:solidFill>
                <a:latin typeface="Aptos"/>
                <a:ea typeface="Aptos"/>
                <a:cs typeface="Aptos"/>
              </a:rPr>
              <a:t>The size of C2 helps calibrate how focused the C1 response 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A9883-C82A-41F3-BF29-211C7C41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5642423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C8E02F13-8E3B-48ED-9D4B-4D7490CB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CULTURE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1D16A-CFEC-4925-B99B-58CD982A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Bulk RNA-seq requires cell-type caution before assigning mechanism.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BCCFC-F0F0-46BA-B6EC-897AD2CD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A84E1-4DF0-4467-BB4E-679CE997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3183ae42b4df0"/>
          <a:stretch xmlns:a="http://schemas.openxmlformats.org/drawingml/2006/main"/>
        </p:blipFill>
        <p:spPr>
          <a:xfrm xmlns:a="http://schemas.openxmlformats.org/drawingml/2006/main">
            <a:off x="762000" y="1466850"/>
            <a:ext cx="5715000" cy="4210050"/>
          </a:xfrm>
          <a:prstGeom xmlns:a="http://schemas.openxmlformats.org/drawingml/2006/main" prst="roundRect">
            <a:avLst>
              <a:gd name="adj" fmla="val 90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44F12-3B7A-4F21-9A28-9A0DB804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321945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250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The cultures are neuron-rich but not neuron-only.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F4330-7311-4A0E-9C34-BC4A4AC7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908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B5B95"/>
          </a:solidFill>
          <a:ln xmlns:a="http://schemas.openxmlformats.org/drawingml/2006/main" w="0">
            <a:solidFill>
              <a:srgbClr val="6B5B9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4797F-861E-4098-88BA-45B27C0E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3333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75">
                <a:solidFill>
                  <a:srgbClr val="1B1D22"/>
                </a:solidFill>
                <a:latin typeface="Aptos"/>
                <a:ea typeface="Aptos"/>
                <a:cs typeface="Aptos"/>
              </a:rPr>
              <a:t>No AraC means glial populations can contribute to bulk signal.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2AE13-BA5C-4C9F-B9D4-86C0B44F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43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B5B95"/>
          </a:solidFill>
          <a:ln xmlns:a="http://schemas.openxmlformats.org/drawingml/2006/main" w="0">
            <a:solidFill>
              <a:srgbClr val="6B5B9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3E2E0-08EF-4DF7-8AC6-D64D1238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76600"/>
            <a:ext cx="3333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75">
                <a:solidFill>
                  <a:srgbClr val="1B1D22"/>
                </a:solidFill>
                <a:latin typeface="Aptos"/>
                <a:ea typeface="Aptos"/>
                <a:cs typeface="Aptos"/>
              </a:rPr>
              <a:t>Marker behavior is used to constrain, not prove, cell-of-origin.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2A9E7-F4EC-4E82-BC00-9E20648F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B5B95"/>
          </a:solidFill>
          <a:ln xmlns:a="http://schemas.openxmlformats.org/drawingml/2006/main" w="0">
            <a:solidFill>
              <a:srgbClr val="6B5B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96F7F-AD7D-473B-B455-8833073F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29050"/>
            <a:ext cx="3333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75">
                <a:solidFill>
                  <a:srgbClr val="1B1D22"/>
                </a:solidFill>
                <a:latin typeface="Aptos"/>
                <a:ea typeface="Aptos"/>
                <a:cs typeface="Aptos"/>
              </a:rPr>
              <a:t>This is why C1 single genes and C1 GSEA are interpreted separately.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CB690-A2AF-44A0-9DAC-E5D6A627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15462885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68EA2472-E103-410B-97FC-A67133FF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CELL-TYPE MARKERS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66012-FB8F-4285-9EDF-65D426A8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Development shifts composition; Netrin treatment does not show a matching composition shift.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D0712-0005-46C0-AA14-C2E31C5C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74734-A4A8-41A3-AB06-9496B784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d86f638d74e6a"/>
          <a:stretch xmlns:a="http://schemas.openxmlformats.org/drawingml/2006/main"/>
        </p:blipFill>
        <p:spPr>
          <a:xfrm xmlns:a="http://schemas.openxmlformats.org/drawingml/2006/main">
            <a:off x="552450" y="1390650"/>
            <a:ext cx="5219700" cy="4305300"/>
          </a:xfrm>
          <a:prstGeom xmlns:a="http://schemas.openxmlformats.org/drawingml/2006/main" prst="roundRect">
            <a:avLst>
              <a:gd name="adj" fmla="val 885"/>
            </a:avLst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759517292406c"/>
          <a:stretch xmlns:a="http://schemas.openxmlformats.org/drawingml/2006/main"/>
        </p:blipFill>
        <p:spPr>
          <a:xfrm xmlns:a="http://schemas.openxmlformats.org/drawingml/2006/main">
            <a:off x="6419850" y="1390650"/>
            <a:ext cx="5219700" cy="4305300"/>
          </a:xfrm>
          <a:prstGeom xmlns:a="http://schemas.openxmlformats.org/drawingml/2006/main" prst="roundRect">
            <a:avLst>
              <a:gd name="adj" fmla="val 88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2DB9E-910A-4467-8EE3-4273300E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4953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C2: macroglia/OPC/astrocyte markers rise and microglia markers fall.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11B58-61D3-49D5-B575-8DA76594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10250"/>
            <a:ext cx="4953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C1: microglial markers trend upward, but broad composition is comparatively stable.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BD173-57A2-4993-9120-0218E59E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12949716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B99779AE-6392-4D70-A9E1-386C3F56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DIRECT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046BE-1883-4938-B32D-8FE340FF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Netrin receptors are abundant, while endogenous Ntn1 is near background.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958B3-4304-4F04-B560-5AB51297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22240-06D6-4505-9D3C-0972D29B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B9A52-4E20-4064-A55B-67075F02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2286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 b="1">
                <a:solidFill>
                  <a:srgbClr val="5B6068"/>
                </a:solidFill>
                <a:latin typeface="Aptos"/>
                <a:ea typeface="Aptos"/>
                <a:cs typeface="Aptos"/>
              </a:rPr>
              <a:t>baseMean expression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7ECA2-4496-4042-80B3-5651022D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1">
                <a:solidFill>
                  <a:srgbClr val="1B1D22"/>
                </a:solidFill>
                <a:latin typeface="Aptos"/>
                <a:ea typeface="Aptos"/>
                <a:cs typeface="Aptos"/>
              </a:rPr>
              <a:t>Neo1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C58F2-FDDA-41B7-B89A-6F80EA92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52387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BA2E6-108B-434A-A78E-8C1C8264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8572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9413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389EF-AC89-4A58-B1CD-09751A9F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1">
                <a:solidFill>
                  <a:srgbClr val="1B1D22"/>
                </a:solidFill>
                <a:latin typeface="Aptos"/>
                <a:ea typeface="Aptos"/>
                <a:cs typeface="Aptos"/>
              </a:rPr>
              <a:t>Dcc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47224-A6AF-4F95-BF31-D16B56F2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33650"/>
            <a:ext cx="4603324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D442D-7F20-4F00-84E4-353EDE88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14600"/>
            <a:ext cx="8572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3102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E5349-9722-4C13-8A65-49D836BB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1">
                <a:solidFill>
                  <a:srgbClr val="1B1D22"/>
                </a:solidFill>
                <a:latin typeface="Aptos"/>
                <a:ea typeface="Aptos"/>
                <a:cs typeface="Aptos"/>
              </a:rPr>
              <a:t>Dscam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05728-D4C9-4470-A08A-554C9F81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4333525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A5AEE-AE93-48D8-8873-498BE2C8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8572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1936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17070-D4BC-41B6-8E84-A7DA6CD1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1">
                <a:solidFill>
                  <a:srgbClr val="1B1D22"/>
                </a:solidFill>
                <a:latin typeface="Aptos"/>
                <a:ea typeface="Aptos"/>
                <a:cs typeface="Aptos"/>
              </a:rPr>
              <a:t>Unc5a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BB0808-CFD3-42F0-98F6-5CC53490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09950"/>
            <a:ext cx="4221221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68147-AB5C-478C-BA4D-640B6280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8572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1591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B6878-A01B-45B1-B2FD-CF5CEB6F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1">
                <a:solidFill>
                  <a:srgbClr val="1B1D22"/>
                </a:solidFill>
                <a:latin typeface="Aptos"/>
                <a:ea typeface="Aptos"/>
                <a:cs typeface="Aptos"/>
              </a:rPr>
              <a:t>Unc5d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AEBE1-8DAA-4BD1-93DB-48897496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48100"/>
            <a:ext cx="4064605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37ABA-AE2E-4C39-A55C-723D06A2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8572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1210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B70E5-586E-4A51-8E04-10572DBE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0">
                <a:solidFill>
                  <a:srgbClr val="1B1D22"/>
                </a:solidFill>
                <a:latin typeface="Aptos"/>
                <a:ea typeface="Aptos"/>
                <a:cs typeface="Aptos"/>
              </a:rPr>
              <a:t>Unc5c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E6F9A-8C46-471A-963E-702893FC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3469114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B7AB8"/>
          </a:solidFill>
          <a:ln xmlns:a="http://schemas.openxmlformats.org/drawingml/2006/main" w="0">
            <a:solidFill>
              <a:srgbClr val="3B7AB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45516-CAB3-47D3-ABDA-9D70221A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8572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427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A8474-EF61-408D-B873-BE928441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0">
                <a:solidFill>
                  <a:srgbClr val="1B1D22"/>
                </a:solidFill>
                <a:latin typeface="Aptos"/>
                <a:ea typeface="Aptos"/>
                <a:cs typeface="Aptos"/>
              </a:rPr>
              <a:t>Unc5b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F95C2-CE57-445E-A3E9-AD02D2A1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24400"/>
            <a:ext cx="2930276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B7AB8"/>
          </a:solidFill>
          <a:ln xmlns:a="http://schemas.openxmlformats.org/drawingml/2006/main" w="0">
            <a:solidFill>
              <a:srgbClr val="3B7AB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66253A-DA1C-4A74-8443-48C79E22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8572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166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A9B06F-436E-4315-894B-ACB6111B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0">
                <a:solidFill>
                  <a:srgbClr val="1B1D22"/>
                </a:solidFill>
                <a:latin typeface="Aptos"/>
                <a:ea typeface="Aptos"/>
                <a:cs typeface="Aptos"/>
              </a:rPr>
              <a:t>Ntn1 ligand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CC5940-5CBF-4213-80B2-5A557E50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62550"/>
            <a:ext cx="1403308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4A7D39-C24C-4555-B884-289325F8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0"/>
            <a:ext cx="8572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10.6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E7EE3-172B-4D3D-9C8F-7278C26E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478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DA2B58-7FA7-4D2F-9759-FFA91C00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954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Median expressed gene baseMean = 705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C7F178-8A43-4D8C-B6E5-39697288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85950"/>
            <a:ext cx="1524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97F2CD-9D73-4EF5-A302-0AB83C4C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86000" cy="1200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1800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Neurons have the receptor machinery to respond directly; receptor levels do not need to change for pathway activation.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971CC4-FD11-4893-99B0-3D5AE5B4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29050"/>
            <a:ext cx="2381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00">
                <a:solidFill>
                  <a:srgbClr val="5B6068"/>
                </a:solidFill>
                <a:latin typeface="Aptos"/>
                <a:ea typeface="Aptos"/>
                <a:cs typeface="Aptos"/>
              </a:rPr>
              <a:t>The immune module therefore remains biologically real but mechanistically indirect until cell-type-specific validation.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6ADF1B-B194-4CEF-AA29-80D11666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1171454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01C99DBB-925C-44ED-A312-53D4EA45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WORKING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7E1CD-736D-4F80-8F4F-AB8411CE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Netrin likely acts directly on neurons, with a secondary immune/glial transcriptional echo.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4E8BC-6242-4749-B8B2-3AD1ED0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275EE-3EA7-4F94-9015-45E3D576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0D361-0752-4EC9-93FA-A36EDDFE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C58B2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021AE-0DB6-4CC5-93C4-6F8E1B65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24175"/>
            <a:ext cx="20764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1650" b="1">
                <a:solidFill>
                  <a:srgbClr val="C58B2E"/>
                </a:solidFill>
                <a:latin typeface="Aptos Display"/>
                <a:ea typeface="Aptos Display"/>
                <a:cs typeface="Aptos Display"/>
              </a:rPr>
              <a:t>Exogenous Netrin-1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FDDCC-50D2-4701-BB76-1A6F57BB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20764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near-zero endogenous Ntn1 background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2B1B9-3D5E-476C-B39A-087E2E8E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383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2E7D6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6368E-43AB-4150-848D-816E834D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62125"/>
            <a:ext cx="25527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165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Cortical neurons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577DB-FBE7-48A6-B48F-40C03C73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255270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Neo1 / Dcc / Dscam / Unc5 receptors abundant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249AE-979C-421D-B652-4A360953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383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2E7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32777-DD2A-41BD-923F-5223E09B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62125"/>
            <a:ext cx="20764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165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Axon guidance + synapse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017F4-6BDD-4B99-9189-02100CD8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28850"/>
            <a:ext cx="207645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reliable neuronal program; GSEA-level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E0A23-1AF8-462B-B47B-34FFF18E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C73E3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09BF0-9010-486C-83EA-3D858918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95775"/>
            <a:ext cx="20764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1650" b="1">
                <a:solidFill>
                  <a:srgbClr val="C73E3E"/>
                </a:solidFill>
                <a:latin typeface="Aptos Display"/>
                <a:ea typeface="Aptos Display"/>
                <a:cs typeface="Aptos Display"/>
              </a:rPr>
              <a:t>Microglia / glia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B789A-05C1-4F8D-BBB8-B913F483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207645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>
                <a:solidFill>
                  <a:srgbClr val="5B6068"/>
                </a:solidFill>
                <a:latin typeface="Aptos"/>
                <a:ea typeface="Aptos"/>
                <a:cs typeface="Aptos"/>
              </a:rPr>
              <a:t>C3 / Apoe / Adgre1 / Ncf1 immune module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6EE9F-2D91-46D8-B996-F27756B1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24225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B2E"/>
          </a:solidFill>
          <a:ln xmlns:a="http://schemas.openxmlformats.org/drawingml/2006/main" w="0">
            <a:solidFill>
              <a:srgbClr val="C58B2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88C0C-687E-425E-9954-B8A848B7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24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8B2E"/>
          </a:solidFill>
          <a:ln xmlns:a="http://schemas.openxmlformats.org/drawingml/2006/main" w="0">
            <a:solidFill>
              <a:srgbClr val="C58B2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FD000-70F9-4297-B3E5-EA4BFF8D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57425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9F5F5-7DC7-49FC-9424-711EE94A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19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621A80-83ED-4FE1-924E-11D70358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76500"/>
            <a:ext cx="190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0278D-F951-4434-A340-F88DD705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52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CB5DA-5199-4F49-A27E-09100993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72150"/>
            <a:ext cx="8667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Use careful language: consistent with microglial activation, not proof that Netrin directly activates microglia.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41D88-390B-4705-BEB0-35F923F3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6539874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89D72FAC-FB63-473F-BBE5-2A23AE2D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C1 VS C2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4B540-D1C5-4A01-826A-7DECD2CF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Netrin fine-tunes both directions; development is activation-skewed.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EB252-12C6-486D-8600-764D791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9149A-6126-4248-AABE-C38B15CB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CB087-20DE-418E-9A56-19757CB6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GSEA GO BP significant terms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226F3-9A7C-4D85-8E39-9ECAF310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C1 activated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AB616-1710-4978-A50B-6EF6586A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314325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3736A-9FBD-4CCA-8167-5295AC64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954948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696FB-91CC-4D5A-8975-468E9C5A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19325"/>
            <a:ext cx="666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1B1D22"/>
                </a:solidFill>
                <a:latin typeface="Aptos"/>
                <a:ea typeface="Aptos"/>
                <a:cs typeface="Aptos"/>
              </a:rPr>
              <a:t>255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EFD9B-8008-40AF-887B-AE5608B4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C1 suppressed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3C24D-D06A-4160-861B-F0149C2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314325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A4A3A-AF3A-4D8F-8CB6-9EBE2CF6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732621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B7AB8"/>
          </a:solidFill>
          <a:ln xmlns:a="http://schemas.openxmlformats.org/drawingml/2006/main" w="0">
            <a:solidFill>
              <a:srgbClr val="3B7AB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02A50-6D02-479C-AD5F-A1661B8D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666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1B1D22"/>
                </a:solidFill>
                <a:latin typeface="Aptos"/>
                <a:ea typeface="Aptos"/>
                <a:cs typeface="Aptos"/>
              </a:rPr>
              <a:t>226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9C43F-FF8D-4F2B-9242-5B4C366C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C2 activated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E66DE-0D8E-40EA-A8FE-2554C1C9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314325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5FBBB-953E-4D3E-885B-94F9A432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314325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58B2E"/>
          </a:solidFill>
          <a:ln xmlns:a="http://schemas.openxmlformats.org/drawingml/2006/main" w="0">
            <a:solidFill>
              <a:srgbClr val="C58B2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BB212-8DC2-4FBF-AEAE-5883D799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43325"/>
            <a:ext cx="666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1B1D22"/>
                </a:solidFill>
                <a:latin typeface="Aptos"/>
                <a:ea typeface="Aptos"/>
                <a:cs typeface="Aptos"/>
              </a:rPr>
              <a:t>410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C3CAC-3739-422B-A77A-DB72D013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C2 suppressed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D3CD3-267E-4C0C-9FC5-EBD85ADE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314325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04A7D-0C9C-4AC9-8FC8-EA32239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950641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B7AB8"/>
          </a:solidFill>
          <a:ln xmlns:a="http://schemas.openxmlformats.org/drawingml/2006/main" w="0">
            <a:solidFill>
              <a:srgbClr val="3B7A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33502-6EE8-4E72-9186-F5F8E01A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62450"/>
            <a:ext cx="666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1B1D22"/>
                </a:solidFill>
                <a:latin typeface="Aptos"/>
                <a:ea typeface="Aptos"/>
                <a:cs typeface="Aptos"/>
              </a:rPr>
              <a:t>124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E16FC-0323-4B0E-AAA6-01F224CB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19250"/>
            <a:ext cx="21907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DEG 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D3FA2-71FF-4E53-BB49-BD4640CC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47875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C1 strict DEGs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4307D4-5A8E-4DCF-A6A9-CE975B44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38375"/>
            <a:ext cx="314325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A4D62D-84B2-470E-95DB-F124FB76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38375"/>
            <a:ext cx="52563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2E7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1E9DD-12E3-4147-AF74-005ED255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19325"/>
            <a:ext cx="666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1B1D2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B9ADE-886C-42B1-93D9-A5D1FDC2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67000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5B6068"/>
                </a:solidFill>
                <a:latin typeface="Aptos"/>
                <a:ea typeface="Aptos"/>
                <a:cs typeface="Aptos"/>
              </a:rPr>
              <a:t>C2 strict DEGs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DCABBE-DDF4-4547-9D66-8A349B0E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314325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A3611A-A638-4CEE-98C4-5C1D4D27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314325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58B2E"/>
          </a:solidFill>
          <a:ln xmlns:a="http://schemas.openxmlformats.org/drawingml/2006/main" w="0">
            <a:solidFill>
              <a:srgbClr val="C58B2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C81E90-EFF0-42E1-8866-824B45CE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38450"/>
            <a:ext cx="666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1B1D22"/>
                </a:solidFill>
                <a:latin typeface="Aptos"/>
                <a:ea typeface="Aptos"/>
                <a:cs typeface="Aptos"/>
              </a:rPr>
              <a:t>1,495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9110CB-053E-4026-BA54-F0F27EAF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1524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Key message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A4C57A-0695-4CF6-A9E5-79B30A95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3714750" cy="800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800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The treatment contrast is not a mini-version of development. It is a focused bidirectional perturbation laid on top of a rapidly maturing culture.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7D8DDA-38AB-4634-B0ED-294DD3C0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5474064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689789BD-25AA-43AF-81B0-930474D0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2A02F-A9AD-4A0A-B83C-C5186FBF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The analysis is strong for transcriptomic patterns, but not yet causal cell biology.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DACA5-9631-4706-B516-E44760D9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0AA08-ACB0-40F3-B68D-6B7F303B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1BCD9-3E5D-4AAD-A6B8-1F11337E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76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08876-6C3E-469A-B062-C7D88DC7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7905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875">
                <a:solidFill>
                  <a:srgbClr val="1B1D22"/>
                </a:solidFill>
                <a:latin typeface="Aptos"/>
                <a:ea typeface="Aptos"/>
                <a:cs typeface="Aptos"/>
              </a:rPr>
              <a:t>Mixed culture + bulk RNA-seq cannot directly assign cell-of-origin.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B10A5-1A7C-4D46-A38D-0E43A329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27108-9B6B-4DA9-9E62-0F101167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7905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875">
                <a:solidFill>
                  <a:srgbClr val="1B1D22"/>
                </a:solidFill>
                <a:latin typeface="Aptos"/>
                <a:ea typeface="Aptos"/>
                <a:cs typeface="Aptos"/>
              </a:rPr>
              <a:t>C2 confounds 24 h development with vehicle exposure and cell-composition shifts.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E363C-FFCC-493E-BBBF-9357D048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623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D6B38-7DDB-46D4-8A9D-AE05F546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7905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875">
                <a:solidFill>
                  <a:srgbClr val="1B1D22"/>
                </a:solidFill>
                <a:latin typeface="Aptos"/>
                <a:ea typeface="Aptos"/>
                <a:cs typeface="Aptos"/>
              </a:rPr>
              <a:t>Immune activation versus microglial number is unresolved.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4B26A-478E-4A4C-BF4E-E768EE58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F4D43-B720-4D0E-9DB8-D372004B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7905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875">
                <a:solidFill>
                  <a:srgbClr val="1B1D22"/>
                </a:solidFill>
                <a:latin typeface="Aptos"/>
                <a:ea typeface="Aptos"/>
                <a:cs typeface="Aptos"/>
              </a:rPr>
              <a:t>Direct versus indirect effects require receptor or cell-type perturbation.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B99B9-0A81-4811-994B-83711BC0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12350048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1-label">
            <a:extLst xmlns:a="http://schemas.openxmlformats.org/drawingml/2006/main">
              <a:ext uri="{FF2B5EF4-FFF2-40B4-BE49-F238E27FC236}">
                <a16:creationId xmlns:a16="http://schemas.microsoft.com/office/drawing/2014/main" id="{F3880C17-2DFD-4BCD-8FC1-70383002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E7D68"/>
                </a:solidFill>
                <a:latin typeface="Aptos"/>
                <a:ea typeface="Aptos"/>
                <a:cs typeface="Aptos"/>
              </a:rPr>
              <a:t>NEXT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95ECA-BD19-46A3-AB7F-3B8C6AE7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382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2625" b="1">
                <a:solidFill>
                  <a:srgbClr val="1B1D22"/>
                </a:solidFill>
                <a:latin typeface="Aptos Display"/>
                <a:ea typeface="Aptos Display"/>
                <a:cs typeface="Aptos Display"/>
              </a:rPr>
              <a:t>The follow-up should separate cell source, receptor dependence and immune contamination.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0CC3B-1E80-4F8E-A371-82834BEA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2B2"/>
          </a:solidFill>
          <a:ln xmlns:a="http://schemas.openxmlformats.org/drawingml/2006/main" w="0">
            <a:solidFill>
              <a:srgbClr val="CBC2B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C7865-7D82-4ED7-8414-A4880FB7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5B606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068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14E7E-5D61-4747-9D28-B2F83061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4095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2E7D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F78A5-93E3-4609-A9A5-6A40B748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669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00" b="1">
                <a:solidFill>
                  <a:srgbClr val="2E7D68"/>
                </a:solidFill>
                <a:latin typeface="Aptos Display"/>
                <a:ea typeface="Aptos Display"/>
                <a:cs typeface="Aptos Display"/>
              </a:rPr>
              <a:t>Cell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57A3F-F375-464D-BC12-353E9CA0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66950"/>
            <a:ext cx="3429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00">
                <a:solidFill>
                  <a:srgbClr val="5B6068"/>
                </a:solidFill>
                <a:latin typeface="Aptos"/>
                <a:ea typeface="Aptos"/>
                <a:cs typeface="Aptos"/>
              </a:rPr>
              <a:t>scRNA-seq or sorted neurons / glia to assign modules.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59424-2B4F-4310-BAAB-245CA5B3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76400"/>
            <a:ext cx="4095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3B7AB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0F2BB-CE45-4F79-97FD-DF8D57E7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00" b="1">
                <a:solidFill>
                  <a:srgbClr val="3B7AB8"/>
                </a:solidFill>
                <a:latin typeface="Aptos Display"/>
                <a:ea typeface="Aptos Display"/>
                <a:cs typeface="Aptos Display"/>
              </a:rPr>
              <a:t>Protein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3DC73-519F-495C-8293-C362E905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3429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00">
                <a:solidFill>
                  <a:srgbClr val="5B6068"/>
                </a:solidFill>
                <a:latin typeface="Aptos"/>
                <a:ea typeface="Aptos"/>
                <a:cs typeface="Aptos"/>
              </a:rPr>
              <a:t>IHC or immunostaining for microglial activation and composition.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AC6B9-DD3C-423E-890E-DB1B9C6A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4095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C58B2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3C8C5-7B48-4C0A-8435-C04864BA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00" b="1">
                <a:solidFill>
                  <a:srgbClr val="C58B2E"/>
                </a:solidFill>
                <a:latin typeface="Aptos Display"/>
                <a:ea typeface="Aptos Display"/>
                <a:cs typeface="Aptos Display"/>
              </a:rPr>
              <a:t>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67E0F-161C-492F-8013-9EFC6B4A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3429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00">
                <a:solidFill>
                  <a:srgbClr val="5B6068"/>
                </a:solidFill>
                <a:latin typeface="Aptos"/>
                <a:ea typeface="Aptos"/>
                <a:cs typeface="Aptos"/>
              </a:rPr>
              <a:t>DCC / UNC5 / Neogenin perturbation to test receptor dependence.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16E91-9092-4C09-A847-A96BA22C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86150"/>
            <a:ext cx="4095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C73E3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E340C-0C37-42C7-9F24-1DDC2823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00" b="1">
                <a:solidFill>
                  <a:srgbClr val="C73E3E"/>
                </a:solidFill>
                <a:latin typeface="Aptos Display"/>
                <a:ea typeface="Aptos Display"/>
                <a:cs typeface="Aptos Display"/>
              </a:rPr>
              <a:t>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59B36-3478-493D-ABF1-DF056E33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76700"/>
            <a:ext cx="3429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200">
                <a:solidFill>
                  <a:srgbClr val="5B6068"/>
                </a:solidFill>
                <a:latin typeface="Aptos"/>
                <a:ea typeface="Aptos"/>
                <a:cs typeface="Aptos"/>
              </a:rPr>
              <a:t>LPS controls, polymyxin B or TLR inhibition for immune-signature caveat.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65AE6-3ACB-4AD7-A0BF-9F0BE11E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6191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>
                <a:solidFill>
                  <a:srgbClr val="5B6068"/>
                </a:solidFill>
                <a:latin typeface="Aptos"/>
                <a:ea typeface="Aptos"/>
                <a:cs typeface="Aptos"/>
              </a:rPr>
              <a:t>Netrin-1 RNA-seq | primary rat cortical cultures | June 2026</a:t>
            </a:r>
          </a:p>
        </p:txBody>
      </p:sp>
    </p:spTree>
    <p:extLst>
      <p:ext uri="{BB962C8B-B14F-4D97-AF65-F5344CB8AC3E}">
        <p14:creationId xmlns:p14="http://schemas.microsoft.com/office/powerpoint/2010/main" val="5444279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6362D-FEEB-4325-BC7B-98559EE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4F06C-C5DC-4899-BCD5-42B0CFBA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905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A7CDBD"/>
                </a:solidFill>
                <a:latin typeface="Aptos"/>
                <a:ea typeface="Aptos"/>
                <a:cs typeface="Aptos"/>
              </a:rPr>
              <a:t>Take-home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35B89-37FE-45AC-9350-F0A784D6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858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Netrin-1 produces a focused two-module transcriptional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2AC77-2357-499D-9CBF-7B58C17C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3B2DD-2CB6-44F4-840B-1B8D3942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667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D06AE-DA9F-4678-93EF-AEEE5D59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86050"/>
            <a:ext cx="2952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Neuronal program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85DCF-BED9-4A94-A009-8DAC0223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48000"/>
            <a:ext cx="723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>
                <a:solidFill>
                  <a:srgbClr val="D7D5CE"/>
                </a:solidFill>
                <a:latin typeface="Aptos"/>
                <a:ea typeface="Aptos"/>
                <a:cs typeface="Aptos"/>
              </a:rPr>
              <a:t>Synapse and axon-guidance pathways are activated at gene-set level.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84E80-7612-4387-8938-7CD3EEBF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7AB8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19017-2926-4B0C-AD0D-4B616EED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667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A6A7C-6EF6-4E2E-A14B-4B6EC396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52850"/>
            <a:ext cx="2952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Suppressed program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C8A79-32EF-4C18-A7F0-F80FD8E1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14800"/>
            <a:ext cx="723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>
                <a:solidFill>
                  <a:srgbClr val="D7D5CE"/>
                </a:solidFill>
                <a:latin typeface="Aptos"/>
                <a:ea typeface="Aptos"/>
                <a:cs typeface="Aptos"/>
              </a:rPr>
              <a:t>Cell cycle / progenitor-associated programs are reduced.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9CF07-A780-4305-A6E2-6E69534E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116E6-77D8-4FD2-8A70-D243FD4F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2667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68C17-800A-4482-9FBD-0FB34210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2952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Immune/glial echo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2FD08-2BD5-454D-8754-66E47DF3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81600"/>
            <a:ext cx="723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>
                <a:solidFill>
                  <a:srgbClr val="D7D5CE"/>
                </a:solidFill>
                <a:latin typeface="Aptos"/>
                <a:ea typeface="Aptos"/>
                <a:cs typeface="Aptos"/>
              </a:rPr>
              <a:t>Strong immune DEGs are best interpreted as indirect or cell-type-linked.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550A6-A687-4944-9776-F63CB9CC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38100" tIns="28575" rIns="38100" bIns="28575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75">
                <a:solidFill>
                  <a:srgbClr val="C6C2B8"/>
                </a:solidFill>
                <a:latin typeface="Aptos"/>
                <a:ea typeface="Aptos"/>
                <a:cs typeface="Aptos"/>
              </a:rPr>
              <a:t>[Presenter] | [Affiliation] | June 2026</a:t>
            </a:r>
          </a:p>
        </p:txBody>
      </p:sp>
    </p:spTree>
    <p:extLst>
      <p:ext uri="{BB962C8B-B14F-4D97-AF65-F5344CB8AC3E}">
        <p14:creationId xmlns:p14="http://schemas.microsoft.com/office/powerpoint/2010/main" val="114726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2026-06-14T21:29:30.8260000Z</dcterms:created>
  <dcterms:modified xsi:type="dcterms:W3CDTF">2026-06-14T21:29:30.8260000Z</dcterms:modified>
</coreProperties>
</file>