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2e4016e88486b" /><Relationship Type="http://schemas.openxmlformats.org/officeDocument/2006/relationships/extended-properties" Target="/docProps/app.xml" Id="R044fcd38f9ed4659" /><Relationship Type="http://schemas.openxmlformats.org/officeDocument/2006/relationships/officeDocument" Target="/ppt/presentation.xml" Id="R5757f871e39942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a5a7445c4a41ac"/>
  </p:sldMasterIdLst>
  <p:notesMasterIdLst>
    <p:notesMasterId xmlns:r="http://schemas.openxmlformats.org/officeDocument/2006/relationships" r:id="R418454c499ef4073"/>
  </p:notesMasterIdLst>
  <p:sldIdLst>
    <p:sldId xmlns:r="http://schemas.openxmlformats.org/officeDocument/2006/relationships" id="256" r:id="R5489a2ef049a4da3"/>
    <p:sldId xmlns:r="http://schemas.openxmlformats.org/officeDocument/2006/relationships" id="257" r:id="Rdfb6f7741ea64a16"/>
    <p:sldId xmlns:r="http://schemas.openxmlformats.org/officeDocument/2006/relationships" id="258" r:id="R6089f975694e4b4d"/>
    <p:sldId xmlns:r="http://schemas.openxmlformats.org/officeDocument/2006/relationships" id="259" r:id="Re17b5022a2124283"/>
    <p:sldId xmlns:r="http://schemas.openxmlformats.org/officeDocument/2006/relationships" id="260" r:id="Ree0f518aa8b340d7"/>
    <p:sldId xmlns:r="http://schemas.openxmlformats.org/officeDocument/2006/relationships" id="261" r:id="R5db6f68c3d4e4d83"/>
    <p:sldId xmlns:r="http://schemas.openxmlformats.org/officeDocument/2006/relationships" id="262" r:id="Rdc2b378c8f854a2e"/>
    <p:sldId xmlns:r="http://schemas.openxmlformats.org/officeDocument/2006/relationships" id="263" r:id="R9d70cfc95f664ba3"/>
    <p:sldId xmlns:r="http://schemas.openxmlformats.org/officeDocument/2006/relationships" id="264" r:id="Rc7b5ae0261c54a48"/>
    <p:sldId xmlns:r="http://schemas.openxmlformats.org/officeDocument/2006/relationships" id="265" r:id="R11af211c6caa4e8d"/>
    <p:sldId xmlns:r="http://schemas.openxmlformats.org/officeDocument/2006/relationships" id="266" r:id="R06067455e5524f09"/>
    <p:sldId xmlns:r="http://schemas.openxmlformats.org/officeDocument/2006/relationships" id="267" r:id="R651363a7b8e649f2"/>
    <p:sldId xmlns:r="http://schemas.openxmlformats.org/officeDocument/2006/relationships" id="268" r:id="R39a11beaacf94b8e"/>
    <p:sldId xmlns:r="http://schemas.openxmlformats.org/officeDocument/2006/relationships" id="269" r:id="Rf45bbb0844c843d2"/>
    <p:sldId xmlns:r="http://schemas.openxmlformats.org/officeDocument/2006/relationships" id="270" r:id="Rc06f53369bba4afd"/>
    <p:sldId xmlns:r="http://schemas.openxmlformats.org/officeDocument/2006/relationships" id="271" r:id="R76d0e46104b74825"/>
    <p:sldId xmlns:r="http://schemas.openxmlformats.org/officeDocument/2006/relationships" id="272" r:id="R5405096b66f94542"/>
    <p:sldId xmlns:r="http://schemas.openxmlformats.org/officeDocument/2006/relationships" id="273" r:id="Ra6cc2f1d161e4782"/>
    <p:sldId xmlns:r="http://schemas.openxmlformats.org/officeDocument/2006/relationships" id="274" r:id="R9a44a21c6f0c48b2"/>
    <p:sldId xmlns:r="http://schemas.openxmlformats.org/officeDocument/2006/relationships" id="275" r:id="R3589821d8a2a4254"/>
    <p:sldId xmlns:r="http://schemas.openxmlformats.org/officeDocument/2006/relationships" id="276" r:id="Rdfe6df5271c5458b"/>
    <p:sldId xmlns:r="http://schemas.openxmlformats.org/officeDocument/2006/relationships" id="277" r:id="Rb271db5c418a4dde"/>
    <p:sldId xmlns:r="http://schemas.openxmlformats.org/officeDocument/2006/relationships" id="278" r:id="Rd6d5ca9c3fe943fa"/>
    <p:sldId xmlns:r="http://schemas.openxmlformats.org/officeDocument/2006/relationships" id="279" r:id="R491e7231755046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4642ac41449d0" /><Relationship Type="http://schemas.openxmlformats.org/officeDocument/2006/relationships/slideMaster" Target="/ppt/slideMasters/slideMaster1.xml" Id="R6ca5a7445c4a41ac" /><Relationship Type="http://schemas.openxmlformats.org/officeDocument/2006/relationships/notesMaster" Target="/ppt/notesMasters/notesMaster1.xml" Id="R418454c499ef4073" /><Relationship Type="http://schemas.openxmlformats.org/officeDocument/2006/relationships/presProps" Target="/ppt/presProps.xml" Id="R5e83d71904644aa0" /><Relationship Type="http://schemas.openxmlformats.org/officeDocument/2006/relationships/tableStyles" Target="/ppt/tableStyles.xml" Id="R974f002ad2bd495b" /><Relationship Type="http://schemas.openxmlformats.org/officeDocument/2006/relationships/slide" Target="/ppt/slides/slide1.xml" Id="R5489a2ef049a4da3" /><Relationship Type="http://schemas.openxmlformats.org/officeDocument/2006/relationships/slide" Target="/ppt/slides/slide2.xml" Id="Rdfb6f7741ea64a16" /><Relationship Type="http://schemas.openxmlformats.org/officeDocument/2006/relationships/slide" Target="/ppt/slides/slide3.xml" Id="R6089f975694e4b4d" /><Relationship Type="http://schemas.openxmlformats.org/officeDocument/2006/relationships/slide" Target="/ppt/slides/slide4.xml" Id="Re17b5022a2124283" /><Relationship Type="http://schemas.openxmlformats.org/officeDocument/2006/relationships/slide" Target="/ppt/slides/slide5.xml" Id="Ree0f518aa8b340d7" /><Relationship Type="http://schemas.openxmlformats.org/officeDocument/2006/relationships/slide" Target="/ppt/slides/slide6.xml" Id="R5db6f68c3d4e4d83" /><Relationship Type="http://schemas.openxmlformats.org/officeDocument/2006/relationships/slide" Target="/ppt/slides/slide7.xml" Id="Rdc2b378c8f854a2e" /><Relationship Type="http://schemas.openxmlformats.org/officeDocument/2006/relationships/slide" Target="/ppt/slides/slide8.xml" Id="R9d70cfc95f664ba3" /><Relationship Type="http://schemas.openxmlformats.org/officeDocument/2006/relationships/slide" Target="/ppt/slides/slide9.xml" Id="Rc7b5ae0261c54a48" /><Relationship Type="http://schemas.openxmlformats.org/officeDocument/2006/relationships/slide" Target="/ppt/slides/slide10.xml" Id="R11af211c6caa4e8d" /><Relationship Type="http://schemas.openxmlformats.org/officeDocument/2006/relationships/slide" Target="/ppt/slides/slide11.xml" Id="R06067455e5524f09" /><Relationship Type="http://schemas.openxmlformats.org/officeDocument/2006/relationships/slide" Target="/ppt/slides/slide12.xml" Id="R651363a7b8e649f2" /><Relationship Type="http://schemas.openxmlformats.org/officeDocument/2006/relationships/slide" Target="/ppt/slides/slide13.xml" Id="R39a11beaacf94b8e" /><Relationship Type="http://schemas.openxmlformats.org/officeDocument/2006/relationships/slide" Target="/ppt/slides/slide14.xml" Id="Rf45bbb0844c843d2" /><Relationship Type="http://schemas.openxmlformats.org/officeDocument/2006/relationships/slide" Target="/ppt/slides/slide15.xml" Id="Rc06f53369bba4afd" /><Relationship Type="http://schemas.openxmlformats.org/officeDocument/2006/relationships/slide" Target="/ppt/slides/slide16.xml" Id="R76d0e46104b74825" /><Relationship Type="http://schemas.openxmlformats.org/officeDocument/2006/relationships/slide" Target="/ppt/slides/slide17.xml" Id="R5405096b66f94542" /><Relationship Type="http://schemas.openxmlformats.org/officeDocument/2006/relationships/slide" Target="/ppt/slides/slide18.xml" Id="Ra6cc2f1d161e4782" /><Relationship Type="http://schemas.openxmlformats.org/officeDocument/2006/relationships/slide" Target="/ppt/slides/slide19.xml" Id="R9a44a21c6f0c48b2" /><Relationship Type="http://schemas.openxmlformats.org/officeDocument/2006/relationships/slide" Target="/ppt/slides/slide20.xml" Id="R3589821d8a2a4254" /><Relationship Type="http://schemas.openxmlformats.org/officeDocument/2006/relationships/slide" Target="/ppt/slides/slide21.xml" Id="Rdfe6df5271c5458b" /><Relationship Type="http://schemas.openxmlformats.org/officeDocument/2006/relationships/slide" Target="/ppt/slides/slide22.xml" Id="Rb271db5c418a4dde" /><Relationship Type="http://schemas.openxmlformats.org/officeDocument/2006/relationships/slide" Target="/ppt/slides/slide23.xml" Id="Rd6d5ca9c3fe943fa" /><Relationship Type="http://schemas.openxmlformats.org/officeDocument/2006/relationships/slide" Target="/ppt/slides/slide24.xml" Id="R491e7231755046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1a85df8ad546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6794c12854c07" /><Relationship Type="http://schemas.openxmlformats.org/officeDocument/2006/relationships/notesMaster" Target="/ppt/notesMasters/notesMaster1.xml" Id="Rf4492f219ea340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df62a575947ae" /><Relationship Type="http://schemas.openxmlformats.org/officeDocument/2006/relationships/notesMaster" Target="/ppt/notesMasters/notesMaster1.xml" Id="Rde91037cf21a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05ab5d6a444a7b" /><Relationship Type="http://schemas.openxmlformats.org/officeDocument/2006/relationships/notesMaster" Target="/ppt/notesMasters/notesMaster1.xml" Id="R48ae21b55a45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a03ffbd7024758" /><Relationship Type="http://schemas.openxmlformats.org/officeDocument/2006/relationships/notesMaster" Target="/ppt/notesMasters/notesMaster1.xml" Id="R5766b681d3144f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3631c445ba4330" /><Relationship Type="http://schemas.openxmlformats.org/officeDocument/2006/relationships/notesMaster" Target="/ppt/notesMasters/notesMaster1.xml" Id="Rf16f151fd80e4b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652014366745d7" /><Relationship Type="http://schemas.openxmlformats.org/officeDocument/2006/relationships/notesMaster" Target="/ppt/notesMasters/notesMaster1.xml" Id="Recde5aea3a234a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3e9a845fa44ecc" /><Relationship Type="http://schemas.openxmlformats.org/officeDocument/2006/relationships/notesMaster" Target="/ppt/notesMasters/notesMaster1.xml" Id="R66140fe203934a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f42273854e457d" /><Relationship Type="http://schemas.openxmlformats.org/officeDocument/2006/relationships/notesMaster" Target="/ppt/notesMasters/notesMaster1.xml" Id="Rd90a1618f5ac4b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086c91dcd24ec5" /><Relationship Type="http://schemas.openxmlformats.org/officeDocument/2006/relationships/notesMaster" Target="/ppt/notesMasters/notesMaster1.xml" Id="R5e3620a6478d45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eefbf3cbf749f9" /><Relationship Type="http://schemas.openxmlformats.org/officeDocument/2006/relationships/notesMaster" Target="/ppt/notesMasters/notesMaster1.xml" Id="R582c69b070f04a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06b717f89a4da8" /><Relationship Type="http://schemas.openxmlformats.org/officeDocument/2006/relationships/notesMaster" Target="/ppt/notesMasters/notesMaster1.xml" Id="R1d814d6c48894f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4d07b10262426b" /><Relationship Type="http://schemas.openxmlformats.org/officeDocument/2006/relationships/notesMaster" Target="/ppt/notesMasters/notesMaster1.xml" Id="Ra6241f45c74045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f8c8d4d6274fee" /><Relationship Type="http://schemas.openxmlformats.org/officeDocument/2006/relationships/notesMaster" Target="/ppt/notesMasters/notesMaster1.xml" Id="Ra6a09266f74448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06891e6f2349b0" /><Relationship Type="http://schemas.openxmlformats.org/officeDocument/2006/relationships/notesMaster" Target="/ppt/notesMasters/notesMaster1.xml" Id="R727f7288555443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33e8423573485f" /><Relationship Type="http://schemas.openxmlformats.org/officeDocument/2006/relationships/notesMaster" Target="/ppt/notesMasters/notesMaster1.xml" Id="R9a6ff6d0a4e14b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2237e8f62942e1" /><Relationship Type="http://schemas.openxmlformats.org/officeDocument/2006/relationships/notesMaster" Target="/ppt/notesMasters/notesMaster1.xml" Id="Re3d9e19799d740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6cb037b9064ac8" /><Relationship Type="http://schemas.openxmlformats.org/officeDocument/2006/relationships/notesMaster" Target="/ppt/notesMasters/notesMaster1.xml" Id="Rc60d99c790e14a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96d5b3006f4055" /><Relationship Type="http://schemas.openxmlformats.org/officeDocument/2006/relationships/notesMaster" Target="/ppt/notesMasters/notesMaster1.xml" Id="R77fe51a365f34b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68beeedfd04cd0" /><Relationship Type="http://schemas.openxmlformats.org/officeDocument/2006/relationships/notesMaster" Target="/ppt/notesMasters/notesMaster1.xml" Id="Rc06c1cb6df7e4d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9e0c63aac74afe" /><Relationship Type="http://schemas.openxmlformats.org/officeDocument/2006/relationships/notesMaster" Target="/ppt/notesMasters/notesMaster1.xml" Id="Ra006c049e02949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08ea826a284367" /><Relationship Type="http://schemas.openxmlformats.org/officeDocument/2006/relationships/notesMaster" Target="/ppt/notesMasters/notesMaster1.xml" Id="Ra72bf3c8fd7848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8707cebe6b54307" /><Relationship Type="http://schemas.openxmlformats.org/officeDocument/2006/relationships/notesMaster" Target="/ppt/notesMasters/notesMaster1.xml" Id="R41bc2a5cffec493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af79c2de9b4744" /><Relationship Type="http://schemas.openxmlformats.org/officeDocument/2006/relationships/notesMaster" Target="/ppt/notesMasters/notesMaster1.xml" Id="R4e61dc7f04e5442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e4a46644154e9b" /><Relationship Type="http://schemas.openxmlformats.org/officeDocument/2006/relationships/notesMaster" Target="/ppt/notesMasters/notesMaster1.xml" Id="Rb52ba7787f5c4d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开场：这是一版组会 result update，不是完整答辩。重点讲目前 RNA-seq 分析已经完成到哪里、最关键结果是什么、以及下一步实验/分析怎么推进。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状态页。直接告诉大家：这次不是还在做 QC，而是主结果已经形成。要讨论的不是有没有信号，而是如何解释这个信号，尤其是 bulk mixed culture 的细胞来源问题。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设计页。C1 是 Netrin treatment effect；C2 是 DIV1 到 DIV2 的 24 小时发育/vehicle 背景。统计模型里 batch 作为协变量，校正矩阵只用作 PCA 和 heatmap 可视化。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QC 只讲结论：样本相关性高，没有 outlier；PCA 校正后能看到 DIV2 与 DIV2+Netrin 在 PC2 分开，说明主对比有可见信号。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过渡页。下面进入 C1 主结果。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火山图：C1 的 DEG 数量不大，STRICT 只有 25 个，7 上调 18 下调；RELAXED 66 个。结论是 focused response，不是全转录组大重塑。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这页讲单基因模块。免疫相关基因上调，Olig/progenitor/glial 相关基因下调。重点提醒：这些 top gene 不是全都神经元内在信号，所以后面必须用 GSEA 和 marker 分析来归因。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GSEA 是主结论。虽然单个 DEG 不多，但全排序显示突触、axon guidance、exocytosis、learning/memory 上调；cell cycle、DNA replication、chromosome segregation 下调。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模型页：把 C1 解释成 two-module response。上调端是神经元功能通路，尤其 axon guidance 跨 GO/KEGG 收敛；下调端是 cell cycle/progenitor。不要说简单加速成熟，要说 bidirectional tuning。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Pattern 页强调阴性结果：P1=0，没有基因沿 DIV1→DIV2→Netrin 单调上升。P5 最大，但 Olig1/Olig2 是胶质/OPC marker，所以不能直接说神经元成熟被加速。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 C2。C2 不是主问题，但帮助理解 24 小时背景和细胞组成变化。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C2 火山图：STRICT 1495，RELAXED 4636，比 C1 大得多。这个对比说明发育/时间效应是主轴。Olig1 在 C2 上调但在 C1 下调，支持 Netrin 不是沿发育方向简单推进。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C2 pathway 页。DIV2 富集突触传递、递质转运、可塑性、GABA/glutamate synapse；DIV1 富集染色质、核糖体、DNA 修复等前体程序。这是合理的发育成熟背景。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热图页：DIV1 独立，DIV2 与 DIV2+Netrin 更接近。说明发育主导整体结构，Netrin 是在 DIV2 状态上的较小扰动。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进入细胞来源分析。这里是组会上最值得讨论的部分。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C2 marker 图：macroglia/OPC 和 astrocyte 相关 marker 上升，microglia marker 下降，neuron marker 近似稳定。这个结果提示 C2 的大量 DEG 包含细胞组成变化。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C1 marker 图：效应基因如 C3/Apoe 等显著，但 microglia 身份 marker 多为趋势并且误差大。因此最好说 consistent with microglial activation，而不是直接说 Netrin activates microglia。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工作模型页。神经元轴最可靠：受体丰富，axon guidance/synapse 通路上调。免疫轴是真实信号，但来源和因果有限，可能是神经元介导的间接 microglia activation。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整合页。C1 的 GO/KEGG 基本双向平衡；C2 明显偏激活。这一页把主结论落稳：development 是大规模 activation，Netrin 是双向微调。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最后页。建议把讨论引向下一步：如果资源有限，哪个验证路线最快把模型变成机制？单细胞/分选解决来源，IHC 验证 marker，受体扰动验证直接依赖，LPS/TLR 控制排除免疫污染。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备份页开始。正式组会可以不讲，问到 ORA 或热图细节时再用。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 ORA GO。输入是 C2 strict DEG 的 entrez 子集：up 985、down 356；GO simplify 后 up 160、down 91。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 KEGG ORA。注意 KEGG disease-name caveat：不是疾病状态，而是共享免疫/补体/感染相关机制。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 C1 heatmap。可用于回答 batch correction 影响；主图和 raw VST 都能看到两模块结构。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2a9112e124a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3840378d104129" /><Relationship Type="http://schemas.openxmlformats.org/officeDocument/2006/relationships/slideLayout" Target="/ppt/slideLayouts/slideLayout1.xml" Id="R0ded500de41143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ed500de41143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d443836634eb3" /><Relationship Type="http://schemas.openxmlformats.org/officeDocument/2006/relationships/notesSlide" Target="/ppt/notesSlides/notesSlide1.xml" Id="R4ba192ec94c64f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895a45b6248c0" /><Relationship Type="http://schemas.openxmlformats.org/officeDocument/2006/relationships/notesSlide" Target="/ppt/notesSlides/notesSlide2.xml" Id="Rb1d92af0b0fe4f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d9d23b737456f" /><Relationship Type="http://schemas.openxmlformats.org/officeDocument/2006/relationships/notesSlide" Target="/ppt/notesSlides/notesSlide3.xml" Id="R190a3924a07e49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56227b32543e5" /><Relationship Type="http://schemas.openxmlformats.org/officeDocument/2006/relationships/image" Target="/ppt/media/image.png" Id="R9398f6aae453400a" /><Relationship Type="http://schemas.openxmlformats.org/officeDocument/2006/relationships/image" Target="/ppt/media/image2.png" Id="R53aa7c5420874e41" /><Relationship Type="http://schemas.openxmlformats.org/officeDocument/2006/relationships/notesSlide" Target="/ppt/notesSlides/notesSlide4.xml" Id="R4a2e7eb300414e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c19c177af484b" /><Relationship Type="http://schemas.openxmlformats.org/officeDocument/2006/relationships/notesSlide" Target="/ppt/notesSlides/notesSlide5.xml" Id="Rae1c00f06c3344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550c4aea04961" /><Relationship Type="http://schemas.openxmlformats.org/officeDocument/2006/relationships/image" Target="/ppt/media/image3.png" Id="Rea7ccae2fe95459b" /><Relationship Type="http://schemas.openxmlformats.org/officeDocument/2006/relationships/notesSlide" Target="/ppt/notesSlides/notesSlide6.xml" Id="R293c05f1727643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9388b2bbb48af" /><Relationship Type="http://schemas.openxmlformats.org/officeDocument/2006/relationships/image" Target="/ppt/media/image4.png" Id="Re21d2534de9c4281" /><Relationship Type="http://schemas.openxmlformats.org/officeDocument/2006/relationships/notesSlide" Target="/ppt/notesSlides/notesSlide7.xml" Id="Rb5bf1bdb134546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56ad3099448d5" /><Relationship Type="http://schemas.openxmlformats.org/officeDocument/2006/relationships/image" Target="/ppt/media/image5.png" Id="Rddc01fa9f6c74cbb" /><Relationship Type="http://schemas.openxmlformats.org/officeDocument/2006/relationships/image" Target="/ppt/media/image6.png" Id="R8eeefd5cd5b34f0e" /><Relationship Type="http://schemas.openxmlformats.org/officeDocument/2006/relationships/notesSlide" Target="/ppt/notesSlides/notesSlide8.xml" Id="Re2e3535bd9904e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23f85a4dd4e34" /><Relationship Type="http://schemas.openxmlformats.org/officeDocument/2006/relationships/notesSlide" Target="/ppt/notesSlides/notesSlide9.xml" Id="R3b0b8ae8fb864c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51ae8ce644b36" /><Relationship Type="http://schemas.openxmlformats.org/officeDocument/2006/relationships/image" Target="/ppt/media/image7.png" Id="R30c00a93f8674c4d" /><Relationship Type="http://schemas.openxmlformats.org/officeDocument/2006/relationships/notesSlide" Target="/ppt/notesSlides/notesSlide10.xml" Id="R040478c51bc441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2cdea202d453a" /><Relationship Type="http://schemas.openxmlformats.org/officeDocument/2006/relationships/notesSlide" Target="/ppt/notesSlides/notesSlide11.xml" Id="R901ce127f83d42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7e269c8d14ef8" /><Relationship Type="http://schemas.openxmlformats.org/officeDocument/2006/relationships/image" Target="/ppt/media/image8.png" Id="R602ce50fdd334cc7" /><Relationship Type="http://schemas.openxmlformats.org/officeDocument/2006/relationships/notesSlide" Target="/ppt/notesSlides/notesSlide12.xml" Id="R80378ae05fc646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b20a2dd5b4fab" /><Relationship Type="http://schemas.openxmlformats.org/officeDocument/2006/relationships/image" Target="/ppt/media/image9.png" Id="Rf132f7abfa1a4f4f" /><Relationship Type="http://schemas.openxmlformats.org/officeDocument/2006/relationships/image" Target="/ppt/media/image10.png" Id="R9a3165b86f2b4c18" /><Relationship Type="http://schemas.openxmlformats.org/officeDocument/2006/relationships/notesSlide" Target="/ppt/notesSlides/notesSlide13.xml" Id="R167137382ba243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7cc2f7ea14e7d" /><Relationship Type="http://schemas.openxmlformats.org/officeDocument/2006/relationships/image" Target="/ppt/media/image11.png" Id="R2b7072faff4b4910" /><Relationship Type="http://schemas.openxmlformats.org/officeDocument/2006/relationships/image" Target="/ppt/media/image12.png" Id="Reb8f2a5fadc14aeb" /><Relationship Type="http://schemas.openxmlformats.org/officeDocument/2006/relationships/notesSlide" Target="/ppt/notesSlides/notesSlide14.xml" Id="Rde82b2ee5d3d48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a02e1327d404f" /><Relationship Type="http://schemas.openxmlformats.org/officeDocument/2006/relationships/notesSlide" Target="/ppt/notesSlides/notesSlide15.xml" Id="Rcb4114fee3794d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605435b964ffa" /><Relationship Type="http://schemas.openxmlformats.org/officeDocument/2006/relationships/image" Target="/ppt/media/image13.png" Id="Rbff86c03ab2c4eaa" /><Relationship Type="http://schemas.openxmlformats.org/officeDocument/2006/relationships/notesSlide" Target="/ppt/notesSlides/notesSlide16.xml" Id="R515aac58496a4f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a661e83a34e7e" /><Relationship Type="http://schemas.openxmlformats.org/officeDocument/2006/relationships/image" Target="/ppt/media/image14.png" Id="Rc7dc015865e4490e" /><Relationship Type="http://schemas.openxmlformats.org/officeDocument/2006/relationships/notesSlide" Target="/ppt/notesSlides/notesSlide17.xml" Id="R7af1db5c91634d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d5b863a6349a6" /><Relationship Type="http://schemas.openxmlformats.org/officeDocument/2006/relationships/notesSlide" Target="/ppt/notesSlides/notesSlide18.xml" Id="R29eb7385f0994c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1649354e740da" /><Relationship Type="http://schemas.openxmlformats.org/officeDocument/2006/relationships/notesSlide" Target="/ppt/notesSlides/notesSlide19.xml" Id="R92032fb5e8ea4c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0fb995ccb4d76" /><Relationship Type="http://schemas.openxmlformats.org/officeDocument/2006/relationships/notesSlide" Target="/ppt/notesSlides/notesSlide20.xml" Id="Rade58cb47a2843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6660931b94fbf" /><Relationship Type="http://schemas.openxmlformats.org/officeDocument/2006/relationships/notesSlide" Target="/ppt/notesSlides/notesSlide21.xml" Id="Rdb7b50938abd491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a1f98891e41df" /><Relationship Type="http://schemas.openxmlformats.org/officeDocument/2006/relationships/image" Target="/ppt/media/image15.png" Id="Rf9f80b501c574be6" /><Relationship Type="http://schemas.openxmlformats.org/officeDocument/2006/relationships/image" Target="/ppt/media/image16.png" Id="R01d874d378af492d" /><Relationship Type="http://schemas.openxmlformats.org/officeDocument/2006/relationships/notesSlide" Target="/ppt/notesSlides/notesSlide22.xml" Id="R9437f0b076224e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f4742f8784224" /><Relationship Type="http://schemas.openxmlformats.org/officeDocument/2006/relationships/image" Target="/ppt/media/image17.png" Id="R108cbfde4b2941b3" /><Relationship Type="http://schemas.openxmlformats.org/officeDocument/2006/relationships/image" Target="/ppt/media/image18.png" Id="R0b56651819364800" /><Relationship Type="http://schemas.openxmlformats.org/officeDocument/2006/relationships/notesSlide" Target="/ppt/notesSlides/notesSlide23.xml" Id="R60697295308e4e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d0ba4ac35486c" /><Relationship Type="http://schemas.openxmlformats.org/officeDocument/2006/relationships/image" Target="/ppt/media/image19.png" Id="R5fb211338b1640ce" /><Relationship Type="http://schemas.openxmlformats.org/officeDocument/2006/relationships/image" Target="/ppt/media/image20.png" Id="R6e97795187934ea0" /><Relationship Type="http://schemas.openxmlformats.org/officeDocument/2006/relationships/notesSlide" Target="/ppt/notesSlides/notesSlide24.xml" Id="R16f7277ce5b040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D29AC31E-F305-473E-81D7-251FC626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7318F0C-382F-48E1-834D-A80ABEE9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Netrin-1 RNA-seq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70A8785-405D-4D5E-B13B-8C8C7D51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E8E5D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0" i="0">
                <a:solidFill>
                  <a:srgbClr val="E8E5DC"/>
                </a:solidFill>
                <a:latin typeface="Aptos Display"/>
                <a:ea typeface="Aptos Display"/>
                <a:cs typeface="Aptos Display"/>
              </a:rPr>
              <a:t>Group Meeting Results Update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62726F-4B2D-43FF-8137-D5A9F969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9CDD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C9CDD2"/>
                </a:solidFill>
                <a:latin typeface="Aptos"/>
                <a:ea typeface="Aptos"/>
                <a:cs typeface="Aptos"/>
              </a:rPr>
              <a:t>Primary rat cortical cultures  |  DIV1 / DIV2 / DIV2 + Netrin-1  |  bulk RNA-seq</a:t>
            </a:r>
          </a:p>
        </p:txBody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5AFB9BE-37A2-45FE-BD0C-DF0457D6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D880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D88040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3ACB4BD-56D2-49C5-8B67-7DCBAC88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strict Netrin-responsive DEGs</a:t>
            </a:r>
          </a:p>
        </p:txBody>
      </p:sp>
      <p:sp>
        <p:nvSpPr>
          <p:cNvPr id="7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9DF950C-D4E3-456F-9E5F-192BAE68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4B9C9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4B9C9A"/>
                </a:solidFill>
                <a:latin typeface="Aptos Display"/>
                <a:ea typeface="Aptos Display"/>
                <a:cs typeface="Aptos Display"/>
              </a:rPr>
              <a:t>481 / 42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5BEC20E-CCF7-4440-B4F9-F31858A1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76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GO BP / KEGG GSEA terms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0E51712-1E3B-47DE-AD34-B6777248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49A4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C49A42"/>
                </a:solidFill>
                <a:latin typeface="Aptos Display"/>
                <a:ea typeface="Aptos Display"/>
                <a:cs typeface="Aptos Display"/>
              </a:rPr>
              <a:t>1,495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C730D9D-EFEB-4705-A93B-BE775880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strict developmental DEGs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685F8C-8403-463D-B3F9-A6A83379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BFC5C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BFC5CD"/>
                </a:solidFill>
                <a:latin typeface="Aptos"/>
                <a:ea typeface="Aptos"/>
                <a:cs typeface="Aptos"/>
              </a:rPr>
              <a:t>June 17, 2026</a:t>
            </a:r>
          </a:p>
        </p:txBody>
      </p:sp>
    </p:spTree>
    <p:extLst>
      <p:ext uri="{BB962C8B-B14F-4D97-AF65-F5344CB8AC3E}">
        <p14:creationId xmlns:p14="http://schemas.microsoft.com/office/powerpoint/2010/main" val="219860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E107EA7-3ADD-4779-B7D4-EB8C3C74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EFC2881-D743-46A3-B0B5-56718575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2D1048-F2E5-4FFF-A9E0-528DA33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CE470E-4789-492C-8A65-0795D39C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What is now complete?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73D2621-2F25-4221-9E22-DCA89D2E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The main Netrin contrast, developmental context, and cell-source interpretation are all ready for discussion.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21E0FE3-7A89-40F9-96D4-90671A92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A94359-4BF5-4B77-8939-4A4FC2A7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claim-card">
            <a:extLst xmlns:a="http://schemas.openxmlformats.org/drawingml/2006/main">
              <a:ext uri="{FF2B5EF4-FFF2-40B4-BE49-F238E27FC236}">
                <a16:creationId xmlns:a16="http://schemas.microsoft.com/office/drawing/2014/main" id="{03DA67AB-2325-427D-88D6-B50F8CBF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38150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9" name="claim-rule">
            <a:extLst xmlns:a="http://schemas.openxmlformats.org/drawingml/2006/main">
              <a:ext uri="{FF2B5EF4-FFF2-40B4-BE49-F238E27FC236}">
                <a16:creationId xmlns:a16="http://schemas.microsoft.com/office/drawing/2014/main" id="{520F7718-D626-4828-B737-E1E597A5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5A"/>
          </a:solidFill>
          <a:ln xmlns:a="http://schemas.openxmlformats.org/drawingml/2006/main" w="0">
            <a:solidFill>
              <a:srgbClr val="5B8F5A"/>
            </a:solidFill>
            <a:prstDash val="solid"/>
          </a:ln>
        </p:spPr>
      </p:sp>
      <p:sp>
        <p:nvSpPr>
          <p:cNvPr id="10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30F1F91F-A0EC-4784-8F6E-76610F2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8F5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B8F5A"/>
                </a:solidFill>
                <a:latin typeface="Aptos"/>
                <a:ea typeface="Aptos"/>
                <a:cs typeface="Aptos"/>
              </a:rPr>
              <a:t>Completed result blocks</a:t>
            </a:r>
          </a:p>
        </p:txBody>
      </p:sp>
      <p:sp>
        <p:nvSpPr>
          <p:cNvPr id="11" name="claim-body">
            <a:extLst xmlns:a="http://schemas.openxmlformats.org/drawingml/2006/main">
              <a:ext uri="{FF2B5EF4-FFF2-40B4-BE49-F238E27FC236}">
                <a16:creationId xmlns:a16="http://schemas.microsoft.com/office/drawing/2014/main" id="{3BA9A36F-FB18-41B2-BD93-D03CC810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3962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QC / PCA; C1 Netrin vs DIV2 DEG + GSEA; C2 DIV2 vs DIV1 DEG + ORA + GSEA; heatmaps; cell-type marker analysis.</a:t>
            </a:r>
          </a:p>
        </p:txBody>
      </p:sp>
      <p:sp>
        <p:nvSpPr>
          <p:cNvPr id="12" name="claim-card">
            <a:extLst xmlns:a="http://schemas.openxmlformats.org/drawingml/2006/main">
              <a:ext uri="{FF2B5EF4-FFF2-40B4-BE49-F238E27FC236}">
                <a16:creationId xmlns:a16="http://schemas.microsoft.com/office/drawing/2014/main" id="{9441FEE8-A3C2-4371-8B54-F591C70B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76450"/>
            <a:ext cx="4762500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3" name="claim-rule">
            <a:extLst xmlns:a="http://schemas.openxmlformats.org/drawingml/2006/main">
              <a:ext uri="{FF2B5EF4-FFF2-40B4-BE49-F238E27FC236}">
                <a16:creationId xmlns:a16="http://schemas.microsoft.com/office/drawing/2014/main" id="{66A7DCF2-ED56-4E60-85E4-48F780E7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7645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14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9A718FDC-D42B-4106-8575-3FDA5A4C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Main interpretation</a:t>
            </a:r>
          </a:p>
        </p:txBody>
      </p:sp>
      <p:sp>
        <p:nvSpPr>
          <p:cNvPr id="15" name="claim-body">
            <a:extLst xmlns:a="http://schemas.openxmlformats.org/drawingml/2006/main">
              <a:ext uri="{FF2B5EF4-FFF2-40B4-BE49-F238E27FC236}">
                <a16:creationId xmlns:a16="http://schemas.microsoft.com/office/drawing/2014/main" id="{F5EDE943-6DDB-45EB-810C-B95DD103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7950"/>
            <a:ext cx="4343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Netrin-1 produces a focused bidirectional response: synapse / axon-guidance programs rise while cell-cycle / progenitor programs fall.</a:t>
            </a:r>
          </a:p>
        </p:txBody>
      </p:sp>
      <p:sp>
        <p:nvSpPr>
          <p:cNvPr id="16" name="claim-card">
            <a:extLst xmlns:a="http://schemas.openxmlformats.org/drawingml/2006/main">
              <a:ext uri="{FF2B5EF4-FFF2-40B4-BE49-F238E27FC236}">
                <a16:creationId xmlns:a16="http://schemas.microsoft.com/office/drawing/2014/main" id="{F620404B-332E-4498-A937-0268A504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981075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7" name="claim-rule">
            <a:extLst xmlns:a="http://schemas.openxmlformats.org/drawingml/2006/main">
              <a:ext uri="{FF2B5EF4-FFF2-40B4-BE49-F238E27FC236}">
                <a16:creationId xmlns:a16="http://schemas.microsoft.com/office/drawing/2014/main" id="{AB7E8ECE-92F1-40A1-966A-2FBA2F05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  <a:prstDash val="solid"/>
          </a:ln>
        </p:spPr>
      </p:sp>
      <p:sp>
        <p:nvSpPr>
          <p:cNvPr id="18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FE80C3F1-4FDA-4FCE-98D4-5AB8C9B0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941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Key caveat</a:t>
            </a:r>
          </a:p>
        </p:txBody>
      </p:sp>
      <p:sp>
        <p:nvSpPr>
          <p:cNvPr id="19" name="claim-body">
            <a:extLst xmlns:a="http://schemas.openxmlformats.org/drawingml/2006/main">
              <a:ext uri="{FF2B5EF4-FFF2-40B4-BE49-F238E27FC236}">
                <a16:creationId xmlns:a16="http://schemas.microsoft.com/office/drawing/2014/main" id="{0085CB3F-AE01-4737-884B-324F4AB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Bulk mixed culture means top single-gene hits must be interpreted with cell-source guardrails, especially microglia and oligodendrocyte markers.</a:t>
            </a:r>
          </a:p>
        </p:txBody>
      </p:sp>
    </p:spTree>
    <p:extLst>
      <p:ext uri="{BB962C8B-B14F-4D97-AF65-F5344CB8AC3E}">
        <p14:creationId xmlns:p14="http://schemas.microsoft.com/office/powerpoint/2010/main" val="976762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CD4A6ABD-641C-42EB-B8D9-92B58409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498046A-525C-45A1-A16A-14481AE6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48272A5-A09F-412E-8DFA-79D1DBCC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STUDY SETUP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917833-F7A2-40A5-9073-01CE73D1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Two contrasts answer two different questions.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679402F-D5DE-4BFD-A63E-D2217942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C1 is the treatment result; C2 provides developmental scale and context.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D786B6E-31F3-41E2-85BC-4EF44016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E36145-77CD-4700-B904-0A51B2D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0D4ADCB1-6F69-4C81-AFC6-3CA0E58C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CD1E5"/>
            </a:solidFill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4750BD1-8B71-4B5A-9407-FCEA3E0B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2F8F3"/>
          </a:solidFill>
          <a:ln xmlns:a="http://schemas.openxmlformats.org/drawingml/2006/main" w="9525">
            <a:solidFill>
              <a:srgbClr val="BFD7BF"/>
            </a:solidFill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88CAC82A-1D68-4BFE-8062-1460D079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2860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7F2"/>
          </a:solidFill>
          <a:ln xmlns:a="http://schemas.openxmlformats.org/drawingml/2006/main" w="9525">
            <a:solidFill>
              <a:srgbClr val="E9C3A8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D5F199-C938-4949-99CD-18120CB7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DIV1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296AC80-3327-431A-92FF-05E3DBC2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B8F5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5B8F5A"/>
                </a:solidFill>
                <a:latin typeface="Aptos"/>
                <a:ea typeface="Aptos"/>
                <a:cs typeface="Aptos"/>
              </a:rPr>
              <a:t>DIV2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22E895B-169B-4409-A057-96FE892E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DIV2 + Netrin-1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FFA92DB-BB23-42F4-B096-49C5EF5C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n=3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D501079-9D57-4276-BABF-90ADA59E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003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n=3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E5EB67D-2B28-4E83-9ED5-39EFBD9C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n=3</a:t>
            </a:r>
          </a:p>
        </p:txBody>
      </p:sp>
      <p:sp>
        <p:nvSpPr>
          <p:cNvPr id="17" name="arrow-1">
            <a:extLst xmlns:a="http://schemas.openxmlformats.org/drawingml/2006/main">
              <a:ext uri="{FF2B5EF4-FFF2-40B4-BE49-F238E27FC236}">
                <a16:creationId xmlns:a16="http://schemas.microsoft.com/office/drawing/2014/main" id="{37F87126-09E6-47E1-A2CC-8A37B78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76500"/>
            <a:ext cx="4000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solidFill>
              <a:srgbClr val="D8D4CA"/>
            </a:solidFill>
            <a:prstDash val="solid"/>
          </a:ln>
        </p:spPr>
      </p:sp>
      <p:sp>
        <p:nvSpPr>
          <p:cNvPr id="18" name="arrow-2">
            <a:extLst xmlns:a="http://schemas.openxmlformats.org/drawingml/2006/main">
              <a:ext uri="{FF2B5EF4-FFF2-40B4-BE49-F238E27FC236}">
                <a16:creationId xmlns:a16="http://schemas.microsoft.com/office/drawing/2014/main" id="{61FB1BFD-69CC-4072-8588-AFFD68F5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400050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solidFill>
              <a:srgbClr val="D8D4CA"/>
            </a:solidFill>
            <a:prstDash val="solid"/>
          </a:ln>
        </p:spPr>
      </p:sp>
      <p:sp>
        <p:nvSpPr>
          <p:cNvPr id="19" name="claim-card">
            <a:extLst xmlns:a="http://schemas.openxmlformats.org/drawingml/2006/main">
              <a:ext uri="{FF2B5EF4-FFF2-40B4-BE49-F238E27FC236}">
                <a16:creationId xmlns:a16="http://schemas.microsoft.com/office/drawing/2014/main" id="{328DC144-A632-4401-A2D6-6B1998E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3714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20" name="claim-rule">
            <a:extLst xmlns:a="http://schemas.openxmlformats.org/drawingml/2006/main">
              <a:ext uri="{FF2B5EF4-FFF2-40B4-BE49-F238E27FC236}">
                <a16:creationId xmlns:a16="http://schemas.microsoft.com/office/drawing/2014/main" id="{7D1DAEBA-1616-4A99-AF9F-898A7E6F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1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2A0D692C-BC06-4CB3-9536-8F165F9F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C1: Netrin effect</a:t>
            </a:r>
          </a:p>
        </p:txBody>
      </p:sp>
      <p:sp>
        <p:nvSpPr>
          <p:cNvPr id="22" name="claim-body">
            <a:extLst xmlns:a="http://schemas.openxmlformats.org/drawingml/2006/main">
              <a:ext uri="{FF2B5EF4-FFF2-40B4-BE49-F238E27FC236}">
                <a16:creationId xmlns:a16="http://schemas.microsoft.com/office/drawing/2014/main" id="{5DD878A2-8649-4348-8A02-C552B37F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010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DIV2 + Netrin-1 vs DIV2</a:t>
            </a:r>
          </a:p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Primary biological question.</a:t>
            </a:r>
          </a:p>
        </p:txBody>
      </p:sp>
      <p:sp>
        <p:nvSpPr>
          <p:cNvPr id="23" name="claim-card">
            <a:extLst xmlns:a="http://schemas.openxmlformats.org/drawingml/2006/main">
              <a:ext uri="{FF2B5EF4-FFF2-40B4-BE49-F238E27FC236}">
                <a16:creationId xmlns:a16="http://schemas.microsoft.com/office/drawing/2014/main" id="{91B84311-DE99-45F6-8501-FD857582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3714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24" name="claim-rule">
            <a:extLst xmlns:a="http://schemas.openxmlformats.org/drawingml/2006/main">
              <a:ext uri="{FF2B5EF4-FFF2-40B4-BE49-F238E27FC236}">
                <a16:creationId xmlns:a16="http://schemas.microsoft.com/office/drawing/2014/main" id="{3B992822-0EF0-4C79-A068-1B4F2128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5A"/>
          </a:solidFill>
          <a:ln xmlns:a="http://schemas.openxmlformats.org/drawingml/2006/main" w="0">
            <a:solidFill>
              <a:srgbClr val="5B8F5A"/>
            </a:solidFill>
            <a:prstDash val="solid"/>
          </a:ln>
        </p:spPr>
      </p:sp>
      <p:sp>
        <p:nvSpPr>
          <p:cNvPr id="25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6214843C-F09B-4737-8D3B-E4ADE2CE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291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8F5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B8F5A"/>
                </a:solidFill>
                <a:latin typeface="Aptos"/>
                <a:ea typeface="Aptos"/>
                <a:cs typeface="Aptos"/>
              </a:rPr>
              <a:t>C2: 24 h development</a:t>
            </a:r>
          </a:p>
        </p:txBody>
      </p:sp>
      <p:sp>
        <p:nvSpPr>
          <p:cNvPr id="26" name="claim-body">
            <a:extLst xmlns:a="http://schemas.openxmlformats.org/drawingml/2006/main">
              <a:ext uri="{FF2B5EF4-FFF2-40B4-BE49-F238E27FC236}">
                <a16:creationId xmlns:a16="http://schemas.microsoft.com/office/drawing/2014/main" id="{B84F0C33-FB31-409C-AD58-73DE417C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DIV2 vs DIV1</a:t>
            </a:r>
          </a:p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Scale and composition context.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2A3F508-3831-4E25-992A-7B4173BF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DESeq2 model: ~ batch + condition; batch correction only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87966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39D3F4F3-CCB2-450F-ACFF-416D3C45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709C21-C492-4C74-A7CD-BE2AE9B8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7D8E63-3D85-47C7-A26A-DF3600B8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QC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680886-E460-4E80-9993-7CE87B36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The dataset is clean enough for contrast-level interpretation.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1128987-D4AA-40CC-9349-6735D64D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High sample correlation and PCA separation support downstream analysis.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0F97EC1-AC2F-4C67-8F88-C79F041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CC2549-3B8D-4A15-933D-F33BB7F5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8f6aae453400a"/>
          <a:stretch xmlns:a="http://schemas.openxmlformats.org/drawingml/2006/main"/>
        </p:blipFill>
        <p:spPr>
          <a:xfrm xmlns:a="http://schemas.openxmlformats.org/drawingml/2006/main">
            <a:off x="1129393" y="1885950"/>
            <a:ext cx="4027714" cy="3524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a7c5420874e41"/>
          <a:stretch xmlns:a="http://schemas.openxmlformats.org/drawingml/2006/main"/>
        </p:blipFill>
        <p:spPr>
          <a:xfrm xmlns:a="http://schemas.openxmlformats.org/drawingml/2006/main">
            <a:off x="6115050" y="2640623"/>
            <a:ext cx="4762500" cy="2014904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55D2ED-5FBF-4CD5-BFBD-87ED42FB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16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r = 0.9861-0.9987; no sample outliers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DA4B8B-C897-4B32-8C47-5EC5DB21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816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After visual batch correction, Netrin separates on PC2</a:t>
            </a:r>
          </a:p>
        </p:txBody>
      </p:sp>
    </p:spTree>
    <p:extLst>
      <p:ext uri="{BB962C8B-B14F-4D97-AF65-F5344CB8AC3E}">
        <p14:creationId xmlns:p14="http://schemas.microsoft.com/office/powerpoint/2010/main" val="1494860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3C02D24-2B0D-4286-ACEA-31F2F132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A58FA76-33AF-4558-949D-3AB58A2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CDD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9CDD2"/>
                </a:solidFill>
                <a:latin typeface="Aptos"/>
                <a:ea typeface="Aptos"/>
                <a:cs typeface="Aptos"/>
              </a:rPr>
              <a:t>RESULT 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65A885E-8052-45C8-97FB-5A3149A7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Netrin-1 response is focused and bidirectional.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1EB9B2-FA9C-4ABC-AFCA-D32E8B27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CE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7DCE1"/>
                </a:solidFill>
                <a:latin typeface="Aptos"/>
                <a:ea typeface="Aptos"/>
                <a:cs typeface="Aptos"/>
              </a:rPr>
              <a:t>Primary contrast: DIV2 + Netrin-1 vs DIV2 control.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AF785C-C8D3-40BB-B617-EA7DE4B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1265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B8C3D8C-71E1-4B60-BED3-38FF967F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C820411-868E-4890-96B3-E56AD897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C0E60A-830E-445C-A704-76771C04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C1 DEG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FA22E9-BD7F-476A-955C-22F5A8B4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Netrin-1 changes a small, high-confidence gene set.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D71CC10-D164-4D29-B842-EB65C880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Strict DEG threshold: padj &lt; 0.05 and |LFC| &gt; 0.585.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C14098F-19ED-47FE-9635-9A121385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D1EFA8-7992-4F5C-A2C4-1187027B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ccae2fe95459b"/>
          <a:stretch xmlns:a="http://schemas.openxmlformats.org/drawingml/2006/main"/>
        </p:blipFill>
        <p:spPr>
          <a:xfrm xmlns:a="http://schemas.openxmlformats.org/drawingml/2006/main">
            <a:off x="708025" y="1809750"/>
            <a:ext cx="6146800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732DC7B-9C72-4883-B350-0ADA584C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73E3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C73E3E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8C0A9B3-76CB-4738-B5E1-714A5CAE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strict DEGs</a:t>
            </a:r>
          </a:p>
        </p:txBody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8EA43B4-A2EB-447A-92D5-44A2FA83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95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B7AB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3B7AB8"/>
                </a:solidFill>
                <a:latin typeface="Aptos Display"/>
                <a:ea typeface="Aptos Display"/>
                <a:cs typeface="Aptos Display"/>
              </a:rPr>
              <a:t>7 up / 18 down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D8FF52B-84C4-4038-B33C-4CC5B660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17AA791-B04A-417E-B3BF-8642160E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004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D880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D88040"/>
                </a:solidFill>
                <a:latin typeface="Aptos Display"/>
                <a:ea typeface="Aptos Display"/>
                <a:cs typeface="Aptos Display"/>
              </a:rPr>
              <a:t>66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2C907B3-8114-4196-A111-9F79A6F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relaxed DEGs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5A44E82-BD71-4ABE-AFFE-DEA5807F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053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Top up: C3 (+2.54, padj 1.6e-20)</a:t>
            </a:r>
          </a:p>
          <a:p xmlns:a="http://schemas.openxmlformats.org/drawingml/2006/main">
            <a:pPr algn="l">
              <a:defRPr sz="1200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Top down: Olig1 (-1.00, padj 3.3e-14)</a:t>
            </a:r>
          </a:p>
        </p:txBody>
      </p:sp>
    </p:spTree>
    <p:extLst>
      <p:ext uri="{BB962C8B-B14F-4D97-AF65-F5344CB8AC3E}">
        <p14:creationId xmlns:p14="http://schemas.microsoft.com/office/powerpoint/2010/main" val="2100094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ABE2C76E-3217-4AC2-89FE-0424B8D9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B6533C-9EFE-4CC7-98CF-306F06C6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51AD83-05D9-41F2-8A28-5A58CFB8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C1 SINGLE GENES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7CAE2C-215B-46FE-A098-2B34F19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The strongest genes are biologically informative, but not all neuron-intrinsic.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B3BBC2C-8707-4DB2-BBEC-3D47081C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This is where cell-source interpretation becomes necessary.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B64F586-9EF4-494E-9BCF-D14AA422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B834A1-44AF-4960-B5A4-7455A491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d2534de9c4281"/>
          <a:stretch xmlns:a="http://schemas.openxmlformats.org/drawingml/2006/main"/>
        </p:blipFill>
        <p:spPr>
          <a:xfrm xmlns:a="http://schemas.openxmlformats.org/drawingml/2006/main">
            <a:off x="628650" y="2214563"/>
            <a:ext cx="6572250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claim-card">
            <a:extLst xmlns:a="http://schemas.openxmlformats.org/drawingml/2006/main">
              <a:ext uri="{FF2B5EF4-FFF2-40B4-BE49-F238E27FC236}">
                <a16:creationId xmlns:a16="http://schemas.microsoft.com/office/drawing/2014/main" id="{51D04E7D-2142-4D62-BE19-ACDD71E0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1432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0" name="claim-rule">
            <a:extLst xmlns:a="http://schemas.openxmlformats.org/drawingml/2006/main">
              <a:ext uri="{FF2B5EF4-FFF2-40B4-BE49-F238E27FC236}">
                <a16:creationId xmlns:a16="http://schemas.microsoft.com/office/drawing/2014/main" id="{543302E5-B34C-4186-8278-957EF93B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  <a:prstDash val="solid"/>
          </a:ln>
        </p:spPr>
      </p:sp>
      <p:sp>
        <p:nvSpPr>
          <p:cNvPr id="11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9CC17278-82BD-4ED5-8549-25CB02A6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73E3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C73E3E"/>
                </a:solidFill>
                <a:latin typeface="Aptos"/>
                <a:ea typeface="Aptos"/>
                <a:cs typeface="Aptos"/>
              </a:rPr>
              <a:t>Up module</a:t>
            </a:r>
          </a:p>
        </p:txBody>
      </p:sp>
      <p:sp>
        <p:nvSpPr>
          <p:cNvPr id="12" name="claim-body">
            <a:extLst xmlns:a="http://schemas.openxmlformats.org/drawingml/2006/main">
              <a:ext uri="{FF2B5EF4-FFF2-40B4-BE49-F238E27FC236}">
                <a16:creationId xmlns:a16="http://schemas.microsoft.com/office/drawing/2014/main" id="{1B313E62-90F2-4F66-9E6D-7564D46E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C3, Apoe, Adgre1, Ncf1, Itgal, Acod1</a:t>
            </a:r>
          </a:p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Immune / microglial signature.</a:t>
            </a:r>
          </a:p>
        </p:txBody>
      </p:sp>
      <p:sp>
        <p:nvSpPr>
          <p:cNvPr id="13" name="claim-card">
            <a:extLst xmlns:a="http://schemas.openxmlformats.org/drawingml/2006/main">
              <a:ext uri="{FF2B5EF4-FFF2-40B4-BE49-F238E27FC236}">
                <a16:creationId xmlns:a16="http://schemas.microsoft.com/office/drawing/2014/main" id="{67ECA62D-9F22-4A60-A174-4D4FC3DC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29050"/>
            <a:ext cx="31432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4" name="claim-rule">
            <a:extLst xmlns:a="http://schemas.openxmlformats.org/drawingml/2006/main">
              <a:ext uri="{FF2B5EF4-FFF2-40B4-BE49-F238E27FC236}">
                <a16:creationId xmlns:a16="http://schemas.microsoft.com/office/drawing/2014/main" id="{E653184E-9863-4C06-A133-8E73347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290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  <a:prstDash val="solid"/>
          </a:ln>
        </p:spPr>
      </p:sp>
      <p:sp>
        <p:nvSpPr>
          <p:cNvPr id="15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A7A6DFD8-2E06-4433-A3FD-82E03F81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195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Down module</a:t>
            </a:r>
          </a:p>
        </p:txBody>
      </p:sp>
      <p:sp>
        <p:nvSpPr>
          <p:cNvPr id="16" name="claim-body">
            <a:extLst xmlns:a="http://schemas.openxmlformats.org/drawingml/2006/main">
              <a:ext uri="{FF2B5EF4-FFF2-40B4-BE49-F238E27FC236}">
                <a16:creationId xmlns:a16="http://schemas.microsoft.com/office/drawing/2014/main" id="{BD542E34-D4D0-4BAC-AB2A-3EAF3F1C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005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Olig1, Olig2, Sparcl1, Ccnd1, Id1/3</a:t>
            </a:r>
          </a:p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OPC / glial / progenitor-linked signature.</a:t>
            </a:r>
          </a:p>
        </p:txBody>
      </p:sp>
    </p:spTree>
    <p:extLst>
      <p:ext uri="{BB962C8B-B14F-4D97-AF65-F5344CB8AC3E}">
        <p14:creationId xmlns:p14="http://schemas.microsoft.com/office/powerpoint/2010/main" val="1019301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B725A429-073C-45A4-B495-E33FA410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42537B-895F-4E09-8231-C5BFFF1B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35C677-CF89-4194-B028-C34E4231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C1 GSEA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EDE81-D496-47EA-BD09-B3EDCD8E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Gene-set analysis reveals the neuronal program beneath the top genes.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0B94E27D-E7BB-498F-88F8-D3AF5BA5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Synaptic and axon-guidance programs rise; cell-cycle programs fall.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1B579E4-909F-4A89-968F-B9996BB8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723AAC-FC92-4F11-8849-2AE7008F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01fa9f6c74cbb"/>
          <a:stretch xmlns:a="http://schemas.openxmlformats.org/drawingml/2006/main"/>
        </p:blipFill>
        <p:spPr>
          <a:xfrm xmlns:a="http://schemas.openxmlformats.org/drawingml/2006/main">
            <a:off x="764117" y="1790700"/>
            <a:ext cx="5005917" cy="4095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efd5cd5b34f0e"/>
          <a:stretch xmlns:a="http://schemas.openxmlformats.org/drawingml/2006/main"/>
        </p:blipFill>
        <p:spPr>
          <a:xfrm xmlns:a="http://schemas.openxmlformats.org/drawingml/2006/main">
            <a:off x="6450542" y="1790700"/>
            <a:ext cx="5005917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13A825-4690-415A-95F6-07197730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GO BP: 481 significant terms (255 activated / 226 suppressed)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AF119E5-44EB-46CA-89DB-42D5FC04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19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KEGG: 42 significant pathways (20 activated / 22 suppressed)</a:t>
            </a:r>
          </a:p>
        </p:txBody>
      </p:sp>
    </p:spTree>
    <p:extLst>
      <p:ext uri="{BB962C8B-B14F-4D97-AF65-F5344CB8AC3E}">
        <p14:creationId xmlns:p14="http://schemas.microsoft.com/office/powerpoint/2010/main" val="795538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3B3B071-5636-4205-97B4-2C1D1B33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BC32195-B67E-4399-A588-31F4F033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BF795C-7BEA-4F7D-8460-24341C1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C1 MECHANISM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E7973D-4A3D-4BD1-B353-AF36EC82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Two modules explain the response.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3E2BE68-4849-463D-8E92-5786648C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The result is bidirectional tuning, not simple maturation acceleration.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364A6F7-CA77-4BF2-8609-B337C85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47CD96-EB5D-46DC-9D1C-E2E6DA1A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9EE169F0-C255-43F6-9897-3A30162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3815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7F2"/>
          </a:solidFill>
          <a:ln xmlns:a="http://schemas.openxmlformats.org/drawingml/2006/main" w="9525">
            <a:solidFill>
              <a:srgbClr val="E9C3A8"/>
            </a:solidFill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10A0EC5B-D633-468B-AD2C-81051828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39052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CD1E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B03433-2BBF-4167-A5DD-0D1880D5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3E3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C73E3E"/>
                </a:solidFill>
                <a:latin typeface="Aptos"/>
                <a:ea typeface="Aptos"/>
                <a:cs typeface="Aptos"/>
              </a:rPr>
              <a:t>Activated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7C5CC26-1782-4801-82E6-41A5463A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Synapse / axon guidance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556C1D2-2926-4483-B920-DB5070C1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GO axon guidance NES +1.85</a:t>
            </a:r>
          </a:p>
          <a:p xmlns:a="http://schemas.openxmlformats.org/drawingml/2006/main">
            <a:pPr algn="l">
              <a:defRPr sz="127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KEGG axon guidance NES +1.72</a:t>
            </a:r>
          </a:p>
          <a:p xmlns:a="http://schemas.openxmlformats.org/drawingml/2006/main">
            <a:pPr algn="l">
              <a:defRPr sz="127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Synapse assembly NES +2.05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780D380-1ECF-444D-AE56-8B7BBF58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43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Suppressed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31F5AEF-AF21-4BDD-BB58-23FB69BE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43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Cell cycle / progenitor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5D1563E-8913-4B9E-A042-A5C8D731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147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KEGG Cell cycle NES -2.70</a:t>
            </a:r>
          </a:p>
          <a:p xmlns:a="http://schemas.openxmlformats.org/drawingml/2006/main">
            <a:pPr algn="l">
              <a:defRPr sz="127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DNA replication / repair suppressed</a:t>
            </a:r>
          </a:p>
          <a:p xmlns:a="http://schemas.openxmlformats.org/drawingml/2006/main">
            <a:pPr algn="l">
              <a:defRPr sz="127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Olig1/Olig2/Ccnd1 down</a:t>
            </a:r>
          </a:p>
        </p:txBody>
      </p:sp>
      <p:sp>
        <p:nvSpPr>
          <p:cNvPr id="16" name="middle-arrow">
            <a:extLst xmlns:a="http://schemas.openxmlformats.org/drawingml/2006/main">
              <a:ext uri="{FF2B5EF4-FFF2-40B4-BE49-F238E27FC236}">
                <a16:creationId xmlns:a16="http://schemas.microsoft.com/office/drawing/2014/main" id="{62BFE20E-20A8-4D16-8654-AB89EFE7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00350"/>
            <a:ext cx="704850" cy="7620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17" name="claim-card">
            <a:extLst xmlns:a="http://schemas.openxmlformats.org/drawingml/2006/main">
              <a:ext uri="{FF2B5EF4-FFF2-40B4-BE49-F238E27FC236}">
                <a16:creationId xmlns:a16="http://schemas.microsoft.com/office/drawing/2014/main" id="{6BBB9B77-5B62-4214-8255-6C69C5E4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05400"/>
            <a:ext cx="78105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8" name="claim-rule">
            <a:extLst xmlns:a="http://schemas.openxmlformats.org/drawingml/2006/main">
              <a:ext uri="{FF2B5EF4-FFF2-40B4-BE49-F238E27FC236}">
                <a16:creationId xmlns:a16="http://schemas.microsoft.com/office/drawing/2014/main" id="{79B01C13-FC6D-4282-91AA-E4C3FD2D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05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19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255C0719-A7A2-415E-A77B-9556D323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95900"/>
            <a:ext cx="741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claim-body">
            <a:extLst xmlns:a="http://schemas.openxmlformats.org/drawingml/2006/main">
              <a:ext uri="{FF2B5EF4-FFF2-40B4-BE49-F238E27FC236}">
                <a16:creationId xmlns:a16="http://schemas.microsoft.com/office/drawing/2014/main" id="{2765BEF5-1AC2-4805-AC83-1FE19BF1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76900"/>
            <a:ext cx="73914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Netrin-1 appears to coordinate subtle neuronal pathway activation while suppressing proliferative/progenitor-associated programs.</a:t>
            </a:r>
          </a:p>
        </p:txBody>
      </p:sp>
    </p:spTree>
    <p:extLst>
      <p:ext uri="{BB962C8B-B14F-4D97-AF65-F5344CB8AC3E}">
        <p14:creationId xmlns:p14="http://schemas.microsoft.com/office/powerpoint/2010/main" val="1851004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F483CEF-C635-4B7A-B753-F70569E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91A6A9D-F48B-4C7F-9AAA-5D52A382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42BEF5-AF70-40F0-9BF2-D3AA945C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C1 PATTERN CHECK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156717-C348-4732-A689-A3D93660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Trajectory patterns argue against a simple acceleration story.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5BB2DAF-E159-46EC-9ED3-A4F2BC3B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P1 monotonic-up genes are absent; the dominant pattern reflects DIV2 peak then Netrin reversal.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73DA706-36A6-418A-8D3A-BF27568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FB8AD7-DEBD-480D-848A-0A846D48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00a93f8674c4d"/>
          <a:stretch xmlns:a="http://schemas.openxmlformats.org/drawingml/2006/main"/>
        </p:blipFill>
        <p:spPr>
          <a:xfrm xmlns:a="http://schemas.openxmlformats.org/drawingml/2006/main">
            <a:off x="1538288" y="1790700"/>
            <a:ext cx="4714875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1859331-9308-447C-9A51-379C5B92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28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D880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D88040"/>
                </a:solidFill>
                <a:latin typeface="Aptos Display"/>
                <a:ea typeface="Aptos Display"/>
                <a:cs typeface="Aptos Display"/>
              </a:rPr>
              <a:t>P5 = 46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FBCF2D8-7805-41EC-900B-958D9852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peak at DIV2</a:t>
            </a:r>
          </a:p>
        </p:txBody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E2AF1C6-FEBB-4914-9226-CE9BF8B2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73E3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C73E3E"/>
                </a:solidFill>
                <a:latin typeface="Aptos Display"/>
                <a:ea typeface="Aptos Display"/>
                <a:cs typeface="Aptos Display"/>
              </a:rPr>
              <a:t>P1 = 0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FC2EABF-975F-412F-BC69-2E696788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386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monotonic acceleration genes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6591274-3BCE-4569-BF1F-6AEC9F10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72050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Important: Olig1/Olig2 are glial-lineage markers; P5 should not be over-read as neuron-intrinsic maturation.</a:t>
            </a:r>
          </a:p>
        </p:txBody>
      </p:sp>
    </p:spTree>
    <p:extLst>
      <p:ext uri="{BB962C8B-B14F-4D97-AF65-F5344CB8AC3E}">
        <p14:creationId xmlns:p14="http://schemas.microsoft.com/office/powerpoint/2010/main" val="393393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DD0280C-8E16-430F-86A2-B4DB256C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771B7F8-1457-46A9-8948-F07833F0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CDD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9CDD2"/>
                </a:solidFill>
                <a:latin typeface="Aptos"/>
                <a:ea typeface="Aptos"/>
                <a:cs typeface="Aptos"/>
              </a:rPr>
              <a:t>RESULT 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37B5A3-7BCA-479B-8493-B74E41AF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24 h developmental contrast gives scale and context.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FCBE4C3-FCDA-4368-AB04-0868DFBD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CE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7DCE1"/>
                </a:solidFill>
                <a:latin typeface="Aptos"/>
                <a:ea typeface="Aptos"/>
                <a:cs typeface="Aptos"/>
              </a:rPr>
              <a:t>Secondary contrast: DIV2 vs DIV1.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A6B1C6-D147-48EF-BE8E-1111CE31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9033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B8DACBF-0965-46D2-8AD0-774D6E19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DEE95F-E279-4718-A2E5-B19E3AFC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3A9CE5-C241-418B-8291-CB0ECA8C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C2 DEG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5BEB41-A94E-4C90-9036-CF2B5992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Development dominates the transcriptome relative to Netrin treatment.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25000C3-643F-4DA9-8F96-AF01871B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The secondary contrast is much larger than the primary contrast.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6C46B39-9FF9-4037-A31A-1FB97A03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94D3C9-DE9C-49C9-B232-F034A1E6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ce50fdd334cc7"/>
          <a:stretch xmlns:a="http://schemas.openxmlformats.org/drawingml/2006/main"/>
        </p:blipFill>
        <p:spPr>
          <a:xfrm xmlns:a="http://schemas.openxmlformats.org/drawingml/2006/main">
            <a:off x="1220258" y="1809750"/>
            <a:ext cx="5122333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4C2E7D5-3401-44BD-A304-3B367EAE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73E3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C73E3E"/>
                </a:solidFill>
                <a:latin typeface="Aptos Display"/>
                <a:ea typeface="Aptos Display"/>
                <a:cs typeface="Aptos Display"/>
              </a:rPr>
              <a:t>1,495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9F08871-0D8F-41B4-AF8E-F2B1BED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strict DEGs</a:t>
            </a:r>
          </a:p>
        </p:txBody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AA8DA3A-F8A8-4FD9-8C1D-F6D3D462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B7AB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3B7AB8"/>
                </a:solidFill>
                <a:latin typeface="Aptos Display"/>
                <a:ea typeface="Aptos Display"/>
                <a:cs typeface="Aptos Display"/>
              </a:rPr>
              <a:t>1,098 up / 397 down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12855EA-A1AA-42FB-A469-71AB9EFE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1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9FA065DA-D997-4317-9CF4-130BE94E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004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D88040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D88040"/>
                </a:solidFill>
                <a:latin typeface="Aptos Display"/>
                <a:ea typeface="Aptos Display"/>
                <a:cs typeface="Aptos Display"/>
              </a:rPr>
              <a:t>4,636</a:t>
            </a:r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73BFDDF-652B-4C20-A58E-C7D4B580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relaxed DEGs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F65D5D1-0EB3-4A80-A12E-9E5B617F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958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Olig1: +3.37 in C2 but -1.00 in C1, suggesting Netrin reverses part of natural induction.</a:t>
            </a:r>
          </a:p>
        </p:txBody>
      </p:sp>
    </p:spTree>
    <p:extLst>
      <p:ext uri="{BB962C8B-B14F-4D97-AF65-F5344CB8AC3E}">
        <p14:creationId xmlns:p14="http://schemas.microsoft.com/office/powerpoint/2010/main" val="16759894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080B229-1907-464A-90ED-742ABD1C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85E25A-8C75-4368-B229-A3356815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7921DB-556B-4581-A37D-38271587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C2 PATHWAYS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D54AE7-1144-4589-9017-FEB033FA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DIV2 activates mature neuronal programs and suppresses precursor programs.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FE030CF-66B2-43E9-961A-5AFA313D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GSEA and ORA agree on the developmental interpretation.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DB10C74-2C10-4DDA-A0BB-5DE20FD8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2E3F8F-E67A-4BF3-9EDF-4586BF41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2f7abfa1a4f4f"/>
          <a:stretch xmlns:a="http://schemas.openxmlformats.org/drawingml/2006/main"/>
        </p:blipFill>
        <p:spPr>
          <a:xfrm xmlns:a="http://schemas.openxmlformats.org/drawingml/2006/main">
            <a:off x="764117" y="1790700"/>
            <a:ext cx="5005917" cy="4095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165b86f2b4c18"/>
          <a:stretch xmlns:a="http://schemas.openxmlformats.org/drawingml/2006/main"/>
        </p:blipFill>
        <p:spPr>
          <a:xfrm xmlns:a="http://schemas.openxmlformats.org/drawingml/2006/main">
            <a:off x="6450542" y="1790700"/>
            <a:ext cx="5005917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4140A2-B510-4790-95C4-2B2A1584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GO BP: 534 significant terms (410 activated / 124 suppressed)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6D8AF8A-F913-4075-A0D2-693C7096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198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KEGG: 99 significant pathways (89 activated / 10 suppressed)</a:t>
            </a:r>
          </a:p>
        </p:txBody>
      </p:sp>
    </p:spTree>
    <p:extLst>
      <p:ext uri="{BB962C8B-B14F-4D97-AF65-F5344CB8AC3E}">
        <p14:creationId xmlns:p14="http://schemas.microsoft.com/office/powerpoint/2010/main" val="15200254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A2A7216-5B39-4077-986E-36AE76B8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A765B4-1EBF-41CB-BB21-8A4CFFAC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11938D-C2C7-48B8-BAF1-1A321BB5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C2 STRUCTURE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B2799C-73E4-4528-99F8-9A91719B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Heatmaps show development is the dominant expression axis.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5E3CA4F-FA86-4B04-B848-9BBBBA67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DIV1 separates from both DIV2 states; Netrin is a smaller perturbation within DIV2.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372C7C6-A662-42EC-90B4-196B4BF6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DC4924-8BD4-42D5-9AE2-402214D9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072faff4b4910"/>
          <a:stretch xmlns:a="http://schemas.openxmlformats.org/drawingml/2006/main"/>
        </p:blipFill>
        <p:spPr>
          <a:xfrm xmlns:a="http://schemas.openxmlformats.org/drawingml/2006/main">
            <a:off x="1281545" y="1809750"/>
            <a:ext cx="3723409" cy="4095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f2a5fadc14aeb"/>
          <a:stretch xmlns:a="http://schemas.openxmlformats.org/drawingml/2006/main"/>
        </p:blipFill>
        <p:spPr>
          <a:xfrm xmlns:a="http://schemas.openxmlformats.org/drawingml/2006/main">
            <a:off x="6806045" y="1809750"/>
            <a:ext cx="3723409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1CD31C-8B89-4A14-A07C-3CF18246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19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Top 60 strict DEGs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7D6A551-D898-4D25-B2EE-9CB29B46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019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All 1,495 strict DEGs</a:t>
            </a:r>
          </a:p>
        </p:txBody>
      </p:sp>
    </p:spTree>
    <p:extLst>
      <p:ext uri="{BB962C8B-B14F-4D97-AF65-F5344CB8AC3E}">
        <p14:creationId xmlns:p14="http://schemas.microsoft.com/office/powerpoint/2010/main" val="20300496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A7A7A95-B77C-48E7-9A67-951A9703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C7E965E-5C4C-4FB8-9E11-1658CE8F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CDD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9CDD2"/>
                </a:solidFill>
                <a:latin typeface="Aptos"/>
                <a:ea typeface="Aptos"/>
                <a:cs typeface="Aptos"/>
              </a:rPr>
              <a:t>RESULT 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AE69BC-9A1F-4A93-86CA-2E020DD9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Cell-type marker analysis changes how we read the bulk signal.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CDE393-E274-414D-9771-961BBF8B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CE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7DCE1"/>
                </a:solidFill>
                <a:latin typeface="Aptos"/>
                <a:ea typeface="Aptos"/>
                <a:cs typeface="Aptos"/>
              </a:rPr>
              <a:t>This is the interpretation guardrail.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65C82A-A3C5-4FAE-9281-2E0F09D3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487416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AAD12F2F-B55F-4505-9083-A0B2B23C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1D8E2BD-CAD0-460E-B860-724818A1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FC055F-5840-40EC-AB09-3AB45C0E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CELL-TYPE MARKERS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B537B0-2A8E-4048-BB61-0029C7BF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C2 contains a strong composition shift.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33A917B-E11E-4B87-BDC3-97CF7281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Macroglia / OPC markers rise; microglia markers fall; neuronal markers are relatively stable.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554B5D2-A0CE-4092-B7BA-F3B62250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309FDC-722B-4CDD-A85A-D53B2D2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86c03ab2c4eaa"/>
          <a:stretch xmlns:a="http://schemas.openxmlformats.org/drawingml/2006/main"/>
        </p:blipFill>
        <p:spPr>
          <a:xfrm xmlns:a="http://schemas.openxmlformats.org/drawingml/2006/main">
            <a:off x="1744133" y="1790700"/>
            <a:ext cx="5122333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claim-card">
            <a:extLst xmlns:a="http://schemas.openxmlformats.org/drawingml/2006/main">
              <a:ext uri="{FF2B5EF4-FFF2-40B4-BE49-F238E27FC236}">
                <a16:creationId xmlns:a16="http://schemas.microsoft.com/office/drawing/2014/main" id="{5F2243B6-3FB7-48B8-8C62-C17C4FE6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762250" cy="20764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0" name="claim-rule">
            <a:extLst xmlns:a="http://schemas.openxmlformats.org/drawingml/2006/main">
              <a:ext uri="{FF2B5EF4-FFF2-40B4-BE49-F238E27FC236}">
                <a16:creationId xmlns:a16="http://schemas.microsoft.com/office/drawing/2014/main" id="{54DD07C6-C270-40C9-85DE-C5868C10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5A"/>
          </a:solidFill>
          <a:ln xmlns:a="http://schemas.openxmlformats.org/drawingml/2006/main" w="0">
            <a:solidFill>
              <a:srgbClr val="5B8F5A"/>
            </a:solidFill>
            <a:prstDash val="solid"/>
          </a:ln>
        </p:spPr>
      </p:sp>
      <p:sp>
        <p:nvSpPr>
          <p:cNvPr id="11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AB2EB17D-1EC3-4614-8BCD-9B3ABF6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8F5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B8F5A"/>
                </a:solidFill>
                <a:latin typeface="Aptos"/>
                <a:ea typeface="Aptos"/>
                <a:cs typeface="Aptos"/>
              </a:rPr>
              <a:t>C2 reading</a:t>
            </a:r>
          </a:p>
        </p:txBody>
      </p:sp>
      <p:sp>
        <p:nvSpPr>
          <p:cNvPr id="12" name="claim-body">
            <a:extLst xmlns:a="http://schemas.openxmlformats.org/drawingml/2006/main">
              <a:ext uri="{FF2B5EF4-FFF2-40B4-BE49-F238E27FC236}">
                <a16:creationId xmlns:a16="http://schemas.microsoft.com/office/drawing/2014/main" id="{689E4909-59FC-4418-AB11-F76B6501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2343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Many developmental DEGs likely reflect composition changes in mixed culture, not only neuron-intrinsic maturation.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515238-E555-455C-8096-AECA321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No AraC mixed culture: marker behavior is inference, not direct cell counting.</a:t>
            </a:r>
          </a:p>
        </p:txBody>
      </p:sp>
    </p:spTree>
    <p:extLst>
      <p:ext uri="{BB962C8B-B14F-4D97-AF65-F5344CB8AC3E}">
        <p14:creationId xmlns:p14="http://schemas.microsoft.com/office/powerpoint/2010/main" val="21530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C9BED333-236B-457C-BFEC-3AEAA7F6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96894A-E480-4203-975B-91AD90B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06CF1C-EDC9-47A0-B14A-ABC699CD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CELL-TYPE MARKERS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A925ED-7A91-48AB-ABA2-F956DE74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C1 does not show the same composition collapse.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84B96C1-C73F-403C-994B-78313A59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Microglial effect genes rise, while identity markers are mostly trends with wide uncertainty.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F5EBF82-C910-4871-AABF-38186E01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754ADE-D123-4599-A35C-7510249F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c015865e4490e"/>
          <a:stretch xmlns:a="http://schemas.openxmlformats.org/drawingml/2006/main"/>
        </p:blipFill>
        <p:spPr>
          <a:xfrm xmlns:a="http://schemas.openxmlformats.org/drawingml/2006/main">
            <a:off x="1744133" y="1790700"/>
            <a:ext cx="5122333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claim-card">
            <a:extLst xmlns:a="http://schemas.openxmlformats.org/drawingml/2006/main">
              <a:ext uri="{FF2B5EF4-FFF2-40B4-BE49-F238E27FC236}">
                <a16:creationId xmlns:a16="http://schemas.microsoft.com/office/drawing/2014/main" id="{21D44972-48F2-468B-9F7B-E59F5894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762250" cy="20764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0" name="claim-rule">
            <a:extLst xmlns:a="http://schemas.openxmlformats.org/drawingml/2006/main">
              <a:ext uri="{FF2B5EF4-FFF2-40B4-BE49-F238E27FC236}">
                <a16:creationId xmlns:a16="http://schemas.microsoft.com/office/drawing/2014/main" id="{32F2C39A-81E0-4033-93AF-40B1C328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11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CBE6F420-84AE-4ECA-A080-E524B3DD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C1 reading</a:t>
            </a:r>
          </a:p>
        </p:txBody>
      </p:sp>
      <p:sp>
        <p:nvSpPr>
          <p:cNvPr id="12" name="claim-body">
            <a:extLst xmlns:a="http://schemas.openxmlformats.org/drawingml/2006/main">
              <a:ext uri="{FF2B5EF4-FFF2-40B4-BE49-F238E27FC236}">
                <a16:creationId xmlns:a16="http://schemas.microsoft.com/office/drawing/2014/main" id="{15A1F68A-E23E-4924-A4BA-440E2629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2343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Immune genes are consistent with microglial activation, but identity markers do not prove a large increase in microglia number.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BA2039E-C1D3-40C7-94BA-E1231E7B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86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Preferred wording: “consistent with microglial activation,” not “Netrin directly activates microglia.”</a:t>
            </a:r>
          </a:p>
        </p:txBody>
      </p:sp>
    </p:spTree>
    <p:extLst>
      <p:ext uri="{BB962C8B-B14F-4D97-AF65-F5344CB8AC3E}">
        <p14:creationId xmlns:p14="http://schemas.microsoft.com/office/powerpoint/2010/main" val="5310231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808CC082-50A2-4924-AE84-59152D68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9BF14C-FBF3-4AC1-B225-11A3BE0C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04056EF-7FF9-48A1-9578-6BF100EA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WORKING MODEL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7FEDCC-627E-461E-BFBD-737B001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Netrin-1 has a direct neuronal axis and an indirect/source-limited immune axis.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EB53120-4526-4BE4-B5E8-160528DF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This framing keeps the result strong without over-claiming causality.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43B727E-AA8C-494F-AF9F-D1354A84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73629E-4DA3-4AA3-8554-77E4CEF5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2A2485C6-D730-44B5-B1D4-916BAFC6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476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7F2"/>
          </a:solidFill>
          <a:ln xmlns:a="http://schemas.openxmlformats.org/drawingml/2006/main" w="9525">
            <a:solidFill>
              <a:srgbClr val="E9C3A8"/>
            </a:solidFill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06D781C-6B57-4427-B1AF-BF9AE8E4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2857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8BDD9555-E36B-45E6-BB92-D799D31E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2857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BCD1E5"/>
            </a:solidFill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A1DBB369-271F-4275-A45E-11A8654C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09550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4A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F2A8324-7549-448F-A961-1B3EAE40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Exogenous</a:t>
            </a:r>
          </a:p>
          <a:p xmlns:a="http://schemas.openxmlformats.org/drawingml/2006/main">
            <a:pPr algn="ctr">
              <a:defRPr sz="1875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Netrin-1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805B3B-8E1C-4124-940F-19A8DE69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Cortical neurons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6698DA2-C2EA-4987-99F5-74A58B04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95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Neo1 / Dcc / Dscam / Unc5a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7F8F6C5-6F7F-46CE-B6B5-7A4C39C6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52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73E3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C73E3E"/>
                </a:solidFill>
                <a:latin typeface="Aptos"/>
                <a:ea typeface="Aptos"/>
                <a:cs typeface="Aptos"/>
              </a:rPr>
              <a:t>Synapse / axon guidance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AF1DCDD-8232-41BB-841A-864C145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Microglia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181DAED-AFD7-43B3-8986-784A2357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C3 / Apoe / Ncf1</a:t>
            </a:r>
          </a:p>
        </p:txBody>
      </p:sp>
      <p:sp>
        <p:nvSpPr>
          <p:cNvPr id="18" name="direct-arrow">
            <a:extLst xmlns:a="http://schemas.openxmlformats.org/drawingml/2006/main">
              <a:ext uri="{FF2B5EF4-FFF2-40B4-BE49-F238E27FC236}">
                <a16:creationId xmlns:a16="http://schemas.microsoft.com/office/drawing/2014/main" id="{06CB2B73-1613-4C2D-8AC3-A271AFA6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390650" cy="-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8040"/>
            </a:solidFill>
            <a:prstDash val="solid"/>
          </a:ln>
        </p:spPr>
      </p:sp>
      <p:sp>
        <p:nvSpPr>
          <p:cNvPr id="19" name="pathway-arrow">
            <a:extLst xmlns:a="http://schemas.openxmlformats.org/drawingml/2006/main">
              <a:ext uri="{FF2B5EF4-FFF2-40B4-BE49-F238E27FC236}">
                <a16:creationId xmlns:a16="http://schemas.microsoft.com/office/drawing/2014/main" id="{9CD7D2EF-1066-40C1-A49C-B8DB2B4B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3E3E"/>
            </a:solidFill>
            <a:prstDash val="solid"/>
          </a:ln>
        </p:spPr>
      </p:sp>
      <p:sp>
        <p:nvSpPr>
          <p:cNvPr id="20" name="indirect-arrow">
            <a:extLst xmlns:a="http://schemas.openxmlformats.org/drawingml/2006/main">
              <a:ext uri="{FF2B5EF4-FFF2-40B4-BE49-F238E27FC236}">
                <a16:creationId xmlns:a16="http://schemas.microsoft.com/office/drawing/2014/main" id="{9A32BDCB-2020-4172-BDC0-F82FC794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142875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9A42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6FB21FC-457C-40E8-94C2-DC2F832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100509D-EDB6-461C-875A-F438D66E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C49A4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49A42"/>
                </a:solidFill>
                <a:latin typeface="Aptos"/>
                <a:ea typeface="Aptos"/>
                <a:cs typeface="Aptos"/>
              </a:rPr>
              <a:t>indirect?</a:t>
            </a:r>
          </a:p>
        </p:txBody>
      </p:sp>
      <p:sp>
        <p:nvSpPr>
          <p:cNvPr id="23" name="main-point-card">
            <a:extLst xmlns:a="http://schemas.openxmlformats.org/drawingml/2006/main">
              <a:ext uri="{FF2B5EF4-FFF2-40B4-BE49-F238E27FC236}">
                <a16:creationId xmlns:a16="http://schemas.microsoft.com/office/drawing/2014/main" id="{044E07A2-3D9C-496B-A366-BEFBFD68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62600"/>
            <a:ext cx="7239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24" name="main-point-rule">
            <a:extLst xmlns:a="http://schemas.openxmlformats.org/drawingml/2006/main">
              <a:ext uri="{FF2B5EF4-FFF2-40B4-BE49-F238E27FC236}">
                <a16:creationId xmlns:a16="http://schemas.microsoft.com/office/drawing/2014/main" id="{D7810C70-5E97-4495-875E-9762A37D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626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5F005A6-5DB5-4495-A434-A76805B3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72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Main point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B9E8510-F490-4A0B-AD16-DB628604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0388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Use neuronal pathways as the confident axis; treat immune signals as source-limited.</a:t>
            </a:r>
          </a:p>
        </p:txBody>
      </p:sp>
    </p:spTree>
    <p:extLst>
      <p:ext uri="{BB962C8B-B14F-4D97-AF65-F5344CB8AC3E}">
        <p14:creationId xmlns:p14="http://schemas.microsoft.com/office/powerpoint/2010/main" val="18877449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482F86EC-6277-4B0C-A90D-3B269914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B6CF44-1B52-4437-8F6D-1A695B21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EBEEC7-2B51-4B90-9786-9D677478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63BB3D-BF8C-4C33-B697-D9ED7AB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Netrin fine-tunes; development activates broadly.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F7E2E4A-3B6A-4F27-A107-B1770BCF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The two contrasts have different scale and direction balance.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0301482-0A29-4A15-A34F-2ED502B8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5B6A93-B8CC-43D7-AA4A-57D27C7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act-bar">
            <a:extLst xmlns:a="http://schemas.openxmlformats.org/drawingml/2006/main">
              <a:ext uri="{FF2B5EF4-FFF2-40B4-BE49-F238E27FC236}">
                <a16:creationId xmlns:a16="http://schemas.microsoft.com/office/drawing/2014/main" id="{E2440DDB-F44A-49E4-AAD0-05F90F4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2369"/>
            <a:ext cx="533400" cy="1335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  <a:prstDash val="solid"/>
          </a:ln>
        </p:spPr>
      </p:sp>
      <p:sp>
        <p:nvSpPr>
          <p:cNvPr id="9" name="sup-bar">
            <a:extLst xmlns:a="http://schemas.openxmlformats.org/drawingml/2006/main">
              <a:ext uri="{FF2B5EF4-FFF2-40B4-BE49-F238E27FC236}">
                <a16:creationId xmlns:a16="http://schemas.microsoft.com/office/drawing/2014/main" id="{F553F4E9-1D48-4947-AAAE-B0195F54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64293"/>
            <a:ext cx="533400" cy="118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A72B5FB-A193-480F-A57F-45AAD5D5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5669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73E3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73E3E"/>
                </a:solidFill>
                <a:latin typeface="Aptos"/>
                <a:ea typeface="Aptos"/>
                <a:cs typeface="Aptos"/>
              </a:rPr>
              <a:t>255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7BA6076-685B-44ED-916D-7AD539A0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97593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226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4DF21F-6F57-4FC3-BD89-09A8E54B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C1 GO</a:t>
            </a:r>
          </a:p>
        </p:txBody>
      </p:sp>
      <p:sp>
        <p:nvSpPr>
          <p:cNvPr id="13" name="act-bar">
            <a:extLst xmlns:a="http://schemas.openxmlformats.org/drawingml/2006/main">
              <a:ext uri="{FF2B5EF4-FFF2-40B4-BE49-F238E27FC236}">
                <a16:creationId xmlns:a16="http://schemas.microsoft.com/office/drawing/2014/main" id="{7C7C4104-6F1A-40CE-BA74-7E98C1C0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00363"/>
            <a:ext cx="533400" cy="2147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  <a:prstDash val="solid"/>
          </a:ln>
        </p:spPr>
      </p:sp>
      <p:sp>
        <p:nvSpPr>
          <p:cNvPr id="14" name="sup-bar">
            <a:extLst xmlns:a="http://schemas.openxmlformats.org/drawingml/2006/main">
              <a:ext uri="{FF2B5EF4-FFF2-40B4-BE49-F238E27FC236}">
                <a16:creationId xmlns:a16="http://schemas.microsoft.com/office/drawing/2014/main" id="{038A0491-3122-4A91-8837-6F1F5CDE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98645"/>
            <a:ext cx="533400" cy="649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F6781B8-BEB6-4B2B-B3C8-2E5D30F5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33663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73E3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73E3E"/>
                </a:solidFill>
                <a:latin typeface="Aptos"/>
                <a:ea typeface="Aptos"/>
                <a:cs typeface="Aptos"/>
              </a:rPr>
              <a:t>410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61892AC-F1E2-49AF-AAE9-26E9BEFC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194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124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C708A08-3E49-40BB-B7B2-52506810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76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C2 GO</a:t>
            </a:r>
          </a:p>
        </p:txBody>
      </p:sp>
      <p:sp>
        <p:nvSpPr>
          <p:cNvPr id="18" name="act-bar">
            <a:extLst xmlns:a="http://schemas.openxmlformats.org/drawingml/2006/main">
              <a:ext uri="{FF2B5EF4-FFF2-40B4-BE49-F238E27FC236}">
                <a16:creationId xmlns:a16="http://schemas.microsoft.com/office/drawing/2014/main" id="{80DF2D8C-5085-4697-89CC-07C8514E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533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  <a:prstDash val="solid"/>
          </a:ln>
        </p:spPr>
      </p:sp>
      <p:sp>
        <p:nvSpPr>
          <p:cNvPr id="19" name="sup-bar">
            <a:extLst xmlns:a="http://schemas.openxmlformats.org/drawingml/2006/main">
              <a:ext uri="{FF2B5EF4-FFF2-40B4-BE49-F238E27FC236}">
                <a16:creationId xmlns:a16="http://schemas.microsoft.com/office/drawing/2014/main" id="{19FF2580-0316-4FA3-AB8D-13AFFB3B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37635"/>
            <a:ext cx="533400" cy="11106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C97A411-CA14-4E21-A267-DFE4ABAD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73E3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73E3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3C77FC9-8D54-49C4-AC1C-C87DFE38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093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120F64E-DCE8-4A38-AB63-D205C640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76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C1 KEGG</a:t>
            </a:r>
          </a:p>
        </p:txBody>
      </p:sp>
      <p:sp>
        <p:nvSpPr>
          <p:cNvPr id="23" name="act-bar">
            <a:extLst xmlns:a="http://schemas.openxmlformats.org/drawingml/2006/main">
              <a:ext uri="{FF2B5EF4-FFF2-40B4-BE49-F238E27FC236}">
                <a16:creationId xmlns:a16="http://schemas.microsoft.com/office/drawing/2014/main" id="{2D3AFD97-6D2A-4B31-B2AF-321EDEB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324"/>
            <a:ext cx="533400" cy="2076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  <a:prstDash val="solid"/>
          </a:ln>
        </p:spPr>
      </p:sp>
      <p:sp>
        <p:nvSpPr>
          <p:cNvPr id="24" name="sup-bar">
            <a:extLst xmlns:a="http://schemas.openxmlformats.org/drawingml/2006/main">
              <a:ext uri="{FF2B5EF4-FFF2-40B4-BE49-F238E27FC236}">
                <a16:creationId xmlns:a16="http://schemas.microsoft.com/office/drawing/2014/main" id="{03D9DE91-310A-4574-B310-E24CCB1F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14888"/>
            <a:ext cx="5334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40D2D5B-FD1E-4919-943F-96E1449F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4624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73E3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73E3E"/>
                </a:solidFill>
                <a:latin typeface="Aptos"/>
                <a:ea typeface="Aptos"/>
                <a:cs typeface="Aptos"/>
              </a:rPr>
              <a:t>89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A978EC6-47F9-4A17-81B3-E0D148AA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548188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C8C16BB-7CFF-4762-A737-E7AA636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76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C2 KEGG</a:t>
            </a:r>
          </a:p>
        </p:txBody>
      </p:sp>
      <p:sp>
        <p:nvSpPr>
          <p:cNvPr id="28" name="baseline">
            <a:extLst xmlns:a="http://schemas.openxmlformats.org/drawingml/2006/main">
              <a:ext uri="{FF2B5EF4-FFF2-40B4-BE49-F238E27FC236}">
                <a16:creationId xmlns:a16="http://schemas.microsoft.com/office/drawing/2014/main" id="{403E89D7-1272-4A9F-9BEB-3767F0A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9926FCC-64BF-4783-B5B9-D9D58D3B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574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73E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73E3E"/>
                </a:solidFill>
                <a:latin typeface="Aptos"/>
                <a:ea typeface="Aptos"/>
                <a:cs typeface="Aptos"/>
              </a:rPr>
              <a:t>activated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F854E9A-77FB-4BA7-BBA4-239C27E8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suppressed</a:t>
            </a:r>
          </a:p>
        </p:txBody>
      </p:sp>
      <p:sp>
        <p:nvSpPr>
          <p:cNvPr id="31" name="interpretation-card">
            <a:extLst xmlns:a="http://schemas.openxmlformats.org/drawingml/2006/main">
              <a:ext uri="{FF2B5EF4-FFF2-40B4-BE49-F238E27FC236}">
                <a16:creationId xmlns:a16="http://schemas.microsoft.com/office/drawing/2014/main" id="{227DA1F5-DADF-4C44-821B-3C0BB1BD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57850"/>
            <a:ext cx="74295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32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DA2A18C3-3DCF-4C70-A0DB-92A4C244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578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6E2F1F1-3970-43C1-BD3E-99E25605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48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C96A7DD3-FD8A-4777-9A53-D01FF918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150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C1 is balanced and bidirectional; C2 is activation-skewed. This supports Netrin as tuning rather than broad developmental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1834417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1C573CF-8334-462A-A0AC-C4ED9C31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BF1ACF-121E-4998-ADC6-202AC8AE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938165-988A-4F03-BBA9-8DDA87D1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TAKEAWAYS / NEXT STEPS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33D5E2-79A4-4D20-89A1-1D3AC66B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What I would discuss today.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17057C4-DD40-4F51-91B2-3D38E266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The result is mature enough to decide the next validation experiments.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BA0E3BF-7533-4875-A83D-2980A133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5DCBB5-C26D-48DD-A76D-9F8FB76A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claim-card">
            <a:extLst xmlns:a="http://schemas.openxmlformats.org/drawingml/2006/main">
              <a:ext uri="{FF2B5EF4-FFF2-40B4-BE49-F238E27FC236}">
                <a16:creationId xmlns:a16="http://schemas.microsoft.com/office/drawing/2014/main" id="{30BB489A-FA88-49D6-B408-20A01221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7625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9" name="claim-rule">
            <a:extLst xmlns:a="http://schemas.openxmlformats.org/drawingml/2006/main">
              <a:ext uri="{FF2B5EF4-FFF2-40B4-BE49-F238E27FC236}">
                <a16:creationId xmlns:a16="http://schemas.microsoft.com/office/drawing/2014/main" id="{8BE938B6-8B54-4497-9284-B596B22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E3E"/>
          </a:solidFill>
          <a:ln xmlns:a="http://schemas.openxmlformats.org/drawingml/2006/main" w="0">
            <a:solidFill>
              <a:srgbClr val="C73E3E"/>
            </a:solidFill>
            <a:prstDash val="solid"/>
          </a:ln>
        </p:spPr>
      </p:sp>
      <p:sp>
        <p:nvSpPr>
          <p:cNvPr id="10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895781A7-9373-4315-A7FA-EBD0396F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73E3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C73E3E"/>
                </a:solidFill>
                <a:latin typeface="Aptos"/>
                <a:ea typeface="Aptos"/>
                <a:cs typeface="Aptos"/>
              </a:rPr>
              <a:t>Takeaway 1</a:t>
            </a:r>
          </a:p>
        </p:txBody>
      </p:sp>
      <p:sp>
        <p:nvSpPr>
          <p:cNvPr id="11" name="claim-body">
            <a:extLst xmlns:a="http://schemas.openxmlformats.org/drawingml/2006/main">
              <a:ext uri="{FF2B5EF4-FFF2-40B4-BE49-F238E27FC236}">
                <a16:creationId xmlns:a16="http://schemas.microsoft.com/office/drawing/2014/main" id="{54954DE1-4C18-4BC6-898D-1E136340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Netrin-1 produces a focused 24 h transcriptional response: 25 strict DEGs, 66 relaxed DEGs.</a:t>
            </a:r>
          </a:p>
        </p:txBody>
      </p:sp>
      <p:sp>
        <p:nvSpPr>
          <p:cNvPr id="12" name="claim-card">
            <a:extLst xmlns:a="http://schemas.openxmlformats.org/drawingml/2006/main">
              <a:ext uri="{FF2B5EF4-FFF2-40B4-BE49-F238E27FC236}">
                <a16:creationId xmlns:a16="http://schemas.microsoft.com/office/drawing/2014/main" id="{4B5CE3F9-F0FE-4154-ABDC-5E0FC627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47625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3" name="claim-rule">
            <a:extLst xmlns:a="http://schemas.openxmlformats.org/drawingml/2006/main">
              <a:ext uri="{FF2B5EF4-FFF2-40B4-BE49-F238E27FC236}">
                <a16:creationId xmlns:a16="http://schemas.microsoft.com/office/drawing/2014/main" id="{1150D9D7-A88B-422F-9F7B-1598990E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14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472317C4-007F-47DF-ACD3-B2D5690B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8804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D88040"/>
                </a:solidFill>
                <a:latin typeface="Aptos"/>
                <a:ea typeface="Aptos"/>
                <a:cs typeface="Aptos"/>
              </a:rPr>
              <a:t>Takeaway 2</a:t>
            </a:r>
          </a:p>
        </p:txBody>
      </p:sp>
      <p:sp>
        <p:nvSpPr>
          <p:cNvPr id="15" name="claim-body">
            <a:extLst xmlns:a="http://schemas.openxmlformats.org/drawingml/2006/main">
              <a:ext uri="{FF2B5EF4-FFF2-40B4-BE49-F238E27FC236}">
                <a16:creationId xmlns:a16="http://schemas.microsoft.com/office/drawing/2014/main" id="{5F608421-7E5C-4415-AAEC-2C8D5BB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GSEA reveals two coordinated modules: synapse / axon guidance up, cell-cycle / progenitor down.</a:t>
            </a:r>
          </a:p>
        </p:txBody>
      </p:sp>
      <p:sp>
        <p:nvSpPr>
          <p:cNvPr id="16" name="claim-card">
            <a:extLst xmlns:a="http://schemas.openxmlformats.org/drawingml/2006/main">
              <a:ext uri="{FF2B5EF4-FFF2-40B4-BE49-F238E27FC236}">
                <a16:creationId xmlns:a16="http://schemas.microsoft.com/office/drawing/2014/main" id="{18A1A950-C873-447D-8C94-2F11236B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17" name="claim-rule">
            <a:extLst xmlns:a="http://schemas.openxmlformats.org/drawingml/2006/main">
              <a:ext uri="{FF2B5EF4-FFF2-40B4-BE49-F238E27FC236}">
                <a16:creationId xmlns:a16="http://schemas.microsoft.com/office/drawing/2014/main" id="{F240DFF6-3418-4CEB-B128-F8E9CFB6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AB8"/>
          </a:solidFill>
          <a:ln xmlns:a="http://schemas.openxmlformats.org/drawingml/2006/main" w="0">
            <a:solidFill>
              <a:srgbClr val="3B7AB8"/>
            </a:solidFill>
            <a:prstDash val="solid"/>
          </a:ln>
        </p:spPr>
      </p:sp>
      <p:sp>
        <p:nvSpPr>
          <p:cNvPr id="18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1EE50CA7-7D87-4AF3-B3ED-50E25B1D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B7AB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3B7AB8"/>
                </a:solidFill>
                <a:latin typeface="Aptos"/>
                <a:ea typeface="Aptos"/>
                <a:cs typeface="Aptos"/>
              </a:rPr>
              <a:t>Takeaway 3</a:t>
            </a:r>
          </a:p>
        </p:txBody>
      </p:sp>
      <p:sp>
        <p:nvSpPr>
          <p:cNvPr id="19" name="claim-body">
            <a:extLst xmlns:a="http://schemas.openxmlformats.org/drawingml/2006/main">
              <a:ext uri="{FF2B5EF4-FFF2-40B4-BE49-F238E27FC236}">
                <a16:creationId xmlns:a16="http://schemas.microsoft.com/office/drawing/2014/main" id="{7492E0A9-5E12-4A88-A958-F84C0FC3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Cell-type markers show why bulk interpretation must separate direct neuronal and indirect microglial signals.</a:t>
            </a:r>
          </a:p>
        </p:txBody>
      </p:sp>
      <p:sp>
        <p:nvSpPr>
          <p:cNvPr id="20" name="claim-card">
            <a:extLst xmlns:a="http://schemas.openxmlformats.org/drawingml/2006/main">
              <a:ext uri="{FF2B5EF4-FFF2-40B4-BE49-F238E27FC236}">
                <a16:creationId xmlns:a16="http://schemas.microsoft.com/office/drawing/2014/main" id="{14CCA63F-CA3A-4D13-A2A8-24159EC4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47625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A"/>
            </a:solidFill>
            <a:prstDash val="solid"/>
          </a:ln>
        </p:spPr>
      </p:sp>
      <p:sp>
        <p:nvSpPr>
          <p:cNvPr id="21" name="claim-rule">
            <a:extLst xmlns:a="http://schemas.openxmlformats.org/drawingml/2006/main">
              <a:ext uri="{FF2B5EF4-FFF2-40B4-BE49-F238E27FC236}">
                <a16:creationId xmlns:a16="http://schemas.microsoft.com/office/drawing/2014/main" id="{E804E58D-F838-4197-B8C2-E9B4F459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5A"/>
          </a:solidFill>
          <a:ln xmlns:a="http://schemas.openxmlformats.org/drawingml/2006/main" w="0">
            <a:solidFill>
              <a:srgbClr val="5B8F5A"/>
            </a:solidFill>
            <a:prstDash val="solid"/>
          </a:ln>
        </p:spPr>
      </p:sp>
      <p:sp>
        <p:nvSpPr>
          <p:cNvPr id="22" name="claim-heading">
            <a:extLst xmlns:a="http://schemas.openxmlformats.org/drawingml/2006/main">
              <a:ext uri="{FF2B5EF4-FFF2-40B4-BE49-F238E27FC236}">
                <a16:creationId xmlns:a16="http://schemas.microsoft.com/office/drawing/2014/main" id="{7F0C1E96-75D6-4960-BF86-871595EC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8F5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B8F5A"/>
                </a:solidFill>
                <a:latin typeface="Aptos"/>
                <a:ea typeface="Aptos"/>
                <a:cs typeface="Aptos"/>
              </a:rPr>
              <a:t>Next decisions</a:t>
            </a:r>
          </a:p>
        </p:txBody>
      </p:sp>
      <p:sp>
        <p:nvSpPr>
          <p:cNvPr id="23" name="claim-body">
            <a:extLst xmlns:a="http://schemas.openxmlformats.org/drawingml/2006/main">
              <a:ext uri="{FF2B5EF4-FFF2-40B4-BE49-F238E27FC236}">
                <a16:creationId xmlns:a16="http://schemas.microsoft.com/office/drawing/2014/main" id="{EAF2AF7E-1ADE-406B-A093-2F97C1CA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F2733"/>
                </a:solidFill>
                <a:latin typeface="Aptos"/>
                <a:ea typeface="Aptos"/>
                <a:cs typeface="Aptos"/>
              </a:rPr>
              <a:t>Prioritize: scRNA-seq or sorted populations; IHC for microglia/composition; receptor perturbation; LPS/TLR controls.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E895EBB-2CF6-46F7-B5B1-94AF8AB9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Group discussion prompt: which validation path is the fastest route to a defensible mechanism?</a:t>
            </a:r>
          </a:p>
        </p:txBody>
      </p:sp>
    </p:spTree>
    <p:extLst>
      <p:ext uri="{BB962C8B-B14F-4D97-AF65-F5344CB8AC3E}">
        <p14:creationId xmlns:p14="http://schemas.microsoft.com/office/powerpoint/2010/main" val="7510467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51B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ttom-band">
            <a:extLst xmlns:a="http://schemas.openxmlformats.org/drawingml/2006/main">
              <a:ext uri="{FF2B5EF4-FFF2-40B4-BE49-F238E27FC236}">
                <a16:creationId xmlns:a16="http://schemas.microsoft.com/office/drawing/2014/main" id="{F61FE9B9-C7A2-4D08-90F7-739F6C04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1A0667-5995-4FB3-8E46-AF80D492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CDD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9CDD2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865256F-F332-4C3D-865C-FBED874B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Additional result slides for questions.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AD6D897-8D17-41CF-9690-C217BD87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DCE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7DCE1"/>
                </a:solidFill>
                <a:latin typeface="Aptos"/>
                <a:ea typeface="Aptos"/>
                <a:cs typeface="Aptos"/>
              </a:rPr>
              <a:t>ORA and heatmap evidence kept at the end.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956CD1-4E31-41D4-88AB-5D52E7C5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008919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82D389B-1C9B-40B5-8729-CDEBC199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A762921-82C7-4AD5-8D11-84D7F095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70BCD7-F1F4-4758-85F6-BCB0B4F3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BACKUP: C2 ORA GO BP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8008D8-D86C-44B5-9697-CED8ECDC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ORA confirms neuronal maturation up and immune/progenitor programs down.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BD4D17E-4FD9-49FF-A1A2-5808F14A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Strict DEG input; GO terms simplified at cutoff 0.7.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FD62786-8570-4E4F-B47D-BC9AC78B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B78392-341F-4705-9FEA-844583A9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80b501c574be6"/>
          <a:stretch xmlns:a="http://schemas.openxmlformats.org/drawingml/2006/main"/>
        </p:blipFill>
        <p:spPr>
          <a:xfrm xmlns:a="http://schemas.openxmlformats.org/drawingml/2006/main">
            <a:off x="552450" y="2111086"/>
            <a:ext cx="5429250" cy="3454977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874d378af492d"/>
          <a:stretch xmlns:a="http://schemas.openxmlformats.org/drawingml/2006/main"/>
        </p:blipFill>
        <p:spPr>
          <a:xfrm xmlns:a="http://schemas.openxmlformats.org/drawingml/2006/main">
            <a:off x="6343650" y="2177761"/>
            <a:ext cx="5219700" cy="33216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7556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A6D88BA-490A-4602-8E0F-3BEBB4EE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7CEDAE-3482-484C-BFFD-AF6B9E90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C81257-4B87-4505-9F2E-930A4657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BACKUP: C2 ORA KEGG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ADF893-E3F7-4F16-86C8-DA72FDBA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KEGG ORA provides pathway-level context for development.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F4ECBC4-67D0-4DAE-B205-DE68F717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Disease-named KEGG terms are interpreted as shared immune machinery, not disease states.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EBA8D6A5-58D5-4426-A66B-0E31B561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8850F9-093E-4A74-886D-09CFED1B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cbfde4b2941b3"/>
          <a:stretch xmlns:a="http://schemas.openxmlformats.org/drawingml/2006/main"/>
        </p:blipFill>
        <p:spPr>
          <a:xfrm xmlns:a="http://schemas.openxmlformats.org/drawingml/2006/main">
            <a:off x="552450" y="2111086"/>
            <a:ext cx="5429250" cy="3454977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6651819364800"/>
          <a:stretch xmlns:a="http://schemas.openxmlformats.org/drawingml/2006/main"/>
        </p:blipFill>
        <p:spPr>
          <a:xfrm xmlns:a="http://schemas.openxmlformats.org/drawingml/2006/main">
            <a:off x="6343650" y="2177761"/>
            <a:ext cx="5219700" cy="33216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251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8A7D6F7-8BCD-46F7-9660-BD5DAD37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832795C-D9DA-44A8-8FEA-DC73630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040"/>
          </a:solidFill>
          <a:ln xmlns:a="http://schemas.openxmlformats.org/drawingml/2006/main" w="0">
            <a:solidFill>
              <a:srgbClr val="D8804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8190DF-9F13-4322-A42A-48326426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BACKUP: C1 RELAXED DEG HEATMAP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67A28-64B0-4CDD-8F7C-9A1965C4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1F2733"/>
                </a:solidFill>
                <a:latin typeface="Aptos Display"/>
                <a:ea typeface="Aptos Display"/>
                <a:cs typeface="Aptos Display"/>
              </a:rPr>
              <a:t>The two-module structure is visible in both corrected and raw VST views.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4B52C25-88D4-44FD-98B3-8CC0F21B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Batch correction is visualization-only; statistical testing remains on original counts.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3FFE256-C88A-453F-BE76-7E387339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Netrin-1 RNA-seq result update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106320-CDAA-4E71-AD84-0C7F9736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667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5F667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211338b1640ce"/>
          <a:stretch xmlns:a="http://schemas.openxmlformats.org/drawingml/2006/main"/>
        </p:blipFill>
        <p:spPr>
          <a:xfrm xmlns:a="http://schemas.openxmlformats.org/drawingml/2006/main">
            <a:off x="1281545" y="1809750"/>
            <a:ext cx="3723409" cy="4095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7795187934ea0"/>
          <a:stretch xmlns:a="http://schemas.openxmlformats.org/drawingml/2006/main"/>
        </p:blipFill>
        <p:spPr>
          <a:xfrm xmlns:a="http://schemas.openxmlformats.org/drawingml/2006/main">
            <a:off x="6806045" y="1809750"/>
            <a:ext cx="3723409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22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2026-06-17T21:39:28.7500000Z</dcterms:created>
  <dcterms:modified xsi:type="dcterms:W3CDTF">2026-06-17T21:39:28.7500000Z</dcterms:modified>
</coreProperties>
</file>