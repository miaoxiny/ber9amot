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60" r:id="rId2"/>
    <p:sldId id="261" r:id="rId3"/>
    <p:sldId id="262" r:id="rId4"/>
    <p:sldId id="277" r:id="rId5"/>
    <p:sldId id="263" r:id="rId6"/>
    <p:sldId id="264" r:id="rId7"/>
    <p:sldId id="265" r:id="rId8"/>
    <p:sldId id="278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84" d="100"/>
          <a:sy n="84" d="100"/>
        </p:scale>
        <p:origin x="83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5432A5-8DFF-40F1-8A38-E0E5772A455B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0B9D99-38AE-4379-8F7C-951964B9C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723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开场：本研究用 </a:t>
            </a:r>
            <a:r>
              <a:rPr lang="en-US" altLang="zh-CN"/>
              <a:t>bulk RNA-seq </a:t>
            </a:r>
            <a:r>
              <a:rPr lang="zh-CN" altLang="en-US"/>
              <a:t>研究 </a:t>
            </a:r>
            <a:r>
              <a:rPr lang="en-US" altLang="zh-CN"/>
              <a:t>Netrin-1 </a:t>
            </a:r>
            <a:r>
              <a:rPr lang="zh-CN" altLang="en-US"/>
              <a:t>对大鼠皮层原代神经元的转录组作用。</a:t>
            </a:r>
            <a:r>
              <a:rPr lang="en-US" altLang="zh-CN"/>
              <a:t>3 </a:t>
            </a:r>
            <a:r>
              <a:rPr lang="zh-CN" altLang="en-US"/>
              <a:t>条件（</a:t>
            </a:r>
            <a:r>
              <a:rPr lang="en-US" altLang="zh-CN"/>
              <a:t>DIV1 / DIV2 / DIV2+Netrin-1</a:t>
            </a:r>
            <a:r>
              <a:rPr lang="zh-CN" altLang="en-US"/>
              <a:t>）</a:t>
            </a:r>
            <a:r>
              <a:rPr lang="en-US" altLang="zh-CN"/>
              <a:t>× 3 </a:t>
            </a:r>
            <a:r>
              <a:rPr lang="zh-CN" altLang="en-US"/>
              <a:t>生物学重复。主对比</a:t>
            </a:r>
            <a:r>
              <a:rPr lang="en-US" altLang="zh-CN"/>
              <a:t>=Netrin </a:t>
            </a:r>
            <a:r>
              <a:rPr lang="zh-CN" altLang="en-US"/>
              <a:t>处理效应；次对比</a:t>
            </a:r>
            <a:r>
              <a:rPr lang="en-US" altLang="zh-CN"/>
              <a:t>=</a:t>
            </a:r>
            <a:r>
              <a:rPr lang="zh-CN" altLang="en-US"/>
              <a:t>发育时间轴。强调：混合培养，核心是区分神经元直接效应与胶质间接效应。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0B9D99-38AE-4379-8F7C-951964B9C3F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682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Netrin-1 </a:t>
            </a:r>
            <a:r>
              <a:rPr lang="zh-CN" altLang="en-US"/>
              <a:t>是经典轴突导向配体（</a:t>
            </a:r>
            <a:r>
              <a:rPr lang="en-US" altLang="zh-CN"/>
              <a:t>DCC / UNC5 / Neogenin</a:t>
            </a:r>
            <a:r>
              <a:rPr lang="zh-CN" altLang="en-US"/>
              <a:t>）。急性效应（生长锥导向、局部翻译）清楚，但 </a:t>
            </a:r>
            <a:r>
              <a:rPr lang="en-US" altLang="zh-CN"/>
              <a:t>24h </a:t>
            </a:r>
            <a:r>
              <a:rPr lang="zh-CN" altLang="en-US"/>
              <a:t>转录组程序未知。混合培养的核心挑战是把信号归到正确的细胞来源。本报告目标：刻画 </a:t>
            </a:r>
            <a:r>
              <a:rPr lang="en-US" altLang="zh-CN"/>
              <a:t>Netrin </a:t>
            </a:r>
            <a:r>
              <a:rPr lang="zh-CN" altLang="en-US"/>
              <a:t>转录响应并做细胞来源归因。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0B9D99-38AE-4379-8F7C-951964B9C3F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183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设计 </a:t>
            </a:r>
            <a:r>
              <a:rPr lang="en-US" altLang="zh-CN"/>
              <a:t>3×3</a:t>
            </a:r>
            <a:r>
              <a:rPr lang="zh-CN" altLang="en-US"/>
              <a:t>。</a:t>
            </a:r>
            <a:r>
              <a:rPr lang="en-US" altLang="zh-CN"/>
              <a:t>DESeq2 ~batch+condition</a:t>
            </a:r>
            <a:r>
              <a:rPr lang="zh-CN" altLang="en-US"/>
              <a:t>，</a:t>
            </a:r>
            <a:r>
              <a:rPr lang="en-US" altLang="zh-CN"/>
              <a:t>DIV2 </a:t>
            </a:r>
            <a:r>
              <a:rPr lang="zh-CN" altLang="en-US"/>
              <a:t>为参考；用 </a:t>
            </a:r>
            <a:r>
              <a:rPr lang="en-US" altLang="zh-CN"/>
              <a:t>raw LFC</a:t>
            </a:r>
            <a:r>
              <a:rPr lang="zh-CN" altLang="en-US"/>
              <a:t>（不做 </a:t>
            </a:r>
            <a:r>
              <a:rPr lang="en-US" altLang="zh-CN"/>
              <a:t>apeglm </a:t>
            </a:r>
            <a:r>
              <a:rPr lang="zh-CN" altLang="en-US"/>
              <a:t>收缩，符合主流且避免火山图压缩）。</a:t>
            </a:r>
            <a:r>
              <a:rPr lang="en-US" altLang="zh-CN"/>
              <a:t>STRICT=padj&lt;0.05 </a:t>
            </a:r>
            <a:r>
              <a:rPr lang="zh-CN" altLang="en-US"/>
              <a:t>且 </a:t>
            </a:r>
            <a:r>
              <a:rPr lang="en-US" altLang="zh-CN"/>
              <a:t>|LFC|&gt;0.585</a:t>
            </a:r>
            <a:r>
              <a:rPr lang="zh-CN" altLang="en-US"/>
              <a:t>；</a:t>
            </a:r>
            <a:r>
              <a:rPr lang="en-US" altLang="zh-CN"/>
              <a:t>RELAXED=padj&lt;0.05</a:t>
            </a:r>
            <a:r>
              <a:rPr lang="zh-CN" altLang="en-US"/>
              <a:t>。富集：</a:t>
            </a:r>
            <a:r>
              <a:rPr lang="en-US" altLang="zh-CN"/>
              <a:t>GSEA</a:t>
            </a:r>
            <a:r>
              <a:rPr lang="zh-CN" altLang="en-US"/>
              <a:t>（</a:t>
            </a:r>
            <a:r>
              <a:rPr lang="en-US" altLang="zh-CN"/>
              <a:t>Wald </a:t>
            </a:r>
            <a:r>
              <a:rPr lang="zh-CN" altLang="en-US"/>
              <a:t>统计量排序）</a:t>
            </a:r>
            <a:r>
              <a:rPr lang="en-US" altLang="zh-CN"/>
              <a:t>+ ORA</a:t>
            </a:r>
            <a:r>
              <a:rPr lang="zh-CN" altLang="en-US"/>
              <a:t>。批次校正只用于可视化，统计仍在原始 </a:t>
            </a:r>
            <a:r>
              <a:rPr lang="en-US" altLang="zh-CN"/>
              <a:t>counts </a:t>
            </a:r>
            <a:r>
              <a:rPr lang="zh-CN" altLang="en-US"/>
              <a:t>上。右图：校正后 </a:t>
            </a:r>
            <a:r>
              <a:rPr lang="en-US" altLang="zh-CN"/>
              <a:t>PC1 87.9%→94.9%</a:t>
            </a:r>
            <a:r>
              <a:rPr lang="zh-CN" altLang="en-US"/>
              <a:t>，</a:t>
            </a:r>
            <a:r>
              <a:rPr lang="en-US" altLang="zh-CN"/>
              <a:t>Netrin </a:t>
            </a:r>
            <a:r>
              <a:rPr lang="zh-CN" altLang="en-US"/>
              <a:t>在 </a:t>
            </a:r>
            <a:r>
              <a:rPr lang="en-US" altLang="zh-CN"/>
              <a:t>PC2 </a:t>
            </a:r>
            <a:r>
              <a:rPr lang="zh-CN" altLang="en-US"/>
              <a:t>分开</a:t>
            </a:r>
            <a:r>
              <a:rPr lang="en-US" altLang="zh-CN"/>
              <a:t>——</a:t>
            </a:r>
            <a:r>
              <a:rPr lang="zh-CN" altLang="en-US"/>
              <a:t>发现时刻。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0B9D99-38AE-4379-8F7C-951964B9C3F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6089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质量过硬：</a:t>
            </a:r>
            <a:r>
              <a:rPr lang="en-US" altLang="zh-CN"/>
              <a:t>RIN≥9</a:t>
            </a:r>
            <a:r>
              <a:rPr lang="zh-CN" altLang="en-US"/>
              <a:t>（</a:t>
            </a:r>
            <a:r>
              <a:rPr lang="en-US" altLang="zh-CN"/>
              <a:t>8/9=10</a:t>
            </a:r>
            <a:r>
              <a:rPr lang="zh-CN" altLang="en-US"/>
              <a:t>）；每样本 </a:t>
            </a:r>
            <a:r>
              <a:rPr lang="en-US" altLang="zh-CN"/>
              <a:t>22.95–36.11M quantified reads</a:t>
            </a:r>
            <a:r>
              <a:rPr lang="zh-CN" altLang="en-US"/>
              <a:t>；检出 </a:t>
            </a:r>
            <a:r>
              <a:rPr lang="en-US" altLang="zh-CN"/>
              <a:t>16,451–17,093 </a:t>
            </a:r>
            <a:r>
              <a:rPr lang="zh-CN" altLang="en-US"/>
              <a:t>基因；过滤后 </a:t>
            </a:r>
            <a:r>
              <a:rPr lang="en-US" altLang="zh-CN"/>
              <a:t>14,148</a:t>
            </a:r>
            <a:r>
              <a:rPr lang="zh-CN" altLang="en-US"/>
              <a:t>。样本相关 </a:t>
            </a:r>
            <a:r>
              <a:rPr lang="en-US" altLang="zh-CN"/>
              <a:t>r=0.9861–0.9987</a:t>
            </a:r>
            <a:r>
              <a:rPr lang="zh-CN" altLang="en-US"/>
              <a:t>，无离群；</a:t>
            </a:r>
            <a:r>
              <a:rPr lang="en-US" altLang="zh-CN"/>
              <a:t>size factor 0.74–1.16</a:t>
            </a:r>
            <a:r>
              <a:rPr lang="zh-CN" altLang="en-US"/>
              <a:t>；中位 </a:t>
            </a:r>
            <a:r>
              <a:rPr lang="en-US" altLang="zh-CN"/>
              <a:t>dispersion 0.0060</a:t>
            </a:r>
            <a:r>
              <a:rPr lang="zh-CN" altLang="en-US"/>
              <a:t>，重复极一致。右图 </a:t>
            </a:r>
            <a:r>
              <a:rPr lang="en-US" altLang="zh-CN"/>
              <a:t>PCA </a:t>
            </a:r>
            <a:r>
              <a:rPr lang="zh-CN" altLang="en-US"/>
              <a:t>校正后 </a:t>
            </a:r>
            <a:r>
              <a:rPr lang="en-US" altLang="zh-CN"/>
              <a:t>DIV2 </a:t>
            </a:r>
            <a:r>
              <a:rPr lang="zh-CN" altLang="en-US"/>
              <a:t>与 </a:t>
            </a:r>
            <a:r>
              <a:rPr lang="en-US" altLang="zh-CN"/>
              <a:t>DIV2+Netrin </a:t>
            </a:r>
            <a:r>
              <a:rPr lang="zh-CN" altLang="en-US"/>
              <a:t>在 </a:t>
            </a:r>
            <a:r>
              <a:rPr lang="en-US" altLang="zh-CN"/>
              <a:t>PC2 </a:t>
            </a:r>
            <a:r>
              <a:rPr lang="zh-CN" altLang="en-US"/>
              <a:t>分开，首次直观显示 </a:t>
            </a:r>
            <a:r>
              <a:rPr lang="en-US" altLang="zh-CN"/>
              <a:t>Netrin </a:t>
            </a:r>
            <a:r>
              <a:rPr lang="zh-CN" altLang="en-US"/>
              <a:t>信号。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0B9D99-38AE-4379-8F7C-951964B9C3F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6731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主对比聚焦且双向：</a:t>
            </a:r>
            <a:r>
              <a:rPr lang="en-US" altLang="zh-CN"/>
              <a:t>STRICT 25</a:t>
            </a:r>
            <a:r>
              <a:rPr lang="zh-CN" altLang="en-US"/>
              <a:t>（</a:t>
            </a:r>
            <a:r>
              <a:rPr lang="en-US" altLang="zh-CN"/>
              <a:t>7↑/18↓</a:t>
            </a:r>
            <a:r>
              <a:rPr lang="zh-CN" altLang="en-US"/>
              <a:t>），</a:t>
            </a:r>
            <a:r>
              <a:rPr lang="en-US" altLang="zh-CN"/>
              <a:t>RELAXED 66</a:t>
            </a:r>
            <a:r>
              <a:rPr lang="zh-CN" altLang="en-US"/>
              <a:t>。下调为主。最显著下调 </a:t>
            </a:r>
            <a:r>
              <a:rPr lang="en-US" altLang="zh-CN"/>
              <a:t>Olig1</a:t>
            </a:r>
            <a:r>
              <a:rPr lang="zh-CN" altLang="en-US"/>
              <a:t>（</a:t>
            </a:r>
            <a:r>
              <a:rPr lang="en-US" altLang="zh-CN"/>
              <a:t>LFC -1.00</a:t>
            </a:r>
            <a:r>
              <a:rPr lang="zh-CN" altLang="en-US"/>
              <a:t>，</a:t>
            </a:r>
            <a:r>
              <a:rPr lang="en-US" altLang="zh-CN"/>
              <a:t>padj 3.3e-14</a:t>
            </a:r>
            <a:r>
              <a:rPr lang="zh-CN" altLang="en-US"/>
              <a:t>），还有 </a:t>
            </a:r>
            <a:r>
              <a:rPr lang="en-US" altLang="zh-CN"/>
              <a:t>Olig2/Ccnd1/Sparcl1</a:t>
            </a:r>
            <a:r>
              <a:rPr lang="zh-CN" altLang="en-US"/>
              <a:t>；最显著上调 </a:t>
            </a:r>
            <a:r>
              <a:rPr lang="en-US" altLang="zh-CN"/>
              <a:t>C3</a:t>
            </a:r>
            <a:r>
              <a:rPr lang="zh-CN" altLang="en-US"/>
              <a:t>（</a:t>
            </a:r>
            <a:r>
              <a:rPr lang="en-US" altLang="zh-CN"/>
              <a:t>+2.54</a:t>
            </a:r>
            <a:r>
              <a:rPr lang="zh-CN" altLang="en-US"/>
              <a:t>，</a:t>
            </a:r>
            <a:r>
              <a:rPr lang="en-US" altLang="zh-CN"/>
              <a:t>padj 1.6e-20</a:t>
            </a:r>
            <a:r>
              <a:rPr lang="zh-CN" altLang="en-US"/>
              <a:t>）。注意：</a:t>
            </a:r>
            <a:r>
              <a:rPr lang="en-US" altLang="zh-CN"/>
              <a:t>C3 </a:t>
            </a:r>
            <a:r>
              <a:rPr lang="zh-CN" altLang="en-US"/>
              <a:t>是</a:t>
            </a:r>
            <a:r>
              <a:rPr lang="en-US" altLang="zh-CN"/>
              <a:t>"</a:t>
            </a:r>
            <a:r>
              <a:rPr lang="zh-CN" altLang="en-US"/>
              <a:t>最显著</a:t>
            </a:r>
            <a:r>
              <a:rPr lang="en-US" altLang="zh-CN"/>
              <a:t>"</a:t>
            </a:r>
            <a:r>
              <a:rPr lang="zh-CN" altLang="en-US"/>
              <a:t>非</a:t>
            </a:r>
            <a:r>
              <a:rPr lang="en-US" altLang="zh-CN"/>
              <a:t>"</a:t>
            </a:r>
            <a:r>
              <a:rPr lang="zh-CN" altLang="en-US"/>
              <a:t>最高表达</a:t>
            </a:r>
            <a:r>
              <a:rPr lang="en-US" altLang="zh-CN"/>
              <a:t>"</a:t>
            </a:r>
            <a:r>
              <a:rPr lang="zh-CN" altLang="en-US"/>
              <a:t>（</a:t>
            </a:r>
            <a:r>
              <a:rPr lang="en-US" altLang="zh-CN"/>
              <a:t>Apoe baseMean </a:t>
            </a:r>
            <a:r>
              <a:rPr lang="zh-CN" altLang="en-US"/>
              <a:t>约其 </a:t>
            </a:r>
            <a:r>
              <a:rPr lang="en-US" altLang="zh-CN"/>
              <a:t>5×</a:t>
            </a:r>
            <a:r>
              <a:rPr lang="zh-CN" altLang="en-US"/>
              <a:t>）。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0B9D99-38AE-4379-8F7C-951964B9C3F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4889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无阈值 </a:t>
            </a:r>
            <a:r>
              <a:rPr lang="en-US" altLang="zh-CN"/>
              <a:t>GSEA</a:t>
            </a:r>
            <a:r>
              <a:rPr lang="zh-CN" altLang="en-US"/>
              <a:t>：</a:t>
            </a:r>
            <a:r>
              <a:rPr lang="en-US" altLang="zh-CN"/>
              <a:t>481 GO BP</a:t>
            </a:r>
            <a:r>
              <a:rPr lang="zh-CN" altLang="en-US"/>
              <a:t>（</a:t>
            </a:r>
            <a:r>
              <a:rPr lang="en-US" altLang="zh-CN"/>
              <a:t>255 </a:t>
            </a:r>
            <a:r>
              <a:rPr lang="zh-CN" altLang="en-US"/>
              <a:t>激活</a:t>
            </a:r>
            <a:r>
              <a:rPr lang="en-US" altLang="zh-CN"/>
              <a:t>/226 </a:t>
            </a:r>
            <a:r>
              <a:rPr lang="zh-CN" altLang="en-US"/>
              <a:t>抑制）</a:t>
            </a:r>
            <a:r>
              <a:rPr lang="en-US" altLang="zh-CN"/>
              <a:t>+ 42 KEGG</a:t>
            </a:r>
            <a:r>
              <a:rPr lang="zh-CN" altLang="en-US"/>
              <a:t>（</a:t>
            </a:r>
            <a:r>
              <a:rPr lang="en-US" altLang="zh-CN"/>
              <a:t>20/22</a:t>
            </a:r>
            <a:r>
              <a:rPr lang="zh-CN" altLang="en-US"/>
              <a:t>）显著。激活</a:t>
            </a:r>
            <a:r>
              <a:rPr lang="en-US" altLang="zh-CN"/>
              <a:t>=</a:t>
            </a:r>
            <a:r>
              <a:rPr lang="zh-CN" altLang="en-US"/>
              <a:t>突触</a:t>
            </a:r>
            <a:r>
              <a:rPr lang="en-US" altLang="zh-CN"/>
              <a:t>/</a:t>
            </a:r>
            <a:r>
              <a:rPr lang="zh-CN" altLang="en-US"/>
              <a:t>胞吐</a:t>
            </a:r>
            <a:r>
              <a:rPr lang="en-US" altLang="zh-CN"/>
              <a:t>/</a:t>
            </a:r>
            <a:r>
              <a:rPr lang="zh-CN" altLang="en-US"/>
              <a:t>学习记忆 </a:t>
            </a:r>
            <a:r>
              <a:rPr lang="en-US" altLang="zh-CN"/>
              <a:t>+ axon guidance</a:t>
            </a:r>
            <a:r>
              <a:rPr lang="zh-CN" altLang="en-US"/>
              <a:t>；抑制</a:t>
            </a:r>
            <a:r>
              <a:rPr lang="en-US" altLang="zh-CN"/>
              <a:t>=</a:t>
            </a:r>
            <a:r>
              <a:rPr lang="zh-CN" altLang="en-US"/>
              <a:t>细胞周期</a:t>
            </a:r>
            <a:r>
              <a:rPr lang="en-US" altLang="zh-CN"/>
              <a:t>/DNA </a:t>
            </a:r>
            <a:r>
              <a:rPr lang="zh-CN" altLang="en-US"/>
              <a:t>复制（</a:t>
            </a:r>
            <a:r>
              <a:rPr lang="en-US" altLang="zh-CN"/>
              <a:t>KEGG Cell cycle NES -2.70</a:t>
            </a:r>
            <a:r>
              <a:rPr lang="zh-CN" altLang="en-US"/>
              <a:t>，</a:t>
            </a:r>
            <a:r>
              <a:rPr lang="en-US" altLang="zh-CN"/>
              <a:t>padj 1.7e-8</a:t>
            </a:r>
            <a:r>
              <a:rPr lang="zh-CN" altLang="en-US"/>
              <a:t>）。核心：</a:t>
            </a:r>
            <a:r>
              <a:rPr lang="en-US" altLang="zh-CN"/>
              <a:t>axon guidance </a:t>
            </a:r>
            <a:r>
              <a:rPr lang="zh-CN" altLang="en-US"/>
              <a:t>在 </a:t>
            </a:r>
            <a:r>
              <a:rPr lang="en-US" altLang="zh-CN"/>
              <a:t>GO(+1.85) </a:t>
            </a:r>
            <a:r>
              <a:rPr lang="zh-CN" altLang="en-US"/>
              <a:t>与 </a:t>
            </a:r>
            <a:r>
              <a:rPr lang="en-US" altLang="zh-CN"/>
              <a:t>KEGG(+1.72) </a:t>
            </a:r>
            <a:r>
              <a:rPr lang="zh-CN" altLang="en-US"/>
              <a:t>双重显著</a:t>
            </a:r>
            <a:r>
              <a:rPr lang="en-US" altLang="zh-CN"/>
              <a:t>——Netrin </a:t>
            </a:r>
            <a:r>
              <a:rPr lang="zh-CN" altLang="en-US"/>
              <a:t>在转录层面 </a:t>
            </a:r>
            <a:r>
              <a:rPr lang="en-US" altLang="zh-CN"/>
              <a:t>engage </a:t>
            </a:r>
            <a:r>
              <a:rPr lang="zh-CN" altLang="en-US"/>
              <a:t>自身通路。注：</a:t>
            </a:r>
            <a:r>
              <a:rPr lang="en-US" altLang="zh-CN"/>
              <a:t>KEGG </a:t>
            </a:r>
            <a:r>
              <a:rPr lang="zh-CN" altLang="en-US"/>
              <a:t>疾病名是共享免疫机制基因，非疾病状态。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0B9D99-38AE-4379-8F7C-951964B9C3F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9253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诚实框定：这些 </a:t>
            </a:r>
            <a:r>
              <a:rPr lang="en-US" altLang="zh-CN"/>
              <a:t>top </a:t>
            </a:r>
            <a:r>
              <a:rPr lang="zh-CN" altLang="en-US"/>
              <a:t>单基因 </a:t>
            </a:r>
            <a:r>
              <a:rPr lang="en-US" altLang="zh-CN"/>
              <a:t>DEG </a:t>
            </a:r>
            <a:r>
              <a:rPr lang="zh-CN" altLang="en-US"/>
              <a:t>多为 </a:t>
            </a:r>
            <a:r>
              <a:rPr lang="en-US" altLang="zh-CN"/>
              <a:t>microglia/</a:t>
            </a:r>
            <a:r>
              <a:rPr lang="zh-CN" altLang="en-US"/>
              <a:t>胶质来源（免疫 </a:t>
            </a:r>
            <a:r>
              <a:rPr lang="en-US" altLang="zh-CN"/>
              <a:t>C3/Adgre1/Apoe/Acod1</a:t>
            </a:r>
            <a:r>
              <a:rPr lang="zh-CN" altLang="en-US"/>
              <a:t>；祖细胞</a:t>
            </a:r>
            <a:r>
              <a:rPr lang="en-US" altLang="zh-CN"/>
              <a:t>/</a:t>
            </a:r>
            <a:r>
              <a:rPr lang="zh-CN" altLang="en-US"/>
              <a:t>胶质 </a:t>
            </a:r>
            <a:r>
              <a:rPr lang="en-US" altLang="zh-CN"/>
              <a:t>Olig1/Olig2/Sparcl1/Ccnd1</a:t>
            </a:r>
            <a:r>
              <a:rPr lang="zh-CN" altLang="en-US"/>
              <a:t>），不是神经元。神经元的 </a:t>
            </a:r>
            <a:r>
              <a:rPr lang="en-US" altLang="zh-CN"/>
              <a:t>axon guidance/</a:t>
            </a:r>
            <a:r>
              <a:rPr lang="zh-CN" altLang="en-US"/>
              <a:t>突触信号是协调而微弱的，只在 </a:t>
            </a:r>
            <a:r>
              <a:rPr lang="en-US" altLang="zh-CN"/>
              <a:t>GSEA </a:t>
            </a:r>
            <a:r>
              <a:rPr lang="zh-CN" altLang="en-US"/>
              <a:t>层面显现。为后面细胞来源分析铺垫。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0B9D99-38AE-4379-8F7C-951964B9C3F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3689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把 </a:t>
            </a:r>
            <a:r>
              <a:rPr lang="en-US" altLang="zh-CN"/>
              <a:t>66 </a:t>
            </a:r>
            <a:r>
              <a:rPr lang="zh-CN" altLang="en-US"/>
              <a:t>个 </a:t>
            </a:r>
            <a:r>
              <a:rPr lang="en-US" altLang="zh-CN"/>
              <a:t>RELAXED </a:t>
            </a:r>
            <a:r>
              <a:rPr lang="zh-CN" altLang="en-US"/>
              <a:t>基因按 </a:t>
            </a:r>
            <a:r>
              <a:rPr lang="en-US" altLang="zh-CN"/>
              <a:t>DIV1→DIV2→Netrin </a:t>
            </a:r>
            <a:r>
              <a:rPr lang="zh-CN" altLang="en-US"/>
              <a:t>轨迹分成六型。主型 </a:t>
            </a:r>
            <a:r>
              <a:rPr lang="en-US" altLang="zh-CN"/>
              <a:t>P5 </a:t>
            </a:r>
            <a:r>
              <a:rPr lang="zh-CN" altLang="en-US"/>
              <a:t>峰在 </a:t>
            </a:r>
            <a:r>
              <a:rPr lang="en-US" altLang="zh-CN"/>
              <a:t>DIV2</a:t>
            </a:r>
            <a:r>
              <a:rPr lang="zh-CN" altLang="en-US"/>
              <a:t>（</a:t>
            </a:r>
            <a:r>
              <a:rPr lang="en-US" altLang="zh-CN"/>
              <a:t>n=46</a:t>
            </a:r>
            <a:r>
              <a:rPr lang="zh-CN" altLang="en-US"/>
              <a:t>）：发育中被诱导、被 </a:t>
            </a:r>
            <a:r>
              <a:rPr lang="en-US" altLang="zh-CN"/>
              <a:t>Netrin </a:t>
            </a:r>
            <a:r>
              <a:rPr lang="zh-CN" altLang="en-US"/>
              <a:t>部分逆转。</a:t>
            </a:r>
            <a:r>
              <a:rPr lang="en-US" altLang="zh-CN"/>
              <a:t>P2 </a:t>
            </a:r>
            <a:r>
              <a:rPr lang="zh-CN" altLang="en-US"/>
              <a:t>谷在 </a:t>
            </a:r>
            <a:r>
              <a:rPr lang="en-US" altLang="zh-CN"/>
              <a:t>DIV2</a:t>
            </a:r>
            <a:r>
              <a:rPr lang="zh-CN" altLang="en-US"/>
              <a:t>（</a:t>
            </a:r>
            <a:r>
              <a:rPr lang="en-US" altLang="zh-CN"/>
              <a:t>n=9</a:t>
            </a:r>
            <a:r>
              <a:rPr lang="zh-CN" altLang="en-US"/>
              <a:t>，如 </a:t>
            </a:r>
            <a:r>
              <a:rPr lang="en-US" altLang="zh-CN"/>
              <a:t>C3</a:t>
            </a:r>
            <a:r>
              <a:rPr lang="zh-CN" altLang="en-US"/>
              <a:t>：先降后被 </a:t>
            </a:r>
            <a:r>
              <a:rPr lang="en-US" altLang="zh-CN"/>
              <a:t>Netrin </a:t>
            </a:r>
            <a:r>
              <a:rPr lang="zh-CN" altLang="en-US"/>
              <a:t>再诱导超过 </a:t>
            </a:r>
            <a:r>
              <a:rPr lang="en-US" altLang="zh-CN"/>
              <a:t>DIV1</a:t>
            </a:r>
            <a:r>
              <a:rPr lang="zh-CN" altLang="en-US"/>
              <a:t>）；</a:t>
            </a:r>
            <a:r>
              <a:rPr lang="en-US" altLang="zh-CN"/>
              <a:t>P6 Netrin </a:t>
            </a:r>
            <a:r>
              <a:rPr lang="zh-CN" altLang="en-US"/>
              <a:t>下调（</a:t>
            </a:r>
            <a:r>
              <a:rPr lang="en-US" altLang="zh-CN"/>
              <a:t>n=8</a:t>
            </a:r>
            <a:r>
              <a:rPr lang="zh-CN" altLang="en-US"/>
              <a:t>）；</a:t>
            </a:r>
            <a:r>
              <a:rPr lang="en-US" altLang="zh-CN"/>
              <a:t>P4 </a:t>
            </a:r>
            <a:r>
              <a:rPr lang="zh-CN" altLang="en-US"/>
              <a:t>单调下降（</a:t>
            </a:r>
            <a:r>
              <a:rPr lang="en-US" altLang="zh-CN"/>
              <a:t>n=2</a:t>
            </a:r>
            <a:r>
              <a:rPr lang="zh-CN" altLang="en-US"/>
              <a:t>）；</a:t>
            </a:r>
            <a:r>
              <a:rPr lang="en-US" altLang="zh-CN"/>
              <a:t>P3 Netrin </a:t>
            </a:r>
            <a:r>
              <a:rPr lang="zh-CN" altLang="en-US"/>
              <a:t>上调（</a:t>
            </a:r>
            <a:r>
              <a:rPr lang="en-US" altLang="zh-CN"/>
              <a:t>n=1</a:t>
            </a:r>
            <a:r>
              <a:rPr lang="zh-CN" altLang="en-US"/>
              <a:t>）。</a:t>
            </a:r>
            <a:r>
              <a:rPr lang="en-US" altLang="zh-CN"/>
              <a:t>【</a:t>
            </a:r>
            <a:r>
              <a:rPr lang="zh-CN" altLang="en-US"/>
              <a:t>重要协调</a:t>
            </a:r>
            <a:r>
              <a:rPr lang="en-US" altLang="zh-CN"/>
              <a:t>】P5 </a:t>
            </a:r>
            <a:r>
              <a:rPr lang="zh-CN" altLang="en-US"/>
              <a:t>的代表基因 </a:t>
            </a:r>
            <a:r>
              <a:rPr lang="en-US" altLang="zh-CN"/>
              <a:t>Olig1/Olig2 </a:t>
            </a:r>
            <a:r>
              <a:rPr lang="zh-CN" altLang="en-US"/>
              <a:t>是少突胶质 </a:t>
            </a:r>
            <a:r>
              <a:rPr lang="en-US" altLang="zh-CN"/>
              <a:t>marker</a:t>
            </a:r>
            <a:r>
              <a:rPr lang="zh-CN" altLang="en-US"/>
              <a:t>，不是神经元</a:t>
            </a:r>
            <a:r>
              <a:rPr lang="en-US" altLang="zh-CN"/>
              <a:t>——</a:t>
            </a:r>
            <a:r>
              <a:rPr lang="zh-CN" altLang="en-US"/>
              <a:t>所以这一 </a:t>
            </a:r>
            <a:r>
              <a:rPr lang="en-US" altLang="zh-CN"/>
              <a:t>pattern </a:t>
            </a:r>
            <a:r>
              <a:rPr lang="zh-CN" altLang="en-US"/>
              <a:t>主要反映胶质</a:t>
            </a:r>
            <a:r>
              <a:rPr lang="en-US" altLang="zh-CN"/>
              <a:t>/</a:t>
            </a:r>
            <a:r>
              <a:rPr lang="zh-CN" altLang="en-US"/>
              <a:t>细胞组成变化（见后面细胞组成</a:t>
            </a:r>
            <a:r>
              <a:rPr lang="en-US" altLang="zh-CN"/>
              <a:t>/</a:t>
            </a:r>
            <a:r>
              <a:rPr lang="zh-CN" altLang="en-US"/>
              <a:t>信号来源页），并非神经元内在成熟；讲解时务必和</a:t>
            </a:r>
            <a:r>
              <a:rPr lang="en-US" altLang="zh-CN"/>
              <a:t>"Olig </a:t>
            </a:r>
            <a:r>
              <a:rPr lang="zh-CN" altLang="en-US"/>
              <a:t>是胶质</a:t>
            </a:r>
            <a:r>
              <a:rPr lang="en-US" altLang="zh-CN"/>
              <a:t>"</a:t>
            </a:r>
            <a:r>
              <a:rPr lang="zh-CN" altLang="en-US"/>
              <a:t>的结论保持一致，别让听众觉得矛盾。真正的结论是关键阴性：</a:t>
            </a:r>
            <a:r>
              <a:rPr lang="en-US" altLang="zh-CN"/>
              <a:t>P1 </a:t>
            </a:r>
            <a:r>
              <a:rPr lang="zh-CN" altLang="en-US"/>
              <a:t>单调上升</a:t>
            </a:r>
            <a:r>
              <a:rPr lang="en-US" altLang="zh-CN"/>
              <a:t>=0——</a:t>
            </a:r>
            <a:r>
              <a:rPr lang="zh-CN" altLang="en-US"/>
              <a:t>没有基因被沿发育轨迹加速，反对</a:t>
            </a:r>
            <a:r>
              <a:rPr lang="en-US" altLang="zh-CN"/>
              <a:t>"Netrin </a:t>
            </a:r>
            <a:r>
              <a:rPr lang="zh-CN" altLang="en-US"/>
              <a:t>加速成熟</a:t>
            </a:r>
            <a:r>
              <a:rPr lang="en-US" altLang="zh-CN"/>
              <a:t>"</a:t>
            </a:r>
            <a:r>
              <a:rPr lang="zh-CN" altLang="en-US"/>
              <a:t>，促使做 </a:t>
            </a:r>
            <a:r>
              <a:rPr lang="en-US" altLang="zh-CN"/>
              <a:t>gene-set </a:t>
            </a:r>
            <a:r>
              <a:rPr lang="zh-CN" altLang="en-US"/>
              <a:t>层面 </a:t>
            </a:r>
            <a:r>
              <a:rPr lang="en-US" altLang="zh-CN"/>
              <a:t>GSEA</a:t>
            </a:r>
            <a:r>
              <a:rPr lang="zh-CN" altLang="en-US"/>
              <a:t>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0B9D99-38AE-4379-8F7C-951964B9C3F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8238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次对比</a:t>
            </a:r>
            <a:r>
              <a:rPr lang="en-US" altLang="zh-CN"/>
              <a:t>=24h </a:t>
            </a:r>
            <a:r>
              <a:rPr lang="zh-CN" altLang="en-US"/>
              <a:t>发育（含 </a:t>
            </a:r>
            <a:r>
              <a:rPr lang="en-US" altLang="zh-CN"/>
              <a:t>vehicle</a:t>
            </a:r>
            <a:r>
              <a:rPr lang="zh-CN" altLang="en-US"/>
              <a:t>），作背景。</a:t>
            </a:r>
            <a:r>
              <a:rPr lang="en-US" altLang="zh-CN"/>
              <a:t>STRICT 1,495</a:t>
            </a:r>
            <a:r>
              <a:rPr lang="zh-CN" altLang="en-US"/>
              <a:t>（</a:t>
            </a:r>
            <a:r>
              <a:rPr lang="en-US" altLang="zh-CN"/>
              <a:t>1,098↑/397↓</a:t>
            </a:r>
            <a:r>
              <a:rPr lang="zh-CN" altLang="en-US"/>
              <a:t>），</a:t>
            </a:r>
            <a:r>
              <a:rPr lang="en-US" altLang="zh-CN"/>
              <a:t>RELAXED 4,636</a:t>
            </a:r>
            <a:r>
              <a:rPr lang="zh-CN" altLang="en-US"/>
              <a:t>，比 </a:t>
            </a:r>
            <a:r>
              <a:rPr lang="en-US" altLang="zh-CN"/>
              <a:t>C1 </a:t>
            </a:r>
            <a:r>
              <a:rPr lang="zh-CN" altLang="en-US"/>
              <a:t>大两个数量级，发育主导。</a:t>
            </a:r>
            <a:r>
              <a:rPr lang="en-US" altLang="zh-CN"/>
              <a:t>Olig1 </a:t>
            </a:r>
            <a:r>
              <a:rPr lang="zh-CN" altLang="en-US"/>
              <a:t>在此 </a:t>
            </a:r>
            <a:r>
              <a:rPr lang="en-US" altLang="zh-CN"/>
              <a:t>+3.37</a:t>
            </a:r>
            <a:r>
              <a:rPr lang="zh-CN" altLang="en-US"/>
              <a:t>（注意 </a:t>
            </a:r>
            <a:r>
              <a:rPr lang="en-US" altLang="zh-CN"/>
              <a:t>Olig </a:t>
            </a:r>
            <a:r>
              <a:rPr lang="zh-CN" altLang="en-US"/>
              <a:t>是少突胶质 </a:t>
            </a:r>
            <a:r>
              <a:rPr lang="en-US" altLang="zh-CN"/>
              <a:t>marker</a:t>
            </a:r>
            <a:r>
              <a:rPr lang="zh-CN" altLang="en-US"/>
              <a:t>，反映胶质扩张），与 </a:t>
            </a:r>
            <a:r>
              <a:rPr lang="en-US" altLang="zh-CN"/>
              <a:t>Netrin </a:t>
            </a:r>
            <a:r>
              <a:rPr lang="zh-CN" altLang="en-US"/>
              <a:t>下的 </a:t>
            </a:r>
            <a:r>
              <a:rPr lang="en-US" altLang="zh-CN"/>
              <a:t>-1.00 </a:t>
            </a:r>
            <a:r>
              <a:rPr lang="zh-CN" altLang="en-US"/>
              <a:t>相反</a:t>
            </a:r>
            <a:r>
              <a:rPr lang="en-US" altLang="zh-CN"/>
              <a:t>——Netrin </a:t>
            </a:r>
            <a:r>
              <a:rPr lang="zh-CN" altLang="en-US"/>
              <a:t>特异下调 </a:t>
            </a:r>
            <a:r>
              <a:rPr lang="en-US" altLang="zh-CN"/>
              <a:t>Olig</a:t>
            </a:r>
            <a:r>
              <a:rPr lang="zh-CN" altLang="en-US"/>
              <a:t>。谨慎：发育与 </a:t>
            </a:r>
            <a:r>
              <a:rPr lang="en-US" altLang="zh-CN"/>
              <a:t>vehicle </a:t>
            </a:r>
            <a:r>
              <a:rPr lang="zh-CN" altLang="en-US"/>
              <a:t>混杂。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0B9D99-38AE-4379-8F7C-951964B9C3F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7320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534 GO BP</a:t>
            </a:r>
            <a:r>
              <a:rPr lang="zh-CN" altLang="en-US"/>
              <a:t>（</a:t>
            </a:r>
            <a:r>
              <a:rPr lang="en-US" altLang="zh-CN"/>
              <a:t>410 </a:t>
            </a:r>
            <a:r>
              <a:rPr lang="zh-CN" altLang="en-US"/>
              <a:t>激活</a:t>
            </a:r>
            <a:r>
              <a:rPr lang="en-US" altLang="zh-CN"/>
              <a:t>/124 </a:t>
            </a:r>
            <a:r>
              <a:rPr lang="zh-CN" altLang="en-US"/>
              <a:t>抑制）</a:t>
            </a:r>
            <a:r>
              <a:rPr lang="en-US" altLang="zh-CN"/>
              <a:t>+ 99 KEGG</a:t>
            </a:r>
            <a:r>
              <a:rPr lang="zh-CN" altLang="en-US"/>
              <a:t>（</a:t>
            </a:r>
            <a:r>
              <a:rPr lang="en-US" altLang="zh-CN"/>
              <a:t>89/10</a:t>
            </a:r>
            <a:r>
              <a:rPr lang="zh-CN" altLang="en-US"/>
              <a:t>），明显偏激活。</a:t>
            </a:r>
            <a:r>
              <a:rPr lang="en-US" altLang="zh-CN"/>
              <a:t>DIV2 </a:t>
            </a:r>
            <a:r>
              <a:rPr lang="zh-CN" altLang="en-US"/>
              <a:t>富集</a:t>
            </a:r>
            <a:r>
              <a:rPr lang="en-US" altLang="zh-CN"/>
              <a:t>=</a:t>
            </a:r>
            <a:r>
              <a:rPr lang="zh-CN" altLang="en-US"/>
              <a:t>成熟（突触传递</a:t>
            </a:r>
            <a:r>
              <a:rPr lang="en-US" altLang="zh-CN"/>
              <a:t>/</a:t>
            </a:r>
            <a:r>
              <a:rPr lang="zh-CN" altLang="en-US"/>
              <a:t>递质转运</a:t>
            </a:r>
            <a:r>
              <a:rPr lang="en-US" altLang="zh-CN"/>
              <a:t>/</a:t>
            </a:r>
            <a:r>
              <a:rPr lang="zh-CN" altLang="en-US"/>
              <a:t>可塑性</a:t>
            </a:r>
            <a:r>
              <a:rPr lang="en-US" altLang="zh-CN"/>
              <a:t>/</a:t>
            </a:r>
            <a:r>
              <a:rPr lang="zh-CN" altLang="en-US"/>
              <a:t>学习记忆；</a:t>
            </a:r>
            <a:r>
              <a:rPr lang="en-US" altLang="zh-CN"/>
              <a:t>KEGG GABA</a:t>
            </a:r>
            <a:r>
              <a:rPr lang="zh-CN" altLang="en-US"/>
              <a:t>能</a:t>
            </a:r>
            <a:r>
              <a:rPr lang="en-US" altLang="zh-CN"/>
              <a:t>·</a:t>
            </a:r>
            <a:r>
              <a:rPr lang="zh-CN" altLang="en-US"/>
              <a:t>谷氨酸能突触）；</a:t>
            </a:r>
            <a:r>
              <a:rPr lang="en-US" altLang="zh-CN"/>
              <a:t>DIV1 </a:t>
            </a:r>
            <a:r>
              <a:rPr lang="zh-CN" altLang="en-US"/>
              <a:t>富集</a:t>
            </a:r>
            <a:r>
              <a:rPr lang="en-US" altLang="zh-CN"/>
              <a:t>=</a:t>
            </a:r>
            <a:r>
              <a:rPr lang="zh-CN" altLang="en-US"/>
              <a:t>前体（染色质重塑</a:t>
            </a:r>
            <a:r>
              <a:rPr lang="en-US" altLang="zh-CN"/>
              <a:t>/</a:t>
            </a:r>
            <a:r>
              <a:rPr lang="zh-CN" altLang="en-US"/>
              <a:t>核糖体生物合成</a:t>
            </a:r>
            <a:r>
              <a:rPr lang="en-US" altLang="zh-CN"/>
              <a:t>/rRNA </a:t>
            </a:r>
            <a:r>
              <a:rPr lang="zh-CN" altLang="en-US"/>
              <a:t>加工</a:t>
            </a:r>
            <a:r>
              <a:rPr lang="en-US" altLang="zh-CN"/>
              <a:t>/DNA </a:t>
            </a:r>
            <a:r>
              <a:rPr lang="zh-CN" altLang="en-US"/>
              <a:t>修复）。经典前体→后有丝分裂转变。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0B9D99-38AE-4379-8F7C-951964B9C3F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6968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列聚类：</a:t>
            </a:r>
            <a:r>
              <a:rPr lang="en-US" altLang="zh-CN"/>
              <a:t>DIV1 </a:t>
            </a:r>
            <a:r>
              <a:rPr lang="zh-CN" altLang="en-US"/>
              <a:t>单独一支，</a:t>
            </a:r>
            <a:r>
              <a:rPr lang="en-US" altLang="zh-CN"/>
              <a:t>DIV2 </a:t>
            </a:r>
            <a:r>
              <a:rPr lang="zh-CN" altLang="en-US"/>
              <a:t>与 </a:t>
            </a:r>
            <a:r>
              <a:rPr lang="en-US" altLang="zh-CN"/>
              <a:t>DIV2+Netrin </a:t>
            </a:r>
            <a:r>
              <a:rPr lang="zh-CN" altLang="en-US"/>
              <a:t>聚一支 → 发育差异 </a:t>
            </a:r>
            <a:r>
              <a:rPr lang="en-US" altLang="zh-CN"/>
              <a:t>&gt;&gt; Netrin </a:t>
            </a:r>
            <a:r>
              <a:rPr lang="zh-CN" altLang="en-US"/>
              <a:t>效应。左：</a:t>
            </a:r>
            <a:r>
              <a:rPr lang="en-US" altLang="zh-CN"/>
              <a:t>top60</a:t>
            </a:r>
            <a:r>
              <a:rPr lang="zh-CN" altLang="en-US"/>
              <a:t>（标基因名）；右：全部 </a:t>
            </a:r>
            <a:r>
              <a:rPr lang="en-US" altLang="zh-CN"/>
              <a:t>1,495</a:t>
            </a:r>
            <a:r>
              <a:rPr lang="zh-CN" altLang="en-US"/>
              <a:t>（看规模）。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0B9D99-38AE-4379-8F7C-951964B9C3F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0479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重点页。</a:t>
            </a:r>
            <a:r>
              <a:rPr lang="en-US" altLang="zh-CN"/>
              <a:t>C2</a:t>
            </a:r>
            <a:r>
              <a:rPr lang="zh-CN" altLang="en-US"/>
              <a:t>：</a:t>
            </a:r>
            <a:r>
              <a:rPr lang="en-US" altLang="zh-CN"/>
              <a:t>macroglia</a:t>
            </a:r>
            <a:r>
              <a:rPr lang="zh-CN" altLang="en-US"/>
              <a:t>（少突</a:t>
            </a:r>
            <a:r>
              <a:rPr lang="en-US" altLang="zh-CN"/>
              <a:t>/OPC+</a:t>
            </a:r>
            <a:r>
              <a:rPr lang="zh-CN" altLang="en-US"/>
              <a:t>星形）↑、</a:t>
            </a:r>
            <a:r>
              <a:rPr lang="en-US" altLang="zh-CN"/>
              <a:t>microglia↓</a:t>
            </a:r>
            <a:r>
              <a:rPr lang="zh-CN" altLang="en-US"/>
              <a:t>、神经元 </a:t>
            </a:r>
            <a:r>
              <a:rPr lang="en-US" altLang="zh-CN"/>
              <a:t>marker≈0 → </a:t>
            </a:r>
            <a:r>
              <a:rPr lang="zh-CN" altLang="en-US"/>
              <a:t>这是细胞组成 </a:t>
            </a:r>
            <a:r>
              <a:rPr lang="en-US" altLang="zh-CN"/>
              <a:t>shift</a:t>
            </a:r>
            <a:r>
              <a:rPr lang="zh-CN" altLang="en-US"/>
              <a:t>（无 </a:t>
            </a:r>
            <a:r>
              <a:rPr lang="en-US" altLang="zh-CN"/>
              <a:t>AraC</a:t>
            </a:r>
            <a:r>
              <a:rPr lang="zh-CN" altLang="en-US"/>
              <a:t>），很多 </a:t>
            </a:r>
            <a:r>
              <a:rPr lang="en-US" altLang="zh-CN"/>
              <a:t>C2 </a:t>
            </a:r>
            <a:r>
              <a:rPr lang="zh-CN" altLang="en-US"/>
              <a:t>的 </a:t>
            </a:r>
            <a:r>
              <a:rPr lang="en-US" altLang="zh-CN"/>
              <a:t>DEG </a:t>
            </a:r>
            <a:r>
              <a:rPr lang="zh-CN" altLang="en-US"/>
              <a:t>反映组成而非神经元内在变化。</a:t>
            </a:r>
            <a:r>
              <a:rPr lang="en-US" altLang="zh-CN"/>
              <a:t>C1</a:t>
            </a:r>
            <a:r>
              <a:rPr lang="zh-CN" altLang="en-US"/>
              <a:t>：组成稳定，</a:t>
            </a:r>
            <a:r>
              <a:rPr lang="en-US" altLang="zh-CN"/>
              <a:t>microglia marker </a:t>
            </a:r>
            <a:r>
              <a:rPr lang="zh-CN" altLang="en-US"/>
              <a:t>仅趋势↑且误差线宽、不显著。教我们如何正确读 </a:t>
            </a:r>
            <a:r>
              <a:rPr lang="en-US" altLang="zh-CN"/>
              <a:t>bulk </a:t>
            </a:r>
            <a:r>
              <a:rPr lang="zh-CN" altLang="en-US"/>
              <a:t>信号。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0B9D99-38AE-4379-8F7C-951964B9C3F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9986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归因。神经元且可靠：突触</a:t>
            </a:r>
            <a:r>
              <a:rPr lang="en-US" altLang="zh-CN"/>
              <a:t>/</a:t>
            </a:r>
            <a:r>
              <a:rPr lang="zh-CN" altLang="en-US"/>
              <a:t>轴突导向（胶质不表达，</a:t>
            </a:r>
            <a:r>
              <a:rPr lang="en-US" altLang="zh-CN"/>
              <a:t>confounder </a:t>
            </a:r>
            <a:r>
              <a:rPr lang="zh-CN" altLang="en-US"/>
              <a:t>小）</a:t>
            </a:r>
            <a:r>
              <a:rPr lang="en-US" altLang="zh-CN"/>
              <a:t>——focus</a:t>
            </a:r>
            <a:r>
              <a:rPr lang="zh-CN" altLang="en-US"/>
              <a:t>。</a:t>
            </a:r>
            <a:r>
              <a:rPr lang="en-US" altLang="zh-CN"/>
              <a:t>microglia </a:t>
            </a:r>
            <a:r>
              <a:rPr lang="zh-CN" altLang="en-US"/>
              <a:t>非神经元：免疫基因（</a:t>
            </a:r>
            <a:r>
              <a:rPr lang="en-US" altLang="zh-CN"/>
              <a:t>C3/Apoe/Adgre1/Ncf1</a:t>
            </a:r>
            <a:r>
              <a:rPr lang="zh-CN" altLang="en-US"/>
              <a:t>）</a:t>
            </a:r>
            <a:r>
              <a:rPr lang="en-US" altLang="zh-CN"/>
              <a:t>C1↑</a:t>
            </a:r>
            <a:r>
              <a:rPr lang="zh-CN" altLang="en-US"/>
              <a:t>（激活）</a:t>
            </a:r>
            <a:r>
              <a:rPr lang="en-US" altLang="zh-CN"/>
              <a:t>/C2↓</a:t>
            </a:r>
            <a:r>
              <a:rPr lang="zh-CN" altLang="en-US"/>
              <a:t>（</a:t>
            </a:r>
            <a:r>
              <a:rPr lang="en-US" altLang="zh-CN"/>
              <a:t>microglia </a:t>
            </a:r>
            <a:r>
              <a:rPr lang="zh-CN" altLang="en-US"/>
              <a:t>减少）。少突胶质程序（</a:t>
            </a:r>
            <a:r>
              <a:rPr lang="en-US" altLang="zh-CN"/>
              <a:t>Olig1/2 </a:t>
            </a:r>
            <a:r>
              <a:rPr lang="zh-CN" altLang="en-US"/>
              <a:t>等）属 </a:t>
            </a:r>
            <a:r>
              <a:rPr lang="en-US" altLang="zh-CN"/>
              <a:t>macroglia</a:t>
            </a:r>
            <a:r>
              <a:rPr lang="zh-CN" altLang="en-US"/>
              <a:t>，也非神经元。受体主要在神经元 → </a:t>
            </a:r>
            <a:r>
              <a:rPr lang="en-US" altLang="zh-CN"/>
              <a:t>microglia </a:t>
            </a:r>
            <a:r>
              <a:rPr lang="zh-CN" altLang="en-US"/>
              <a:t>反应很可能是神经元介导的间接旁分泌效应。措辞红线：说 </a:t>
            </a:r>
            <a:r>
              <a:rPr lang="en-US" altLang="zh-CN"/>
              <a:t>consistent with microglial activation</a:t>
            </a:r>
            <a:r>
              <a:rPr lang="zh-CN" altLang="en-US"/>
              <a:t>，不要说 </a:t>
            </a:r>
            <a:r>
              <a:rPr lang="en-US" altLang="zh-CN"/>
              <a:t>Netrin activates microglia</a:t>
            </a:r>
            <a:r>
              <a:rPr lang="zh-CN" altLang="en-US"/>
              <a:t>。</a:t>
            </a:r>
            <a:r>
              <a:rPr lang="en-US" altLang="zh-CN"/>
              <a:t>C1 </a:t>
            </a:r>
            <a:r>
              <a:rPr lang="zh-CN" altLang="en-US"/>
              <a:t>是</a:t>
            </a:r>
            <a:r>
              <a:rPr lang="en-US" altLang="zh-CN"/>
              <a:t>"</a:t>
            </a:r>
            <a:r>
              <a:rPr lang="zh-CN" altLang="en-US"/>
              <a:t>激活</a:t>
            </a:r>
            <a:r>
              <a:rPr lang="en-US" altLang="zh-CN"/>
              <a:t>"</a:t>
            </a:r>
            <a:r>
              <a:rPr lang="zh-CN" altLang="en-US"/>
              <a:t>非</a:t>
            </a:r>
            <a:r>
              <a:rPr lang="en-US" altLang="zh-CN"/>
              <a:t>"</a:t>
            </a:r>
            <a:r>
              <a:rPr lang="zh-CN" altLang="en-US"/>
              <a:t>数量</a:t>
            </a:r>
            <a:r>
              <a:rPr lang="en-US" altLang="zh-CN"/>
              <a:t>"</a:t>
            </a:r>
            <a:r>
              <a:rPr lang="zh-CN" altLang="en-US"/>
              <a:t>：效应基因显著，身份 </a:t>
            </a:r>
            <a:r>
              <a:rPr lang="en-US" altLang="zh-CN"/>
              <a:t>marker </a:t>
            </a:r>
            <a:r>
              <a:rPr lang="zh-CN" altLang="en-US"/>
              <a:t>仅趋势。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0B9D99-38AE-4379-8F7C-951964B9C3F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0318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支撑</a:t>
            </a:r>
            <a:r>
              <a:rPr lang="en-US" altLang="zh-CN"/>
              <a:t>"</a:t>
            </a:r>
            <a:r>
              <a:rPr lang="zh-CN" altLang="en-US"/>
              <a:t>神经元</a:t>
            </a:r>
            <a:r>
              <a:rPr lang="en-US" altLang="zh-CN"/>
              <a:t>=</a:t>
            </a:r>
            <a:r>
              <a:rPr lang="zh-CN" altLang="en-US"/>
              <a:t>直接靶点</a:t>
            </a:r>
            <a:r>
              <a:rPr lang="en-US" altLang="zh-CN"/>
              <a:t>"</a:t>
            </a:r>
            <a:r>
              <a:rPr lang="zh-CN" altLang="en-US"/>
              <a:t>。受体丰富（</a:t>
            </a:r>
            <a:r>
              <a:rPr lang="en-US" altLang="zh-CN"/>
              <a:t>baseMean</a:t>
            </a:r>
            <a:r>
              <a:rPr lang="zh-CN" altLang="en-US"/>
              <a:t>，中位 </a:t>
            </a:r>
            <a:r>
              <a:rPr lang="en-US" altLang="zh-CN"/>
              <a:t>705</a:t>
            </a:r>
            <a:r>
              <a:rPr lang="zh-CN" altLang="en-US"/>
              <a:t>）：</a:t>
            </a:r>
            <a:r>
              <a:rPr lang="en-US" altLang="zh-CN"/>
              <a:t>Neo1 9413</a:t>
            </a:r>
            <a:r>
              <a:rPr lang="zh-CN" altLang="en-US"/>
              <a:t>、</a:t>
            </a:r>
            <a:r>
              <a:rPr lang="en-US" altLang="zh-CN"/>
              <a:t>Dcc 3102</a:t>
            </a:r>
            <a:r>
              <a:rPr lang="zh-CN" altLang="en-US"/>
              <a:t>、</a:t>
            </a:r>
            <a:r>
              <a:rPr lang="en-US" altLang="zh-CN"/>
              <a:t>Dscam 1936</a:t>
            </a:r>
            <a:r>
              <a:rPr lang="zh-CN" altLang="en-US"/>
              <a:t>、</a:t>
            </a:r>
            <a:r>
              <a:rPr lang="en-US" altLang="zh-CN"/>
              <a:t>Unc5a 1591 </a:t>
            </a:r>
            <a:r>
              <a:rPr lang="zh-CN" altLang="en-US"/>
              <a:t>远超中位。</a:t>
            </a:r>
            <a:r>
              <a:rPr lang="en-US" altLang="zh-CN"/>
              <a:t>C1 </a:t>
            </a:r>
            <a:r>
              <a:rPr lang="zh-CN" altLang="en-US"/>
              <a:t>受体不随处理变 → 经典激活。内源 </a:t>
            </a:r>
            <a:r>
              <a:rPr lang="en-US" altLang="zh-CN"/>
              <a:t>Ntn1 </a:t>
            </a:r>
            <a:r>
              <a:rPr lang="zh-CN" altLang="en-US"/>
              <a:t>仅 </a:t>
            </a:r>
            <a:r>
              <a:rPr lang="en-US" altLang="zh-CN"/>
              <a:t>10.6 → </a:t>
            </a:r>
            <a:r>
              <a:rPr lang="zh-CN" altLang="en-US"/>
              <a:t>外源 </a:t>
            </a:r>
            <a:r>
              <a:rPr lang="en-US" altLang="zh-CN"/>
              <a:t>Netrin </a:t>
            </a:r>
            <a:r>
              <a:rPr lang="zh-CN" altLang="en-US"/>
              <a:t>是近零背景的干净刺激。图为 </a:t>
            </a:r>
            <a:r>
              <a:rPr lang="en-US" altLang="zh-CN"/>
              <a:t>log10(baseMean) </a:t>
            </a:r>
            <a:r>
              <a:rPr lang="zh-CN" altLang="en-US"/>
              <a:t>柱状，橙色虚线</a:t>
            </a:r>
            <a:r>
              <a:rPr lang="en-US" altLang="zh-CN"/>
              <a:t>=</a:t>
            </a:r>
            <a:r>
              <a:rPr lang="zh-CN" altLang="en-US"/>
              <a:t>中位 </a:t>
            </a:r>
            <a:r>
              <a:rPr lang="en-US" altLang="zh-CN"/>
              <a:t>705</a:t>
            </a:r>
            <a:r>
              <a:rPr lang="zh-CN" altLang="en-US"/>
              <a:t>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0B9D99-38AE-4379-8F7C-951964B9C3F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6033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整合。</a:t>
            </a:r>
            <a:r>
              <a:rPr lang="en-US" altLang="zh-CN"/>
              <a:t>C1</a:t>
            </a:r>
            <a:r>
              <a:rPr lang="zh-CN" altLang="en-US"/>
              <a:t>（</a:t>
            </a:r>
            <a:r>
              <a:rPr lang="en-US" altLang="zh-CN"/>
              <a:t>Netrin</a:t>
            </a:r>
            <a:r>
              <a:rPr lang="zh-CN" altLang="en-US"/>
              <a:t>）：</a:t>
            </a:r>
            <a:r>
              <a:rPr lang="en-US" altLang="zh-CN"/>
              <a:t>GO 481=255/226</a:t>
            </a:r>
            <a:r>
              <a:rPr lang="zh-CN" altLang="en-US"/>
              <a:t>、</a:t>
            </a:r>
            <a:r>
              <a:rPr lang="en-US" altLang="zh-CN"/>
              <a:t>KEGG 42=20/22</a:t>
            </a:r>
            <a:r>
              <a:rPr lang="zh-CN" altLang="en-US"/>
              <a:t>，约 </a:t>
            </a:r>
            <a:r>
              <a:rPr lang="en-US" altLang="zh-CN"/>
              <a:t>1:1</a:t>
            </a:r>
            <a:r>
              <a:rPr lang="zh-CN" altLang="en-US"/>
              <a:t>，双向微调。</a:t>
            </a:r>
            <a:r>
              <a:rPr lang="en-US" altLang="zh-CN"/>
              <a:t>C2</a:t>
            </a:r>
            <a:r>
              <a:rPr lang="zh-CN" altLang="en-US"/>
              <a:t>（发育）：</a:t>
            </a:r>
            <a:r>
              <a:rPr lang="en-US" altLang="zh-CN"/>
              <a:t>GO 534=410/124</a:t>
            </a:r>
            <a:r>
              <a:rPr lang="zh-CN" altLang="en-US"/>
              <a:t>、</a:t>
            </a:r>
            <a:r>
              <a:rPr lang="en-US" altLang="zh-CN"/>
              <a:t>KEGG 99=89/10</a:t>
            </a:r>
            <a:r>
              <a:rPr lang="zh-CN" altLang="en-US"/>
              <a:t>，偏激活。呼应 </a:t>
            </a:r>
            <a:r>
              <a:rPr lang="en-US" altLang="zh-CN"/>
              <a:t>DEG </a:t>
            </a:r>
            <a:r>
              <a:rPr lang="zh-CN" altLang="en-US"/>
              <a:t>层面（</a:t>
            </a:r>
            <a:r>
              <a:rPr lang="en-US" altLang="zh-CN"/>
              <a:t>C2 strict 1,098↑&gt;&gt;397↓</a:t>
            </a:r>
            <a:r>
              <a:rPr lang="zh-CN" altLang="en-US"/>
              <a:t>）：发育大规模开启神经程序，</a:t>
            </a:r>
            <a:r>
              <a:rPr lang="en-US" altLang="zh-CN"/>
              <a:t>Netrin </a:t>
            </a:r>
            <a:r>
              <a:rPr lang="zh-CN" altLang="en-US"/>
              <a:t>双向精调。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0B9D99-38AE-4379-8F7C-951964B9C3F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2220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结论：</a:t>
            </a:r>
            <a:r>
              <a:rPr lang="en-US" altLang="zh-CN"/>
              <a:t>Netrin </a:t>
            </a:r>
            <a:r>
              <a:rPr lang="zh-CN" altLang="en-US"/>
              <a:t>在 </a:t>
            </a:r>
            <a:r>
              <a:rPr lang="en-US" altLang="zh-CN"/>
              <a:t>DIV2 </a:t>
            </a:r>
            <a:r>
              <a:rPr lang="zh-CN" altLang="en-US"/>
              <a:t>神经元引发聚焦、双向、双模块响应</a:t>
            </a:r>
            <a:r>
              <a:rPr lang="en-US" altLang="zh-CN"/>
              <a:t>——</a:t>
            </a:r>
            <a:r>
              <a:rPr lang="zh-CN" altLang="en-US"/>
              <a:t>突触</a:t>
            </a:r>
            <a:r>
              <a:rPr lang="en-US" altLang="zh-CN"/>
              <a:t>/</a:t>
            </a:r>
            <a:r>
              <a:rPr lang="zh-CN" altLang="en-US"/>
              <a:t>轴突导向激活 </a:t>
            </a:r>
            <a:r>
              <a:rPr lang="en-US" altLang="zh-CN"/>
              <a:t>+ </a:t>
            </a:r>
            <a:r>
              <a:rPr lang="zh-CN" altLang="en-US"/>
              <a:t>细胞周期</a:t>
            </a:r>
            <a:r>
              <a:rPr lang="en-US" altLang="zh-CN"/>
              <a:t>/</a:t>
            </a:r>
            <a:r>
              <a:rPr lang="zh-CN" altLang="en-US"/>
              <a:t>祖细胞抑制。</a:t>
            </a:r>
            <a:r>
              <a:rPr lang="en-US" altLang="zh-CN"/>
              <a:t>axon guidance </a:t>
            </a:r>
            <a:r>
              <a:rPr lang="zh-CN" altLang="en-US"/>
              <a:t>跨 </a:t>
            </a:r>
            <a:r>
              <a:rPr lang="en-US" altLang="zh-CN"/>
              <a:t>GO/KEGG </a:t>
            </a:r>
            <a:r>
              <a:rPr lang="zh-CN" altLang="en-US"/>
              <a:t>收敛</a:t>
            </a:r>
            <a:r>
              <a:rPr lang="en-US" altLang="zh-CN"/>
              <a:t>=Netrin </a:t>
            </a:r>
            <a:r>
              <a:rPr lang="zh-CN" altLang="en-US"/>
              <a:t>转录强化自身通路。神经元是直接靶点（受体丰富）；免疫信号来自 </a:t>
            </a:r>
            <a:r>
              <a:rPr lang="en-US" altLang="zh-CN"/>
              <a:t>microglia</a:t>
            </a:r>
            <a:r>
              <a:rPr lang="zh-CN" altLang="en-US"/>
              <a:t>，很可能是间接的神经元介导效应。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0B9D99-38AE-4379-8F7C-951964B9C3F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0329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局限：①混合培养</a:t>
            </a:r>
            <a:r>
              <a:rPr lang="en-US" altLang="zh-CN"/>
              <a:t>+bulk </a:t>
            </a:r>
            <a:r>
              <a:rPr lang="zh-CN" altLang="en-US"/>
              <a:t>无法直接分配细胞来源，归因基于 </a:t>
            </a:r>
            <a:r>
              <a:rPr lang="en-US" altLang="zh-CN"/>
              <a:t>marker </a:t>
            </a:r>
            <a:r>
              <a:rPr lang="zh-CN" altLang="en-US"/>
              <a:t>推断；②</a:t>
            </a:r>
            <a:r>
              <a:rPr lang="en-US" altLang="zh-CN"/>
              <a:t>C2 </a:t>
            </a:r>
            <a:r>
              <a:rPr lang="zh-CN" altLang="en-US"/>
              <a:t>伴发育性组成 </a:t>
            </a:r>
            <a:r>
              <a:rPr lang="en-US" altLang="zh-CN"/>
              <a:t>shift</a:t>
            </a:r>
            <a:r>
              <a:rPr lang="zh-CN" altLang="en-US"/>
              <a:t>（</a:t>
            </a:r>
            <a:r>
              <a:rPr lang="en-US" altLang="zh-CN"/>
              <a:t>macroglia↑/microglia↓</a:t>
            </a:r>
            <a:r>
              <a:rPr lang="zh-CN" altLang="en-US"/>
              <a:t>），大量 </a:t>
            </a:r>
            <a:r>
              <a:rPr lang="en-US" altLang="zh-CN"/>
              <a:t>DEG </a:t>
            </a:r>
            <a:r>
              <a:rPr lang="zh-CN" altLang="en-US"/>
              <a:t>非神经元内在；③</a:t>
            </a:r>
            <a:r>
              <a:rPr lang="en-US" altLang="zh-CN"/>
              <a:t>"</a:t>
            </a:r>
            <a:r>
              <a:rPr lang="zh-CN" altLang="en-US"/>
              <a:t>激活 </a:t>
            </a:r>
            <a:r>
              <a:rPr lang="en-US" altLang="zh-CN"/>
              <a:t>vs </a:t>
            </a:r>
            <a:r>
              <a:rPr lang="zh-CN" altLang="en-US"/>
              <a:t>数量</a:t>
            </a:r>
            <a:r>
              <a:rPr lang="en-US" altLang="zh-CN"/>
              <a:t>"</a:t>
            </a:r>
            <a:r>
              <a:rPr lang="zh-CN" altLang="en-US"/>
              <a:t>、</a:t>
            </a:r>
            <a:r>
              <a:rPr lang="en-US" altLang="zh-CN"/>
              <a:t>"</a:t>
            </a:r>
            <a:r>
              <a:rPr lang="zh-CN" altLang="en-US"/>
              <a:t>直接 </a:t>
            </a:r>
            <a:r>
              <a:rPr lang="en-US" altLang="zh-CN"/>
              <a:t>vs </a:t>
            </a:r>
            <a:r>
              <a:rPr lang="zh-CN" altLang="en-US"/>
              <a:t>间接</a:t>
            </a:r>
            <a:r>
              <a:rPr lang="en-US" altLang="zh-CN"/>
              <a:t>"</a:t>
            </a:r>
            <a:r>
              <a:rPr lang="zh-CN" altLang="en-US"/>
              <a:t>未终证，为相关非因果。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0B9D99-38AE-4379-8F7C-951964B9C3F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5926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未来：</a:t>
            </a:r>
            <a:r>
              <a:rPr lang="en-US" altLang="zh-CN"/>
              <a:t>scRNA-seq / </a:t>
            </a:r>
            <a:r>
              <a:rPr lang="zh-CN" altLang="en-US"/>
              <a:t>细胞分选解析各细胞类型贡献；免疫染色（</a:t>
            </a:r>
            <a:r>
              <a:rPr lang="en-US" altLang="zh-CN"/>
              <a:t>IHC</a:t>
            </a:r>
            <a:r>
              <a:rPr lang="zh-CN" altLang="en-US"/>
              <a:t>）验证 </a:t>
            </a:r>
            <a:r>
              <a:rPr lang="en-US" altLang="zh-CN"/>
              <a:t>microglia </a:t>
            </a:r>
            <a:r>
              <a:rPr lang="zh-CN" altLang="en-US"/>
              <a:t>激活与组成 </a:t>
            </a:r>
            <a:r>
              <a:rPr lang="en-US" altLang="zh-CN"/>
              <a:t>shift</a:t>
            </a:r>
            <a:r>
              <a:rPr lang="zh-CN" altLang="en-US"/>
              <a:t>；受体扰动（</a:t>
            </a:r>
            <a:r>
              <a:rPr lang="en-US" altLang="zh-CN"/>
              <a:t>DCC/UNC5B </a:t>
            </a:r>
            <a:r>
              <a:rPr lang="zh-CN" altLang="en-US"/>
              <a:t>敲低）检验直接依赖；</a:t>
            </a:r>
            <a:r>
              <a:rPr lang="en-US" altLang="zh-CN"/>
              <a:t>LPS </a:t>
            </a:r>
            <a:r>
              <a:rPr lang="zh-CN" altLang="en-US"/>
              <a:t>对照（</a:t>
            </a:r>
            <a:r>
              <a:rPr lang="en-US" altLang="zh-CN"/>
              <a:t>polymyxin B / TLR </a:t>
            </a:r>
            <a:r>
              <a:rPr lang="zh-CN" altLang="en-US"/>
              <a:t>抑制剂）排查免疫信号。致谢：实验室 </a:t>
            </a:r>
            <a:r>
              <a:rPr lang="en-US" altLang="zh-CN"/>
              <a:t>/ </a:t>
            </a:r>
            <a:r>
              <a:rPr lang="zh-CN" altLang="en-US"/>
              <a:t>经费 </a:t>
            </a:r>
            <a:r>
              <a:rPr lang="en-US" altLang="zh-CN"/>
              <a:t>/ </a:t>
            </a:r>
            <a:r>
              <a:rPr lang="zh-CN" altLang="en-US"/>
              <a:t>合作者。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0B9D99-38AE-4379-8F7C-951964B9C3F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067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495BE-1648-A1D4-E2C8-66736790C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CCAA1F-5AE4-A122-581F-C37C8B802D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23D65-4270-0C07-C265-DF96F85C9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23BD8-B658-4950-9A0A-D52CC599FB0A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07E27-4FBA-85C4-59C3-2F7AF2347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C88C9-2AE8-100F-C5B7-293A59B20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590CA-828A-4565-969B-BD65B79F8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546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11378-B6EB-9CCF-351B-3E0FC02DE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A41C3-AC94-AA2E-A725-0492A086B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48657-898E-F174-4274-D0CFB768A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23BD8-B658-4950-9A0A-D52CC599FB0A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593FB-554C-8903-3B66-B6673E2BB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2529A-8C81-BA17-A7BD-BAAC222ED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590CA-828A-4565-969B-BD65B79F8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767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6854C-D260-ACFC-F58E-79F67F96E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CEA1E-12C9-08FB-E61D-5AEF62E1D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E44E-8575-9EA6-2BDF-23D0B71D8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23BD8-B658-4950-9A0A-D52CC599FB0A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7FBF2-2380-239A-0E1C-4A410DC50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5F6FE-54EC-3585-672E-8AD106C76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590CA-828A-4565-969B-BD65B79F8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776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AB9A-989F-835F-A1C4-A03CA457F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C9FAB-0596-02CC-7C1B-13F0AA9948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615CE6-4EA1-1F43-33D2-9F8DC0E4F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725FA-9076-E584-CC6D-E47CA83F8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23BD8-B658-4950-9A0A-D52CC599FB0A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1B71FE-625E-184A-7B19-C8865FDA5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9E615-5445-EEA0-7565-6D5EB304D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590CA-828A-4565-969B-BD65B79F8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519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07732-2555-4159-E0B1-09D5F2BE3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5214A-D5CC-E8D2-35CA-46BA6E3F0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F0211-4079-1009-7524-148824A7A2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DD99F7-EDE5-8E79-2E28-290D603726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3552DE-D032-FF14-B396-932D9A8E9A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12B412-61D8-2770-9D03-4FA24AA75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23BD8-B658-4950-9A0A-D52CC599FB0A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F931FF-75B8-1FAC-889A-5C0135D71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8ED9B0-8AC0-873A-83D1-885604EDD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590CA-828A-4565-969B-BD65B79F8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907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2715E-10A5-E857-2B3F-728B08AA7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3A54C1-99D5-876E-E6D9-CE21BDA2A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23BD8-B658-4950-9A0A-D52CC599FB0A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42E91D-68B5-163B-9F11-9B20F735C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5F6447-7FFF-BE97-6F26-5449A6C4A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590CA-828A-4565-969B-BD65B79F8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482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5951F5-B333-D05C-F1CE-95CCE156E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23BD8-B658-4950-9A0A-D52CC599FB0A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F2FF6B-87C5-ACF0-3616-9CCCF3EED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208D8-E83C-084A-A2BD-F8BEE2D21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590CA-828A-4565-969B-BD65B79F8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545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6B0D6-0194-ADFD-9927-99E5C1436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D9940-C6E4-A86D-CA23-CB2F28A52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4CE0C6-11E8-FC7B-A914-191C17539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1EF611-03C1-E3EA-47DA-C329B0CC4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23BD8-B658-4950-9A0A-D52CC599FB0A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06B128-B649-D3B7-0595-D2BFC4DD7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0722FD-BA1B-6F4C-8EDB-B9CA936BD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590CA-828A-4565-969B-BD65B79F8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791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4B8E7-4533-4773-C8C0-B1B96F68C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836851-D4FB-1985-4281-257E834728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CD69DC-53B6-B4D3-8DCE-5EDA567A7D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662378-BAA2-6BB8-25A0-FC771702B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23BD8-B658-4950-9A0A-D52CC599FB0A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2639FE-A61D-C976-45FF-148DA1025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DA16FA-6FC9-C514-1C34-39506439B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590CA-828A-4565-969B-BD65B79F8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051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2D4B4-01F1-4CF6-7259-C32E07363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D25AE9-B51E-F8D2-DFEF-5C960E028C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EB73D-1F77-45E7-5864-68D930CA4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23BD8-B658-4950-9A0A-D52CC599FB0A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AA2CB-1418-966E-46CE-522BD9D39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BAE72-13B5-A4E4-E3B6-85A6B6457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590CA-828A-4565-969B-BD65B79F8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263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5E7CA3-32AE-F7E8-E1AF-12D0C93BD0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BA73BE-9508-BA73-53B9-CFDEAF4086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126B0B-A039-C219-D322-072C67965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23BD8-B658-4950-9A0A-D52CC599FB0A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7725C-8D47-AA91-B92B-9CD9DBD4C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24564-31FF-7FE6-621D-1611A6FDF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590CA-828A-4565-969B-BD65B79F8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36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B926C-FAF8-0055-D081-98C2DCE1E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BACB3-2F9B-289A-B9E3-5B4EF58A0E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562F1-2002-518D-3058-62C02E3D66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E23BD8-B658-4950-9A0A-D52CC599FB0A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DAD29-08E2-C6C9-2A47-C4AADD1915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19A0E-8DDF-0A93-860E-164AD3D8F5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3590CA-828A-4565-969B-BD65B79F8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820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182056-BD62-2FAE-DDCE-7A911183A43C}"/>
              </a:ext>
            </a:extLst>
          </p:cNvPr>
          <p:cNvSpPr/>
          <p:nvPr/>
        </p:nvSpPr>
        <p:spPr>
          <a:xfrm>
            <a:off x="0" y="0"/>
            <a:ext cx="12192000" cy="2133600"/>
          </a:xfrm>
          <a:prstGeom prst="rect">
            <a:avLst/>
          </a:prstGeom>
          <a:solidFill>
            <a:srgbClr val="2E5F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A821A0-045F-C634-DEAD-032B8306ADAA}"/>
              </a:ext>
            </a:extLst>
          </p:cNvPr>
          <p:cNvSpPr/>
          <p:nvPr/>
        </p:nvSpPr>
        <p:spPr>
          <a:xfrm>
            <a:off x="0" y="2133600"/>
            <a:ext cx="12192000" cy="76200"/>
          </a:xfrm>
          <a:prstGeom prst="rect">
            <a:avLst/>
          </a:prstGeom>
          <a:solidFill>
            <a:srgbClr val="D880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87E0C6-756A-A6B7-2592-C64B5A335237}"/>
              </a:ext>
            </a:extLst>
          </p:cNvPr>
          <p:cNvSpPr txBox="1"/>
          <p:nvPr/>
        </p:nvSpPr>
        <p:spPr>
          <a:xfrm>
            <a:off x="762000" y="2794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CA" sz="3400" b="1">
                <a:solidFill>
                  <a:srgbClr val="212121"/>
                </a:solidFill>
                <a:latin typeface="Calibri" panose="020F0502020204030204" pitchFamily="34" charset="0"/>
              </a:rPr>
              <a:t>Transcriptomic response to Netrin-1</a:t>
            </a:r>
          </a:p>
          <a:p>
            <a:r>
              <a:rPr lang="en-CA" sz="3400" b="1">
                <a:solidFill>
                  <a:srgbClr val="212121"/>
                </a:solidFill>
                <a:latin typeface="Calibri" panose="020F0502020204030204" pitchFamily="34" charset="0"/>
              </a:rPr>
              <a:t>in primary rat cortical neurons</a:t>
            </a:r>
            <a:endParaRPr lang="en-US" sz="3400" b="1">
              <a:solidFill>
                <a:srgbClr val="212121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9F8C8F-2B5A-C4EA-BB03-BCF1B91A0B82}"/>
              </a:ext>
            </a:extLst>
          </p:cNvPr>
          <p:cNvSpPr txBox="1"/>
          <p:nvPr/>
        </p:nvSpPr>
        <p:spPr>
          <a:xfrm>
            <a:off x="762000" y="4572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CA">
                <a:solidFill>
                  <a:srgbClr val="5A5A5A"/>
                </a:solidFill>
                <a:latin typeface="Calibri" panose="020F0502020204030204" pitchFamily="34" charset="0"/>
              </a:rPr>
              <a:t>Bulk RNA-seq across DIV1, DIV2 and DIV2 + Netrin-1   |   3 conditions x 3 biological replicates</a:t>
            </a:r>
            <a:endParaRPr lang="en-US">
              <a:solidFill>
                <a:srgbClr val="5A5A5A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EB0897-3A60-8DB3-A1E8-7AAFA9A96999}"/>
              </a:ext>
            </a:extLst>
          </p:cNvPr>
          <p:cNvSpPr txBox="1"/>
          <p:nvPr/>
        </p:nvSpPr>
        <p:spPr>
          <a:xfrm>
            <a:off x="762000" y="60325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400">
                <a:solidFill>
                  <a:srgbClr val="787878"/>
                </a:solidFill>
                <a:latin typeface="Calibri" panose="020F0502020204030204" pitchFamily="34" charset="0"/>
              </a:rPr>
              <a:t>[Presenter]   |   [Affiliation]   |   June 2026</a:t>
            </a:r>
          </a:p>
        </p:txBody>
      </p:sp>
    </p:spTree>
    <p:extLst>
      <p:ext uri="{BB962C8B-B14F-4D97-AF65-F5344CB8AC3E}">
        <p14:creationId xmlns:p14="http://schemas.microsoft.com/office/powerpoint/2010/main" val="3272644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5E2746-22E4-9B13-F971-10D2878DC1B3}"/>
              </a:ext>
            </a:extLst>
          </p:cNvPr>
          <p:cNvSpPr txBox="1"/>
          <p:nvPr/>
        </p:nvSpPr>
        <p:spPr>
          <a:xfrm>
            <a:off x="508000" y="2794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CA" sz="2300" b="1">
                <a:solidFill>
                  <a:srgbClr val="2E5F58"/>
                </a:solidFill>
                <a:latin typeface="Calibri" panose="020F0502020204030204" pitchFamily="34" charset="0"/>
              </a:rPr>
              <a:t>The question: what does Netrin-1 do to the neuronal transcriptome?</a:t>
            </a:r>
            <a:endParaRPr lang="en-US" sz="2300" b="1">
              <a:solidFill>
                <a:srgbClr val="2E5F58"/>
              </a:solidFill>
              <a:latin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E5D848-B351-A214-D60B-432DC6F9EF65}"/>
              </a:ext>
            </a:extLst>
          </p:cNvPr>
          <p:cNvSpPr/>
          <p:nvPr/>
        </p:nvSpPr>
        <p:spPr>
          <a:xfrm>
            <a:off x="508000" y="1016000"/>
            <a:ext cx="11176000" cy="38100"/>
          </a:xfrm>
          <a:prstGeom prst="rect">
            <a:avLst/>
          </a:prstGeom>
          <a:solidFill>
            <a:srgbClr val="D880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F96106-A813-DAEB-6362-A43B1A25495D}"/>
              </a:ext>
            </a:extLst>
          </p:cNvPr>
          <p:cNvSpPr txBox="1"/>
          <p:nvPr/>
        </p:nvSpPr>
        <p:spPr>
          <a:xfrm>
            <a:off x="889000" y="1651000"/>
            <a:ext cx="1041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457200" indent="-4572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CA" sz="1900">
                <a:solidFill>
                  <a:srgbClr val="2D2D2D"/>
                </a:solidFill>
                <a:latin typeface="Calibri" panose="020F0502020204030204" pitchFamily="34" charset="0"/>
              </a:rPr>
              <a:t>Netrin-1 is a canonical axon-guidance cue, signalling through DCC / UNC5 / Neogenin receptors.</a:t>
            </a:r>
          </a:p>
          <a:p>
            <a:pPr marL="457200" indent="-4572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CA" sz="1900">
                <a:solidFill>
                  <a:srgbClr val="2D2D2D"/>
                </a:solidFill>
                <a:latin typeface="Calibri" panose="020F0502020204030204" pitchFamily="34" charset="0"/>
              </a:rPr>
              <a:t>Its acute effects (growth-cone steering, local translation) are well known; its 24 h transcriptional program in cortical neurons is not.</a:t>
            </a:r>
          </a:p>
          <a:p>
            <a:pPr marL="457200" indent="-4572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CA" sz="1900">
                <a:solidFill>
                  <a:srgbClr val="2D2D2D"/>
                </a:solidFill>
                <a:latin typeface="Calibri" panose="020F0502020204030204" pitchFamily="34" charset="0"/>
              </a:rPr>
              <a:t>Primary cortical cultures are mixed (neurons + glia), so a central challenge is separating neuron-intrinsic effects from glial / indirect ones.</a:t>
            </a:r>
          </a:p>
          <a:p>
            <a:pPr marL="457200" indent="-4572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CA" sz="1900">
                <a:solidFill>
                  <a:srgbClr val="2D2D2D"/>
                </a:solidFill>
                <a:latin typeface="Calibri" panose="020F0502020204030204" pitchFamily="34" charset="0"/>
              </a:rPr>
              <a:t>Goal: define the Netrin-1 transcriptional response and attribute each signal to its likely cellular source.</a:t>
            </a:r>
            <a:endParaRPr lang="en-US" sz="1900">
              <a:solidFill>
                <a:srgbClr val="2D2D2D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99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CEBA05-F0A5-B1E9-4674-89DA924C3691}"/>
              </a:ext>
            </a:extLst>
          </p:cNvPr>
          <p:cNvSpPr txBox="1"/>
          <p:nvPr/>
        </p:nvSpPr>
        <p:spPr>
          <a:xfrm>
            <a:off x="508000" y="2794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CA" sz="2300" b="1">
                <a:solidFill>
                  <a:srgbClr val="2E5F58"/>
                </a:solidFill>
                <a:latin typeface="Calibri" panose="020F0502020204030204" pitchFamily="34" charset="0"/>
              </a:rPr>
              <a:t>Experimental design and analysis pipeline</a:t>
            </a:r>
            <a:endParaRPr lang="en-US" sz="2300" b="1">
              <a:solidFill>
                <a:srgbClr val="2E5F58"/>
              </a:solidFill>
              <a:latin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401F53-D7D8-F2B9-9034-C7357CBD92FA}"/>
              </a:ext>
            </a:extLst>
          </p:cNvPr>
          <p:cNvSpPr/>
          <p:nvPr/>
        </p:nvSpPr>
        <p:spPr>
          <a:xfrm>
            <a:off x="508000" y="1016000"/>
            <a:ext cx="11176000" cy="38100"/>
          </a:xfrm>
          <a:prstGeom prst="rect">
            <a:avLst/>
          </a:prstGeom>
          <a:solidFill>
            <a:srgbClr val="D880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A393F3-7495-1FF0-EB02-88F5CD551768}"/>
              </a:ext>
            </a:extLst>
          </p:cNvPr>
          <p:cNvSpPr txBox="1"/>
          <p:nvPr/>
        </p:nvSpPr>
        <p:spPr>
          <a:xfrm>
            <a:off x="508000" y="11684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 sz="1300">
                <a:solidFill>
                  <a:srgbClr val="2D2D2D"/>
                </a:solidFill>
                <a:latin typeface="Calibri" panose="020F0502020204030204" pitchFamily="34" charset="0"/>
              </a:rPr>
              <a:t>E18 rat cortical primary culture (mixed, no AraC); bulk RNA-seq, DRAGEN-Salmon gene-level.</a:t>
            </a:r>
          </a:p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 sz="1300">
                <a:solidFill>
                  <a:srgbClr val="2D2D2D"/>
                </a:solidFill>
                <a:latin typeface="Calibri" panose="020F0502020204030204" pitchFamily="34" charset="0"/>
              </a:rPr>
              <a:t>3 conditions x 3 biological replicates: DIV1, DIV2 (vehicle), DIV2 + Netrin-1.</a:t>
            </a:r>
          </a:p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 sz="1300">
                <a:solidFill>
                  <a:srgbClr val="2D2D2D"/>
                </a:solidFill>
                <a:latin typeface="Calibri" panose="020F0502020204030204" pitchFamily="34" charset="0"/>
              </a:rPr>
              <a:t>Contrasts: C1 = Netrin-1 vs DIV2 (treatment, primary); C2 = DIV2 vs DIV1 (development, secondary).</a:t>
            </a:r>
          </a:p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 sz="1300">
                <a:solidFill>
                  <a:srgbClr val="2D2D2D"/>
                </a:solidFill>
                <a:latin typeface="Calibri" panose="020F0502020204030204" pitchFamily="34" charset="0"/>
              </a:rPr>
              <a:t>DESeq2  ~ batch + condition  (DIV2 reference); raw LFC (no apeglm); BH FDR.</a:t>
            </a:r>
          </a:p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 sz="1300">
                <a:solidFill>
                  <a:srgbClr val="2D2D2D"/>
                </a:solidFill>
                <a:latin typeface="Calibri" panose="020F0502020204030204" pitchFamily="34" charset="0"/>
              </a:rPr>
              <a:t>DEG tiers: STRICT padj&lt;0.05 &amp; |LFC|&gt;0.585; RELAXED padj&lt;0.05.</a:t>
            </a:r>
          </a:p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 sz="1300">
                <a:solidFill>
                  <a:srgbClr val="2D2D2D"/>
                </a:solidFill>
                <a:latin typeface="Calibri" panose="020F0502020204030204" pitchFamily="34" charset="0"/>
              </a:rPr>
              <a:t>Enrichment: GSEA (Wald-ranked; minGSSize=15, nPerm=10000) + ORA; batch correction for display only.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892F28-12B8-0DD3-6717-6016BA8A923A}"/>
              </a:ext>
            </a:extLst>
          </p:cNvPr>
          <p:cNvSpPr txBox="1"/>
          <p:nvPr/>
        </p:nvSpPr>
        <p:spPr>
          <a:xfrm>
            <a:off x="5969000" y="1193800"/>
            <a:ext cx="546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 b="1">
                <a:solidFill>
                  <a:srgbClr val="3C3C3C"/>
                </a:solidFill>
                <a:latin typeface="Calibri" panose="020F0502020204030204" pitchFamily="34" charset="0"/>
              </a:rPr>
              <a:t>Design: 3 conditions x 3 replicates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24AB3C-D8D9-5227-D19D-34929BA6C192}"/>
              </a:ext>
            </a:extLst>
          </p:cNvPr>
          <p:cNvSpPr txBox="1"/>
          <p:nvPr/>
        </p:nvSpPr>
        <p:spPr>
          <a:xfrm>
            <a:off x="6477000" y="1524000"/>
            <a:ext cx="1498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100" b="1">
                <a:solidFill>
                  <a:srgbClr val="464646"/>
                </a:solidFill>
                <a:latin typeface="Calibri" panose="020F0502020204030204" pitchFamily="34" charset="0"/>
              </a:rPr>
              <a:t>DIV1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1C6EC5-5F9A-9DD1-45AD-CD51BDB32E22}"/>
              </a:ext>
            </a:extLst>
          </p:cNvPr>
          <p:cNvSpPr txBox="1"/>
          <p:nvPr/>
        </p:nvSpPr>
        <p:spPr>
          <a:xfrm>
            <a:off x="8064500" y="1524000"/>
            <a:ext cx="1498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100" b="1">
                <a:solidFill>
                  <a:srgbClr val="464646"/>
                </a:solidFill>
                <a:latin typeface="Calibri" panose="020F0502020204030204" pitchFamily="34" charset="0"/>
              </a:rPr>
              <a:t>DIV2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571FE6-42C0-B840-14ED-DD3BA7F6DE7E}"/>
              </a:ext>
            </a:extLst>
          </p:cNvPr>
          <p:cNvSpPr txBox="1"/>
          <p:nvPr/>
        </p:nvSpPr>
        <p:spPr>
          <a:xfrm>
            <a:off x="9652000" y="1524000"/>
            <a:ext cx="1498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100" b="1">
                <a:solidFill>
                  <a:srgbClr val="464646"/>
                </a:solidFill>
                <a:latin typeface="Calibri" panose="020F0502020204030204" pitchFamily="34" charset="0"/>
              </a:rPr>
              <a:t>DIV2+Ntn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EDC066-9BEA-AB4A-D437-4193272814E9}"/>
              </a:ext>
            </a:extLst>
          </p:cNvPr>
          <p:cNvSpPr txBox="1"/>
          <p:nvPr/>
        </p:nvSpPr>
        <p:spPr>
          <a:xfrm>
            <a:off x="5969000" y="1905000"/>
            <a:ext cx="482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464646"/>
                </a:solidFill>
                <a:latin typeface="Calibri" panose="020F0502020204030204" pitchFamily="34" charset="0"/>
              </a:rPr>
              <a:t>Rep 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E6686FF-9DA4-A00B-C7BA-33F2158BE2E6}"/>
              </a:ext>
            </a:extLst>
          </p:cNvPr>
          <p:cNvSpPr/>
          <p:nvPr/>
        </p:nvSpPr>
        <p:spPr>
          <a:xfrm>
            <a:off x="6477000" y="1828800"/>
            <a:ext cx="1498600" cy="431800"/>
          </a:xfrm>
          <a:prstGeom prst="roundRect">
            <a:avLst/>
          </a:prstGeom>
          <a:solidFill>
            <a:srgbClr val="DCD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rgbClr val="46371E"/>
                </a:solidFill>
                <a:latin typeface="Calibri" panose="020F0502020204030204" pitchFamily="34" charset="0"/>
              </a:rPr>
              <a:t>DIV1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291FB43-5130-4681-22AD-8A72D1F68ABF}"/>
              </a:ext>
            </a:extLst>
          </p:cNvPr>
          <p:cNvSpPr/>
          <p:nvPr/>
        </p:nvSpPr>
        <p:spPr>
          <a:xfrm>
            <a:off x="8064500" y="1828800"/>
            <a:ext cx="1498600" cy="431800"/>
          </a:xfrm>
          <a:prstGeom prst="roundRect">
            <a:avLst/>
          </a:prstGeom>
          <a:solidFill>
            <a:srgbClr val="2E5F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rgbClr val="FFFFFF"/>
                </a:solidFill>
                <a:latin typeface="Calibri" panose="020F0502020204030204" pitchFamily="34" charset="0"/>
              </a:rPr>
              <a:t>DIV2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1A416D3-33BA-9319-3832-5521EEE30F85}"/>
              </a:ext>
            </a:extLst>
          </p:cNvPr>
          <p:cNvSpPr/>
          <p:nvPr/>
        </p:nvSpPr>
        <p:spPr>
          <a:xfrm>
            <a:off x="9652000" y="1828800"/>
            <a:ext cx="1498600" cy="431800"/>
          </a:xfrm>
          <a:prstGeom prst="roundRect">
            <a:avLst/>
          </a:prstGeom>
          <a:solidFill>
            <a:srgbClr val="D880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rgbClr val="FFFFFF"/>
                </a:solidFill>
                <a:latin typeface="Calibri" panose="020F0502020204030204" pitchFamily="34" charset="0"/>
              </a:rPr>
              <a:t>DIV2+Ntn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E4DDEB-085B-B641-C024-C272F661ECE8}"/>
              </a:ext>
            </a:extLst>
          </p:cNvPr>
          <p:cNvSpPr txBox="1"/>
          <p:nvPr/>
        </p:nvSpPr>
        <p:spPr>
          <a:xfrm>
            <a:off x="5969000" y="2425700"/>
            <a:ext cx="482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464646"/>
                </a:solidFill>
                <a:latin typeface="Calibri" panose="020F0502020204030204" pitchFamily="34" charset="0"/>
              </a:rPr>
              <a:t>Rep 2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9597A03-A271-A25A-D777-9FA3E979B454}"/>
              </a:ext>
            </a:extLst>
          </p:cNvPr>
          <p:cNvSpPr/>
          <p:nvPr/>
        </p:nvSpPr>
        <p:spPr>
          <a:xfrm>
            <a:off x="6477000" y="2349500"/>
            <a:ext cx="1498600" cy="431800"/>
          </a:xfrm>
          <a:prstGeom prst="roundRect">
            <a:avLst/>
          </a:prstGeom>
          <a:solidFill>
            <a:srgbClr val="DCD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rgbClr val="46371E"/>
                </a:solidFill>
                <a:latin typeface="Calibri" panose="020F0502020204030204" pitchFamily="34" charset="0"/>
              </a:rPr>
              <a:t>DIV1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FC91495-B2D4-11CD-5180-A7061D509260}"/>
              </a:ext>
            </a:extLst>
          </p:cNvPr>
          <p:cNvSpPr/>
          <p:nvPr/>
        </p:nvSpPr>
        <p:spPr>
          <a:xfrm>
            <a:off x="8064500" y="2349500"/>
            <a:ext cx="1498600" cy="431800"/>
          </a:xfrm>
          <a:prstGeom prst="roundRect">
            <a:avLst/>
          </a:prstGeom>
          <a:solidFill>
            <a:srgbClr val="2E5F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rgbClr val="FFFFFF"/>
                </a:solidFill>
                <a:latin typeface="Calibri" panose="020F0502020204030204" pitchFamily="34" charset="0"/>
              </a:rPr>
              <a:t>DIV2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D3AE3A0-2C38-BB40-4552-7548B4649B0E}"/>
              </a:ext>
            </a:extLst>
          </p:cNvPr>
          <p:cNvSpPr/>
          <p:nvPr/>
        </p:nvSpPr>
        <p:spPr>
          <a:xfrm>
            <a:off x="9652000" y="2349500"/>
            <a:ext cx="1498600" cy="431800"/>
          </a:xfrm>
          <a:prstGeom prst="roundRect">
            <a:avLst/>
          </a:prstGeom>
          <a:solidFill>
            <a:srgbClr val="D880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rgbClr val="FFFFFF"/>
                </a:solidFill>
                <a:latin typeface="Calibri" panose="020F0502020204030204" pitchFamily="34" charset="0"/>
              </a:rPr>
              <a:t>DIV2+Ntn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CFA238-6B65-78B3-5E17-AAABD01D7085}"/>
              </a:ext>
            </a:extLst>
          </p:cNvPr>
          <p:cNvSpPr txBox="1"/>
          <p:nvPr/>
        </p:nvSpPr>
        <p:spPr>
          <a:xfrm>
            <a:off x="5969000" y="2946400"/>
            <a:ext cx="482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464646"/>
                </a:solidFill>
                <a:latin typeface="Calibri" panose="020F0502020204030204" pitchFamily="34" charset="0"/>
              </a:rPr>
              <a:t>Rep 3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952B3D0-F601-BF1D-DE75-18E73B6B628D}"/>
              </a:ext>
            </a:extLst>
          </p:cNvPr>
          <p:cNvSpPr/>
          <p:nvPr/>
        </p:nvSpPr>
        <p:spPr>
          <a:xfrm>
            <a:off x="6477000" y="2870200"/>
            <a:ext cx="1498600" cy="431800"/>
          </a:xfrm>
          <a:prstGeom prst="roundRect">
            <a:avLst/>
          </a:prstGeom>
          <a:solidFill>
            <a:srgbClr val="DCD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rgbClr val="46371E"/>
                </a:solidFill>
                <a:latin typeface="Calibri" panose="020F0502020204030204" pitchFamily="34" charset="0"/>
              </a:rPr>
              <a:t>DIV1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9B087E0-C9B8-BAA5-BED7-23ED69EE8C0B}"/>
              </a:ext>
            </a:extLst>
          </p:cNvPr>
          <p:cNvSpPr/>
          <p:nvPr/>
        </p:nvSpPr>
        <p:spPr>
          <a:xfrm>
            <a:off x="8064500" y="2870200"/>
            <a:ext cx="1498600" cy="431800"/>
          </a:xfrm>
          <a:prstGeom prst="roundRect">
            <a:avLst/>
          </a:prstGeom>
          <a:solidFill>
            <a:srgbClr val="2E5F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rgbClr val="FFFFFF"/>
                </a:solidFill>
                <a:latin typeface="Calibri" panose="020F0502020204030204" pitchFamily="34" charset="0"/>
              </a:rPr>
              <a:t>DIV2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FB256D6-F3B5-5EB7-634B-35A54DF3DC7C}"/>
              </a:ext>
            </a:extLst>
          </p:cNvPr>
          <p:cNvSpPr/>
          <p:nvPr/>
        </p:nvSpPr>
        <p:spPr>
          <a:xfrm>
            <a:off x="9652000" y="2870200"/>
            <a:ext cx="1498600" cy="431800"/>
          </a:xfrm>
          <a:prstGeom prst="roundRect">
            <a:avLst/>
          </a:prstGeom>
          <a:solidFill>
            <a:srgbClr val="D880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rgbClr val="FFFFFF"/>
                </a:solidFill>
                <a:latin typeface="Calibri" panose="020F0502020204030204" pitchFamily="34" charset="0"/>
              </a:rPr>
              <a:t>DIV2+Ntn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B552389-38DA-C217-010B-66D59DD672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0" y="3712308"/>
            <a:ext cx="5715000" cy="241788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C808BED-09A5-0922-C043-3287D8FD544E}"/>
              </a:ext>
            </a:extLst>
          </p:cNvPr>
          <p:cNvSpPr txBox="1"/>
          <p:nvPr/>
        </p:nvSpPr>
        <p:spPr>
          <a:xfrm>
            <a:off x="5969000" y="6413500"/>
            <a:ext cx="5715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1200" i="1">
                <a:solidFill>
                  <a:srgbClr val="6E6E6E"/>
                </a:solidFill>
                <a:latin typeface="Calibri" panose="020F0502020204030204" pitchFamily="34" charset="0"/>
              </a:rPr>
              <a:t>Batch correction (visualisation only): Netrin signal emerges on PC2; PC1 87.9% -&gt; 94.9%.</a:t>
            </a:r>
            <a:endParaRPr lang="en-US" sz="1200" i="1">
              <a:solidFill>
                <a:srgbClr val="6E6E6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943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543395-A9A0-C4BC-D26A-D9AC80C4B31B}"/>
              </a:ext>
            </a:extLst>
          </p:cNvPr>
          <p:cNvSpPr txBox="1"/>
          <p:nvPr/>
        </p:nvSpPr>
        <p:spPr>
          <a:xfrm>
            <a:off x="508000" y="2794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CA" sz="2300" b="1">
                <a:solidFill>
                  <a:srgbClr val="2E5F58"/>
                </a:solidFill>
                <a:latin typeface="Calibri" panose="020F0502020204030204" pitchFamily="34" charset="0"/>
              </a:rPr>
              <a:t>Quality control and the Netrin-1 discovery moment</a:t>
            </a:r>
            <a:endParaRPr lang="en-US" sz="2300" b="1">
              <a:solidFill>
                <a:srgbClr val="2E5F58"/>
              </a:solidFill>
              <a:latin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3F6722-DAC9-CCA1-DDF6-83BC7B7BFB4D}"/>
              </a:ext>
            </a:extLst>
          </p:cNvPr>
          <p:cNvSpPr/>
          <p:nvPr/>
        </p:nvSpPr>
        <p:spPr>
          <a:xfrm>
            <a:off x="508000" y="1016000"/>
            <a:ext cx="11176000" cy="38100"/>
          </a:xfrm>
          <a:prstGeom prst="rect">
            <a:avLst/>
          </a:prstGeom>
          <a:solidFill>
            <a:srgbClr val="D880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0AE7FF-CBF2-6DE0-0BF7-07CCE782637A}"/>
              </a:ext>
            </a:extLst>
          </p:cNvPr>
          <p:cNvSpPr txBox="1"/>
          <p:nvPr/>
        </p:nvSpPr>
        <p:spPr>
          <a:xfrm>
            <a:off x="508000" y="11176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CA" sz="1300">
                <a:solidFill>
                  <a:srgbClr val="2D2D2D"/>
                </a:solidFill>
                <a:latin typeface="Calibri" panose="020F0502020204030204" pitchFamily="34" charset="0"/>
              </a:rPr>
              <a:t>All samples high quality: RIN &gt;= 9 (8 of 9 = 10); 22.95-36.11 M quantified reads; 16,451-17,093 genes detected; 14,148 pass the low-count filter.</a:t>
            </a:r>
          </a:p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CA" sz="1300">
                <a:solidFill>
                  <a:srgbClr val="2D2D2D"/>
                </a:solidFill>
                <a:latin typeface="Calibri" panose="020F0502020204030204" pitchFamily="34" charset="0"/>
              </a:rPr>
              <a:t>Sample correlation r = 0.9861-0.9987 (no outliers); size factors 0.74-1.16; median dispersion 0.0060 - replicates highly consistent.</a:t>
            </a:r>
          </a:p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CA" sz="1300">
                <a:solidFill>
                  <a:srgbClr val="2D2D2D"/>
                </a:solidFill>
                <a:latin typeface="Calibri" panose="020F0502020204030204" pitchFamily="34" charset="0"/>
              </a:rPr>
              <a:t>After batch correction, DIV2 control and DIV2 + Netrin-1 separate on PC2 (PC1 = 94.9%) - the first direct view of the Netrin-1 signal.</a:t>
            </a:r>
            <a:endParaRPr lang="en-US" sz="1300">
              <a:solidFill>
                <a:srgbClr val="2D2D2D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979B7E-602F-44B5-2D73-414C8E59E5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28" y="2413000"/>
            <a:ext cx="4615543" cy="4038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C493E0-F946-D6AE-695E-3B5EE6802A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3482" y="2413000"/>
            <a:ext cx="5140037" cy="4038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C3AAB9B-D9AE-98B8-C5BD-A01E7AB6CDA1}"/>
              </a:ext>
            </a:extLst>
          </p:cNvPr>
          <p:cNvSpPr txBox="1"/>
          <p:nvPr/>
        </p:nvSpPr>
        <p:spPr>
          <a:xfrm>
            <a:off x="571500" y="6477000"/>
            <a:ext cx="558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i="1">
                <a:solidFill>
                  <a:srgbClr val="6E6E6E"/>
                </a:solidFill>
                <a:latin typeface="Calibri" panose="020F0502020204030204" pitchFamily="34" charset="0"/>
              </a:rPr>
              <a:t>Sample correlation (VST, Pearson)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C6E018-E474-F315-8EC4-DAFFBDDA44B5}"/>
              </a:ext>
            </a:extLst>
          </p:cNvPr>
          <p:cNvSpPr txBox="1"/>
          <p:nvPr/>
        </p:nvSpPr>
        <p:spPr>
          <a:xfrm>
            <a:off x="6286500" y="6477000"/>
            <a:ext cx="533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i="1">
                <a:solidFill>
                  <a:srgbClr val="6E6E6E"/>
                </a:solidFill>
                <a:latin typeface="Calibri" panose="020F0502020204030204" pitchFamily="34" charset="0"/>
              </a:rPr>
              <a:t>PCA after batch correction</a:t>
            </a:r>
          </a:p>
        </p:txBody>
      </p:sp>
    </p:spTree>
    <p:extLst>
      <p:ext uri="{BB962C8B-B14F-4D97-AF65-F5344CB8AC3E}">
        <p14:creationId xmlns:p14="http://schemas.microsoft.com/office/powerpoint/2010/main" val="2337388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51CFBF-7787-AC13-73E9-537AD9147B95}"/>
              </a:ext>
            </a:extLst>
          </p:cNvPr>
          <p:cNvSpPr txBox="1"/>
          <p:nvPr/>
        </p:nvSpPr>
        <p:spPr>
          <a:xfrm>
            <a:off x="508000" y="2794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300" b="1">
                <a:solidFill>
                  <a:srgbClr val="2E5F58"/>
                </a:solidFill>
                <a:latin typeface="Calibri" panose="020F0502020204030204" pitchFamily="34" charset="0"/>
              </a:rPr>
              <a:t>Contrast 1 - Netrin-1 elicits a focused, bidirectional response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352826-0BB7-0867-D293-AE5CDE724B05}"/>
              </a:ext>
            </a:extLst>
          </p:cNvPr>
          <p:cNvSpPr/>
          <p:nvPr/>
        </p:nvSpPr>
        <p:spPr>
          <a:xfrm>
            <a:off x="508000" y="1016000"/>
            <a:ext cx="11176000" cy="38100"/>
          </a:xfrm>
          <a:prstGeom prst="rect">
            <a:avLst/>
          </a:prstGeom>
          <a:solidFill>
            <a:srgbClr val="D880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089D30-9D8A-6488-A790-51D5B1298F32}"/>
              </a:ext>
            </a:extLst>
          </p:cNvPr>
          <p:cNvSpPr txBox="1"/>
          <p:nvPr/>
        </p:nvSpPr>
        <p:spPr>
          <a:xfrm>
            <a:off x="508000" y="1270000"/>
            <a:ext cx="4724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 sz="1600">
                <a:solidFill>
                  <a:srgbClr val="2D2D2D"/>
                </a:solidFill>
                <a:latin typeface="Calibri" panose="020F0502020204030204" pitchFamily="34" charset="0"/>
              </a:rPr>
              <a:t>STRICT: 25 DEGs (7 up + 18 down).</a:t>
            </a:r>
          </a:p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 sz="1600">
                <a:solidFill>
                  <a:srgbClr val="2D2D2D"/>
                </a:solidFill>
                <a:latin typeface="Calibri" panose="020F0502020204030204" pitchFamily="34" charset="0"/>
              </a:rPr>
              <a:t>RELAXED: 66 DEGs (10 up + 56 down).</a:t>
            </a:r>
          </a:p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 sz="1600">
                <a:solidFill>
                  <a:srgbClr val="2D2D2D"/>
                </a:solidFill>
                <a:latin typeface="Calibri" panose="020F0502020204030204" pitchFamily="34" charset="0"/>
              </a:rPr>
              <a:t>Asymmetric - more down than up.</a:t>
            </a:r>
          </a:p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 sz="1600">
                <a:solidFill>
                  <a:srgbClr val="2D2D2D"/>
                </a:solidFill>
                <a:latin typeface="Calibri" panose="020F0502020204030204" pitchFamily="34" charset="0"/>
              </a:rPr>
              <a:t>Most significant down: Olig1 (LFC -1.00, padj 3.3e-14); also Olig2, Ccnd1, Sparcl1.</a:t>
            </a:r>
          </a:p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 sz="1600">
                <a:solidFill>
                  <a:srgbClr val="2D2D2D"/>
                </a:solidFill>
                <a:latin typeface="Calibri" panose="020F0502020204030204" pitchFamily="34" charset="0"/>
              </a:rPr>
              <a:t>Most significant up: C3 (LFC +2.54, padj 1.6e-20); also Apoe, Adgre1, Ncf1, Itgal, Acod1.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22887E-945B-3B89-2D9C-5E4850F579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00" y="1692275"/>
            <a:ext cx="62865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086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9AAD0F-EB10-ED04-42DD-A55F4174AF4A}"/>
              </a:ext>
            </a:extLst>
          </p:cNvPr>
          <p:cNvSpPr txBox="1"/>
          <p:nvPr/>
        </p:nvSpPr>
        <p:spPr>
          <a:xfrm>
            <a:off x="508000" y="2794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CA" sz="2300" b="1">
                <a:solidFill>
                  <a:srgbClr val="2E5F58"/>
                </a:solidFill>
                <a:latin typeface="Calibri" panose="020F0502020204030204" pitchFamily="34" charset="0"/>
              </a:rPr>
              <a:t>Contrast 1 GSEA - synaptic / axon-guidance up, cell cycle down</a:t>
            </a:r>
            <a:endParaRPr lang="en-US" sz="2300" b="1">
              <a:solidFill>
                <a:srgbClr val="2E5F58"/>
              </a:solidFill>
              <a:latin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09EA95-B811-8E16-FAEC-AB46C510A02B}"/>
              </a:ext>
            </a:extLst>
          </p:cNvPr>
          <p:cNvSpPr/>
          <p:nvPr/>
        </p:nvSpPr>
        <p:spPr>
          <a:xfrm>
            <a:off x="508000" y="1016000"/>
            <a:ext cx="11176000" cy="38100"/>
          </a:xfrm>
          <a:prstGeom prst="rect">
            <a:avLst/>
          </a:prstGeom>
          <a:solidFill>
            <a:srgbClr val="D880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05AF4E-8531-0401-AB39-2A8EDDF2950D}"/>
              </a:ext>
            </a:extLst>
          </p:cNvPr>
          <p:cNvSpPr txBox="1"/>
          <p:nvPr/>
        </p:nvSpPr>
        <p:spPr>
          <a:xfrm>
            <a:off x="508000" y="11430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 sz="1300">
                <a:solidFill>
                  <a:srgbClr val="2D2D2D"/>
                </a:solidFill>
                <a:latin typeface="Calibri" panose="020F0502020204030204" pitchFamily="34" charset="0"/>
              </a:rPr>
              <a:t>481 GO BP terms (255 activated / 226 suppressed) + 42 KEGG pathways (20 / 22) significant.</a:t>
            </a:r>
          </a:p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 sz="1300">
                <a:solidFill>
                  <a:srgbClr val="2D2D2D"/>
                </a:solidFill>
                <a:latin typeface="Calibri" panose="020F0502020204030204" pitchFamily="34" charset="0"/>
              </a:rPr>
              <a:t>Activated: excitatory postsynaptic potential (NES +2.11), synapse assembly (+2.05), exocytosis, learning/memory, axon guidance (+1.85).</a:t>
            </a:r>
          </a:p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 sz="1300">
                <a:solidFill>
                  <a:srgbClr val="2D2D2D"/>
                </a:solidFill>
                <a:latin typeface="Calibri" panose="020F0502020204030204" pitchFamily="34" charset="0"/>
              </a:rPr>
              <a:t>Suppressed: chromosome segregation / cell cycle / DNA replication (NES -2.4 to -2.7); KEGG Cell cycle NES -2.70 (padj 1.7e-8).</a:t>
            </a:r>
          </a:p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 sz="1300">
                <a:solidFill>
                  <a:srgbClr val="2D2D2D"/>
                </a:solidFill>
                <a:latin typeface="Calibri" panose="020F0502020204030204" pitchFamily="34" charset="0"/>
              </a:rPr>
              <a:t>Convergent: axon guidance significant in BOTH GO BP (+1.85) and KEGG (+1.72) - Netrin engages its own pathway.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AACAF2-3F98-F16C-F270-3EA5A5C2C3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423" y="2387600"/>
            <a:ext cx="4998155" cy="4089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0CB6EF-2E58-076A-5FAD-AF5D9D0DE4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422" y="2387600"/>
            <a:ext cx="4998155" cy="408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182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0F1AAB-B5C8-92FD-B202-CDD1110DC07A}"/>
              </a:ext>
            </a:extLst>
          </p:cNvPr>
          <p:cNvSpPr txBox="1"/>
          <p:nvPr/>
        </p:nvSpPr>
        <p:spPr>
          <a:xfrm>
            <a:off x="508000" y="2794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CA" sz="2300" b="1">
                <a:solidFill>
                  <a:srgbClr val="2E5F58"/>
                </a:solidFill>
                <a:latin typeface="Calibri" panose="020F0502020204030204" pitchFamily="34" charset="0"/>
              </a:rPr>
              <a:t>Contrast 1 - the strongest single-gene DEGs are largely glial / immune</a:t>
            </a:r>
            <a:endParaRPr lang="en-US" sz="2300" b="1">
              <a:solidFill>
                <a:srgbClr val="2E5F58"/>
              </a:solidFill>
              <a:latin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C455F9-8185-FE3D-9226-0F3AF463E700}"/>
              </a:ext>
            </a:extLst>
          </p:cNvPr>
          <p:cNvSpPr/>
          <p:nvPr/>
        </p:nvSpPr>
        <p:spPr>
          <a:xfrm>
            <a:off x="508000" y="1016000"/>
            <a:ext cx="11176000" cy="38100"/>
          </a:xfrm>
          <a:prstGeom prst="rect">
            <a:avLst/>
          </a:prstGeom>
          <a:solidFill>
            <a:srgbClr val="D880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21C294-86F0-BB8C-81C3-7E31FD1AC4C7}"/>
              </a:ext>
            </a:extLst>
          </p:cNvPr>
          <p:cNvSpPr txBox="1"/>
          <p:nvPr/>
        </p:nvSpPr>
        <p:spPr>
          <a:xfrm>
            <a:off x="508000" y="1270000"/>
            <a:ext cx="4724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 sz="1600">
                <a:solidFill>
                  <a:srgbClr val="2D2D2D"/>
                </a:solidFill>
                <a:latin typeface="Calibri" panose="020F0502020204030204" pitchFamily="34" charset="0"/>
              </a:rPr>
              <a:t>Immune module up: C3, Adgre1, Apoe, Acod1.</a:t>
            </a:r>
          </a:p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 sz="1600">
                <a:solidFill>
                  <a:srgbClr val="2D2D2D"/>
                </a:solidFill>
                <a:latin typeface="Calibri" panose="020F0502020204030204" pitchFamily="34" charset="0"/>
              </a:rPr>
              <a:t>Progenitor / glial module down: Olig1, Olig2, Sparcl1, Ccnd1.</a:t>
            </a:r>
          </a:p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 sz="1600">
                <a:solidFill>
                  <a:srgbClr val="2D2D2D"/>
                </a:solidFill>
                <a:latin typeface="Calibri" panose="020F0502020204030204" pitchFamily="34" charset="0"/>
              </a:rPr>
              <a:t>Key nuance: these top per-gene hits map to microglia / glia, not neurons.</a:t>
            </a:r>
          </a:p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 sz="1600">
                <a:solidFill>
                  <a:srgbClr val="2D2D2D"/>
                </a:solidFill>
                <a:latin typeface="Calibri" panose="020F0502020204030204" pitchFamily="34" charset="0"/>
              </a:rPr>
              <a:t>The neuronal axon-guidance / synapse signal is coordinated and subtle - visible at the gene-set (GSEA) level, not as single-gene hits.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DD4159-138D-C0C4-3830-538DF5ECF9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00" y="2263775"/>
            <a:ext cx="6286500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479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CF7D7A-D161-521B-0E5B-B71956294FB7}"/>
              </a:ext>
            </a:extLst>
          </p:cNvPr>
          <p:cNvSpPr txBox="1"/>
          <p:nvPr/>
        </p:nvSpPr>
        <p:spPr>
          <a:xfrm>
            <a:off x="508000" y="2794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CA" sz="2300" b="1">
                <a:solidFill>
                  <a:srgbClr val="2E5F58"/>
                </a:solidFill>
                <a:latin typeface="Calibri" panose="020F0502020204030204" pitchFamily="34" charset="0"/>
              </a:rPr>
              <a:t>Pattern classification along DIV1 -&gt; DIV2 -&gt; DIV2 + Netrin-1</a:t>
            </a:r>
            <a:endParaRPr lang="en-US" sz="2300" b="1">
              <a:solidFill>
                <a:srgbClr val="2E5F58"/>
              </a:solidFill>
              <a:latin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E3109F-BF6A-33FF-D091-E5328E26A7FC}"/>
              </a:ext>
            </a:extLst>
          </p:cNvPr>
          <p:cNvSpPr/>
          <p:nvPr/>
        </p:nvSpPr>
        <p:spPr>
          <a:xfrm>
            <a:off x="508000" y="1016000"/>
            <a:ext cx="11176000" cy="38100"/>
          </a:xfrm>
          <a:prstGeom prst="rect">
            <a:avLst/>
          </a:prstGeom>
          <a:solidFill>
            <a:srgbClr val="D880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C44F1A-6962-2D82-7F8D-9BCF4EEB2AFD}"/>
              </a:ext>
            </a:extLst>
          </p:cNvPr>
          <p:cNvSpPr txBox="1"/>
          <p:nvPr/>
        </p:nvSpPr>
        <p:spPr>
          <a:xfrm>
            <a:off x="508000" y="1219200"/>
            <a:ext cx="4724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 sz="1400">
                <a:solidFill>
                  <a:srgbClr val="2D2D2D"/>
                </a:solidFill>
                <a:latin typeface="Calibri" panose="020F0502020204030204" pitchFamily="34" charset="0"/>
              </a:rPr>
              <a:t>66 RELAXED DEGs classified into six trajectory patterns (DIV1 -&gt; DIV2 -&gt; Netrin).</a:t>
            </a:r>
          </a:p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 sz="1400">
                <a:solidFill>
                  <a:srgbClr val="2D2D2D"/>
                </a:solidFill>
                <a:latin typeface="Calibri" panose="020F0502020204030204" pitchFamily="34" charset="0"/>
              </a:rPr>
              <a:t>Dominant: P5 - peak at DIV2 (n = 46) - induced in development, partially reversed by Netrin.</a:t>
            </a:r>
          </a:p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 sz="1400">
                <a:solidFill>
                  <a:srgbClr val="2D2D2D"/>
                </a:solidFill>
                <a:latin typeface="Calibri" panose="020F0502020204030204" pitchFamily="34" charset="0"/>
              </a:rPr>
              <a:t>P2 - dip at DIV2 (n = 9, e.g. C3); P6 - Netrin-down (n = 8); P4 - monotonic down (n = 2); P3 - Netrin-up (n = 1).</a:t>
            </a:r>
          </a:p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 sz="1400">
                <a:solidFill>
                  <a:srgbClr val="2D2D2D"/>
                </a:solidFill>
                <a:latin typeface="Calibri" panose="020F0502020204030204" pitchFamily="34" charset="0"/>
              </a:rPr>
              <a:t>Caveat: P5's prototypical genes Olig1/Olig2 are oligodendrocyte (glial) markers - so P5 mainly tracks glial/composition change (see cell-source slides), NOT neuron-intrinsic maturation.</a:t>
            </a:r>
          </a:p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 sz="1400">
                <a:solidFill>
                  <a:srgbClr val="2D2D2D"/>
                </a:solidFill>
                <a:latin typeface="Calibri" panose="020F0502020204030204" pitchFamily="34" charset="0"/>
              </a:rPr>
              <a:t>Critically, P1 - monotonic up = 0 genes: no gene is accelerated along the trajectory.</a:t>
            </a:r>
          </a:p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 sz="1400">
                <a:solidFill>
                  <a:srgbClr val="2D2D2D"/>
                </a:solidFill>
                <a:latin typeface="Calibri" panose="020F0502020204030204" pitchFamily="34" charset="0"/>
              </a:rPr>
              <a:t>Argues against a simple 'Netrin accelerates maturation' model -&gt; motivates the gene-set (GSEA) analysis.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75F2F6-3C55-6741-A66D-F37F67C616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0375" y="1168400"/>
            <a:ext cx="600075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934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322503-3A4A-FF93-DF14-5180F721094F}"/>
              </a:ext>
            </a:extLst>
          </p:cNvPr>
          <p:cNvSpPr txBox="1"/>
          <p:nvPr/>
        </p:nvSpPr>
        <p:spPr>
          <a:xfrm>
            <a:off x="508000" y="2794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300" b="1">
                <a:solidFill>
                  <a:srgbClr val="2E5F58"/>
                </a:solidFill>
                <a:latin typeface="Calibri" panose="020F0502020204030204" pitchFamily="34" charset="0"/>
              </a:rPr>
              <a:t>Contrast 2 - the 24 h developmental program (context)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744947-C460-8EFE-1010-73AA218AA43C}"/>
              </a:ext>
            </a:extLst>
          </p:cNvPr>
          <p:cNvSpPr/>
          <p:nvPr/>
        </p:nvSpPr>
        <p:spPr>
          <a:xfrm>
            <a:off x="508000" y="1016000"/>
            <a:ext cx="11176000" cy="38100"/>
          </a:xfrm>
          <a:prstGeom prst="rect">
            <a:avLst/>
          </a:prstGeom>
          <a:solidFill>
            <a:srgbClr val="D880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99D6A0-3CEF-57AA-56FC-C81F5AFF4049}"/>
              </a:ext>
            </a:extLst>
          </p:cNvPr>
          <p:cNvSpPr txBox="1"/>
          <p:nvPr/>
        </p:nvSpPr>
        <p:spPr>
          <a:xfrm>
            <a:off x="508000" y="1270000"/>
            <a:ext cx="4724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CA" sz="1600">
                <a:solidFill>
                  <a:srgbClr val="2D2D2D"/>
                </a:solidFill>
                <a:latin typeface="Calibri" panose="020F0502020204030204" pitchFamily="34" charset="0"/>
              </a:rPr>
              <a:t>STRICT: 1,495 DEGs (1,098 up + 397 down).</a:t>
            </a:r>
          </a:p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CA" sz="1600">
                <a:solidFill>
                  <a:srgbClr val="2D2D2D"/>
                </a:solidFill>
                <a:latin typeface="Calibri" panose="020F0502020204030204" pitchFamily="34" charset="0"/>
              </a:rPr>
              <a:t>RELAXED: 4,636 DEGs (2,603 up + 2,033 down).</a:t>
            </a:r>
          </a:p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CA" sz="1600">
                <a:solidFill>
                  <a:srgbClr val="2D2D2D"/>
                </a:solidFill>
                <a:latin typeface="Calibri" panose="020F0502020204030204" pitchFamily="34" charset="0"/>
              </a:rPr>
              <a:t>~Two orders of magnitude larger than C1 - development dominates.</a:t>
            </a:r>
          </a:p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CA" sz="1600">
                <a:solidFill>
                  <a:srgbClr val="2D2D2D"/>
                </a:solidFill>
                <a:latin typeface="Calibri" panose="020F0502020204030204" pitchFamily="34" charset="0"/>
              </a:rPr>
              <a:t>Olig1 is up here (LFC +3.37), opposite to its down direction under Netrin: Netrin reverses the natural induction.</a:t>
            </a:r>
          </a:p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CA" sz="1600">
                <a:solidFill>
                  <a:srgbClr val="2D2D2D"/>
                </a:solidFill>
                <a:latin typeface="Calibri" panose="020F0502020204030204" pitchFamily="34" charset="0"/>
              </a:rPr>
              <a:t>Interpret with caution: confounds 24 h development with vehicle exposure.</a:t>
            </a:r>
            <a:endParaRPr lang="en-US" sz="1600">
              <a:solidFill>
                <a:srgbClr val="2D2D2D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93F845-8278-E3BB-BB66-8AFC20977A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00" y="1263649"/>
            <a:ext cx="6286500" cy="514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451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257FED-E874-7E1B-1BA4-83E0042FE5C1}"/>
              </a:ext>
            </a:extLst>
          </p:cNvPr>
          <p:cNvSpPr txBox="1"/>
          <p:nvPr/>
        </p:nvSpPr>
        <p:spPr>
          <a:xfrm>
            <a:off x="508000" y="2794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CA" sz="2300" b="1">
                <a:solidFill>
                  <a:srgbClr val="2E5F58"/>
                </a:solidFill>
                <a:latin typeface="Calibri" panose="020F0502020204030204" pitchFamily="34" charset="0"/>
              </a:rPr>
              <a:t>Contrast 2 GSEA - maturation up, precursor program down</a:t>
            </a:r>
            <a:endParaRPr lang="en-US" sz="2300" b="1">
              <a:solidFill>
                <a:srgbClr val="2E5F58"/>
              </a:solidFill>
              <a:latin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291F3D-1E6C-D587-CC68-3F6FB915C9BE}"/>
              </a:ext>
            </a:extLst>
          </p:cNvPr>
          <p:cNvSpPr/>
          <p:nvPr/>
        </p:nvSpPr>
        <p:spPr>
          <a:xfrm>
            <a:off x="508000" y="1016000"/>
            <a:ext cx="11176000" cy="38100"/>
          </a:xfrm>
          <a:prstGeom prst="rect">
            <a:avLst/>
          </a:prstGeom>
          <a:solidFill>
            <a:srgbClr val="D880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69DD69-2CB8-9980-0234-829A15947916}"/>
              </a:ext>
            </a:extLst>
          </p:cNvPr>
          <p:cNvSpPr txBox="1"/>
          <p:nvPr/>
        </p:nvSpPr>
        <p:spPr>
          <a:xfrm>
            <a:off x="508000" y="11430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 sz="1300">
                <a:solidFill>
                  <a:srgbClr val="2D2D2D"/>
                </a:solidFill>
                <a:latin typeface="Calibri" panose="020F0502020204030204" pitchFamily="34" charset="0"/>
              </a:rPr>
              <a:t>534 GO BP terms (410 activated / 124 suppressed) + 99 KEGG (89 / 10) significant - skewed to activation.</a:t>
            </a:r>
          </a:p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 sz="1300">
                <a:solidFill>
                  <a:srgbClr val="2D2D2D"/>
                </a:solidFill>
                <a:latin typeface="Calibri" panose="020F0502020204030204" pitchFamily="34" charset="0"/>
              </a:rPr>
              <a:t>DIV2-enriched (mature): synaptic transmission, neurotransmitter transport, plasticity, learning/memory; KEGG GABAergic / glutamatergic synapse.</a:t>
            </a:r>
          </a:p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 sz="1300">
                <a:solidFill>
                  <a:srgbClr val="2D2D2D"/>
                </a:solidFill>
                <a:latin typeface="Calibri" panose="020F0502020204030204" pitchFamily="34" charset="0"/>
              </a:rPr>
              <a:t>DIV1-enriched (precursor): chromatin remodeling, ribosome biogenesis, rRNA processing, DNA repair; KEGG proteasome, stem-cell pluripotency.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86CE69-9FCB-CB20-992A-2F19B1F725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423" y="2387600"/>
            <a:ext cx="4998155" cy="4089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489F2E-DA3A-12BA-5C69-E807D17073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422" y="2387600"/>
            <a:ext cx="4998155" cy="408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969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6E9609-9955-FDB1-19DF-41C06DDC4475}"/>
              </a:ext>
            </a:extLst>
          </p:cNvPr>
          <p:cNvSpPr txBox="1"/>
          <p:nvPr/>
        </p:nvSpPr>
        <p:spPr>
          <a:xfrm>
            <a:off x="508000" y="2794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CA" sz="2300" b="1">
                <a:solidFill>
                  <a:srgbClr val="2E5F58"/>
                </a:solidFill>
                <a:latin typeface="Calibri" panose="020F0502020204030204" pitchFamily="34" charset="0"/>
              </a:rPr>
              <a:t>Contrast 2 - expression structure of the 1,495 strict DEGs</a:t>
            </a:r>
            <a:endParaRPr lang="en-US" sz="2300" b="1">
              <a:solidFill>
                <a:srgbClr val="2E5F58"/>
              </a:solidFill>
              <a:latin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D82FFB-E74C-7AEB-C22B-F4070C10E09E}"/>
              </a:ext>
            </a:extLst>
          </p:cNvPr>
          <p:cNvSpPr/>
          <p:nvPr/>
        </p:nvSpPr>
        <p:spPr>
          <a:xfrm>
            <a:off x="508000" y="1016000"/>
            <a:ext cx="11176000" cy="38100"/>
          </a:xfrm>
          <a:prstGeom prst="rect">
            <a:avLst/>
          </a:prstGeom>
          <a:solidFill>
            <a:srgbClr val="D880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CCFD33-7FF0-EAA7-499E-AD49FC88B4C7}"/>
              </a:ext>
            </a:extLst>
          </p:cNvPr>
          <p:cNvSpPr txBox="1"/>
          <p:nvPr/>
        </p:nvSpPr>
        <p:spPr>
          <a:xfrm>
            <a:off x="508000" y="11430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CA" sz="1400">
                <a:solidFill>
                  <a:srgbClr val="2D2D2D"/>
                </a:solidFill>
                <a:latin typeface="Calibri" panose="020F0502020204030204" pitchFamily="34" charset="0"/>
              </a:rPr>
              <a:t>Column clustering: DIV1 separates from DIV2 + Netrin -&gt; developmental difference &gt;&gt; Netrin effect.</a:t>
            </a:r>
          </a:p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CA" sz="1400">
                <a:solidFill>
                  <a:srgbClr val="2D2D2D"/>
                </a:solidFill>
                <a:latin typeface="Calibri" panose="020F0502020204030204" pitchFamily="34" charset="0"/>
              </a:rPr>
              <a:t>Left: top-60 DEGs (30 / direction, gene-labelled).   Right: all 1,495 (scale view).</a:t>
            </a:r>
            <a:endParaRPr lang="en-US" sz="1400">
              <a:solidFill>
                <a:srgbClr val="2D2D2D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03553E-39CF-47B5-15FA-76C106751F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773" y="2133600"/>
            <a:ext cx="3925455" cy="431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E404D1-5ED3-CA37-2CB5-C64489AA55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0773" y="2133600"/>
            <a:ext cx="3925455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397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4A7C54-D8A1-183E-7745-178FFFC2FF6D}"/>
              </a:ext>
            </a:extLst>
          </p:cNvPr>
          <p:cNvSpPr txBox="1"/>
          <p:nvPr/>
        </p:nvSpPr>
        <p:spPr>
          <a:xfrm>
            <a:off x="508000" y="2794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CA" sz="2300" b="1">
                <a:solidFill>
                  <a:srgbClr val="2E5F58"/>
                </a:solidFill>
                <a:latin typeface="Calibri" panose="020F0502020204030204" pitchFamily="34" charset="0"/>
              </a:rPr>
              <a:t>Cell-type composition shifts - reading bulk signals correctly</a:t>
            </a:r>
            <a:endParaRPr lang="en-US" sz="2300" b="1">
              <a:solidFill>
                <a:srgbClr val="2E5F58"/>
              </a:solidFill>
              <a:latin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CB975D-574C-6EF0-151B-7CEC049D26A1}"/>
              </a:ext>
            </a:extLst>
          </p:cNvPr>
          <p:cNvSpPr/>
          <p:nvPr/>
        </p:nvSpPr>
        <p:spPr>
          <a:xfrm>
            <a:off x="508000" y="1016000"/>
            <a:ext cx="11176000" cy="38100"/>
          </a:xfrm>
          <a:prstGeom prst="rect">
            <a:avLst/>
          </a:prstGeom>
          <a:solidFill>
            <a:srgbClr val="D880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DE1253-0FD9-632F-CE6E-83996049E867}"/>
              </a:ext>
            </a:extLst>
          </p:cNvPr>
          <p:cNvSpPr txBox="1"/>
          <p:nvPr/>
        </p:nvSpPr>
        <p:spPr>
          <a:xfrm>
            <a:off x="508000" y="11430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 sz="1300">
                <a:solidFill>
                  <a:srgbClr val="2D2D2D"/>
                </a:solidFill>
                <a:latin typeface="Calibri" panose="020F0502020204030204" pitchFamily="34" charset="0"/>
              </a:rPr>
              <a:t>C2 (development): macroglia (oligo/OPC + astrocyte) UP, microglia DOWN, neuron markers ~0 -&gt; a composition shift (no-AraC). Many C2 DEGs reflect composition, not neuron-intrinsic change.</a:t>
            </a:r>
          </a:p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 sz="1300">
                <a:solidFill>
                  <a:srgbClr val="2D2D2D"/>
                </a:solidFill>
                <a:latin typeface="Calibri" panose="020F0502020204030204" pitchFamily="34" charset="0"/>
              </a:rPr>
              <a:t>C1 (treatment): composition stable; microglia markers only TREND up with wide error bars (not significant).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4DD863-F75B-E6DC-9B0E-89931B2C21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944" y="2260600"/>
            <a:ext cx="4967111" cy="4064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C7E1A53-DA5C-D5C3-5891-00243977FC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945" y="2260600"/>
            <a:ext cx="4967111" cy="4064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AC93BEE-D945-F62D-1687-F671AA097DC8}"/>
              </a:ext>
            </a:extLst>
          </p:cNvPr>
          <p:cNvSpPr txBox="1"/>
          <p:nvPr/>
        </p:nvSpPr>
        <p:spPr>
          <a:xfrm>
            <a:off x="571500" y="6350000"/>
            <a:ext cx="558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i="1">
                <a:solidFill>
                  <a:srgbClr val="6E6E6E"/>
                </a:solidFill>
                <a:latin typeface="Calibri" panose="020F0502020204030204" pitchFamily="34" charset="0"/>
              </a:rPr>
              <a:t>C2 (development)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45DC62-AEA7-BEB2-0D54-B5043FBDCE52}"/>
              </a:ext>
            </a:extLst>
          </p:cNvPr>
          <p:cNvSpPr txBox="1"/>
          <p:nvPr/>
        </p:nvSpPr>
        <p:spPr>
          <a:xfrm>
            <a:off x="6286500" y="6350000"/>
            <a:ext cx="533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i="1">
                <a:solidFill>
                  <a:srgbClr val="6E6E6E"/>
                </a:solidFill>
                <a:latin typeface="Calibri" panose="020F0502020204030204" pitchFamily="34" charset="0"/>
              </a:rPr>
              <a:t>C1 (Netrin treatment)</a:t>
            </a:r>
          </a:p>
        </p:txBody>
      </p:sp>
    </p:spTree>
    <p:extLst>
      <p:ext uri="{BB962C8B-B14F-4D97-AF65-F5344CB8AC3E}">
        <p14:creationId xmlns:p14="http://schemas.microsoft.com/office/powerpoint/2010/main" val="1738667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C5906E-594A-8233-9480-68172FE1E974}"/>
              </a:ext>
            </a:extLst>
          </p:cNvPr>
          <p:cNvSpPr txBox="1"/>
          <p:nvPr/>
        </p:nvSpPr>
        <p:spPr>
          <a:xfrm>
            <a:off x="508000" y="2794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300" b="1">
                <a:solidFill>
                  <a:srgbClr val="2E5F58"/>
                </a:solidFill>
                <a:latin typeface="Calibri" panose="020F0502020204030204" pitchFamily="34" charset="0"/>
              </a:rPr>
              <a:t>Attributing signals: neuron (direct) vs microglia (indirect)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8E6BFA-9939-DC89-DB40-74F6A856BF85}"/>
              </a:ext>
            </a:extLst>
          </p:cNvPr>
          <p:cNvSpPr/>
          <p:nvPr/>
        </p:nvSpPr>
        <p:spPr>
          <a:xfrm>
            <a:off x="508000" y="1016000"/>
            <a:ext cx="11176000" cy="38100"/>
          </a:xfrm>
          <a:prstGeom prst="rect">
            <a:avLst/>
          </a:prstGeom>
          <a:solidFill>
            <a:srgbClr val="D880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3B006D-8CE3-FDE6-3629-27633011E5A7}"/>
              </a:ext>
            </a:extLst>
          </p:cNvPr>
          <p:cNvSpPr txBox="1"/>
          <p:nvPr/>
        </p:nvSpPr>
        <p:spPr>
          <a:xfrm>
            <a:off x="508000" y="11176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 sz="1300">
                <a:solidFill>
                  <a:srgbClr val="2D2D2D"/>
                </a:solidFill>
                <a:latin typeface="Calibri" panose="020F0502020204030204" pitchFamily="34" charset="0"/>
              </a:rPr>
              <a:t>Neuronal &amp; reliable: synapse / axon-guidance programs - glia do not express these (low confounder). This is the focus.</a:t>
            </a:r>
          </a:p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 sz="1300">
                <a:solidFill>
                  <a:srgbClr val="2D2D2D"/>
                </a:solidFill>
                <a:latin typeface="Calibri" panose="020F0502020204030204" pitchFamily="34" charset="0"/>
              </a:rPr>
              <a:t>Microglial, not neuronal: immune genes (C3, Apoe, Adgre1, Ncf1) - up in C1 (activation) / down in C2 (microglia loss).</a:t>
            </a:r>
          </a:p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 sz="1300">
                <a:solidFill>
                  <a:srgbClr val="2D2D2D"/>
                </a:solidFill>
                <a:latin typeface="Calibri" panose="020F0502020204030204" pitchFamily="34" charset="0"/>
              </a:rPr>
              <a:t>Receptors are mainly neuronal -&gt; microglial response is likely an indirect, neuron-mediated (paracrine) effect; activation, not number.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A6ED700-B663-0BCB-9AF6-15F77560572E}"/>
              </a:ext>
            </a:extLst>
          </p:cNvPr>
          <p:cNvSpPr/>
          <p:nvPr/>
        </p:nvSpPr>
        <p:spPr>
          <a:xfrm>
            <a:off x="508000" y="2730500"/>
            <a:ext cx="1524000" cy="812800"/>
          </a:xfrm>
          <a:prstGeom prst="roundRect">
            <a:avLst/>
          </a:prstGeom>
          <a:solidFill>
            <a:srgbClr val="D880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Netrin-1</a:t>
            </a:r>
          </a:p>
          <a:p>
            <a:pPr algn="ctr"/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(exogenous)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5AB98EC-846F-5BE3-774D-34695B03E640}"/>
              </a:ext>
            </a:extLst>
          </p:cNvPr>
          <p:cNvSpPr/>
          <p:nvPr/>
        </p:nvSpPr>
        <p:spPr>
          <a:xfrm>
            <a:off x="2667000" y="2603500"/>
            <a:ext cx="2794000" cy="1066800"/>
          </a:xfrm>
          <a:prstGeom prst="roundRect">
            <a:avLst/>
          </a:prstGeom>
          <a:solidFill>
            <a:srgbClr val="3B7A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>
                <a:solidFill>
                  <a:srgbClr val="FFFFFF"/>
                </a:solidFill>
                <a:latin typeface="Calibri" panose="020F0502020204030204" pitchFamily="34" charset="0"/>
              </a:rPr>
              <a:t>Cortical neurons</a:t>
            </a:r>
          </a:p>
          <a:p>
            <a:pPr algn="ctr"/>
            <a:r>
              <a:rPr lang="pt-BR" sz="1200" b="1">
                <a:solidFill>
                  <a:srgbClr val="FFFFFF"/>
                </a:solidFill>
                <a:latin typeface="Calibri" panose="020F0502020204030204" pitchFamily="34" charset="0"/>
              </a:rPr>
              <a:t>Neo1 / Dcc / Dscam / Unc5a</a:t>
            </a:r>
            <a:endParaRPr lang="en-US" sz="12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F3A2662-F667-84BE-4FD3-30C61FFB9E8C}"/>
              </a:ext>
            </a:extLst>
          </p:cNvPr>
          <p:cNvSpPr/>
          <p:nvPr/>
        </p:nvSpPr>
        <p:spPr>
          <a:xfrm>
            <a:off x="6667500" y="2603500"/>
            <a:ext cx="3175000" cy="1066800"/>
          </a:xfrm>
          <a:prstGeom prst="roundRect">
            <a:avLst/>
          </a:prstGeom>
          <a:solidFill>
            <a:srgbClr val="4C9A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Axon guidance / Synapse</a:t>
            </a:r>
          </a:p>
          <a:p>
            <a:pPr algn="ctr"/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(reliable main line)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8CE5BC8-FEAF-06EB-49BB-54717D0D3A2A}"/>
              </a:ext>
            </a:extLst>
          </p:cNvPr>
          <p:cNvSpPr/>
          <p:nvPr/>
        </p:nvSpPr>
        <p:spPr>
          <a:xfrm>
            <a:off x="2667000" y="4445000"/>
            <a:ext cx="1905000" cy="762000"/>
          </a:xfrm>
          <a:prstGeom prst="roundRect">
            <a:avLst/>
          </a:prstGeom>
          <a:solidFill>
            <a:srgbClr val="9B59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Microglia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1B979E1-7780-435C-1398-35F690B3417F}"/>
              </a:ext>
            </a:extLst>
          </p:cNvPr>
          <p:cNvSpPr/>
          <p:nvPr/>
        </p:nvSpPr>
        <p:spPr>
          <a:xfrm>
            <a:off x="5969000" y="4318000"/>
            <a:ext cx="3429000" cy="965200"/>
          </a:xfrm>
          <a:prstGeom prst="roundRect">
            <a:avLst/>
          </a:prstGeom>
          <a:solidFill>
            <a:srgbClr val="B28C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 panose="020F0502020204030204" pitchFamily="34" charset="0"/>
              </a:rPr>
              <a:t>Immune / complement</a:t>
            </a:r>
          </a:p>
          <a:p>
            <a:pPr algn="ctr"/>
            <a:r>
              <a:rPr lang="en-US" sz="1200" b="1">
                <a:solidFill>
                  <a:srgbClr val="FFFFFF"/>
                </a:solidFill>
                <a:latin typeface="Calibri" panose="020F0502020204030204" pitchFamily="34" charset="0"/>
              </a:rPr>
              <a:t>C3 / Apoe / Ncf1  (secondary, honest)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E181697-1501-63DA-7B66-D9A86E7F431F}"/>
              </a:ext>
            </a:extLst>
          </p:cNvPr>
          <p:cNvCxnSpPr/>
          <p:nvPr/>
        </p:nvCxnSpPr>
        <p:spPr>
          <a:xfrm>
            <a:off x="2032000" y="3136900"/>
            <a:ext cx="635000" cy="0"/>
          </a:xfrm>
          <a:prstGeom prst="straightConnector1">
            <a:avLst/>
          </a:prstGeom>
          <a:ln w="28575">
            <a:solidFill>
              <a:srgbClr val="505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8A16F16-C241-E2D6-CAB9-1979B68D9FF8}"/>
              </a:ext>
            </a:extLst>
          </p:cNvPr>
          <p:cNvCxnSpPr/>
          <p:nvPr/>
        </p:nvCxnSpPr>
        <p:spPr>
          <a:xfrm>
            <a:off x="5461000" y="3136900"/>
            <a:ext cx="1206500" cy="0"/>
          </a:xfrm>
          <a:prstGeom prst="straightConnector1">
            <a:avLst/>
          </a:prstGeom>
          <a:ln w="28575">
            <a:solidFill>
              <a:srgbClr val="505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09C22EF-9196-245A-2EAC-BC0F28BE7CC8}"/>
              </a:ext>
            </a:extLst>
          </p:cNvPr>
          <p:cNvCxnSpPr/>
          <p:nvPr/>
        </p:nvCxnSpPr>
        <p:spPr>
          <a:xfrm flipH="1">
            <a:off x="3619500" y="3670300"/>
            <a:ext cx="190500" cy="774700"/>
          </a:xfrm>
          <a:prstGeom prst="straightConnector1">
            <a:avLst/>
          </a:prstGeom>
          <a:ln w="28575">
            <a:solidFill>
              <a:srgbClr val="96969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11CDA72-CC22-7876-58DE-B08DD90614BF}"/>
              </a:ext>
            </a:extLst>
          </p:cNvPr>
          <p:cNvCxnSpPr/>
          <p:nvPr/>
        </p:nvCxnSpPr>
        <p:spPr>
          <a:xfrm flipV="1">
            <a:off x="4572000" y="4800600"/>
            <a:ext cx="1397000" cy="25400"/>
          </a:xfrm>
          <a:prstGeom prst="straightConnector1">
            <a:avLst/>
          </a:prstGeom>
          <a:ln w="28575">
            <a:solidFill>
              <a:srgbClr val="96969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8C53C78-83D0-2F0A-02CA-1441FC6D6DCD}"/>
              </a:ext>
            </a:extLst>
          </p:cNvPr>
          <p:cNvSpPr txBox="1"/>
          <p:nvPr/>
        </p:nvSpPr>
        <p:spPr>
          <a:xfrm>
            <a:off x="2095500" y="2819400"/>
            <a:ext cx="76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 b="1">
                <a:solidFill>
                  <a:srgbClr val="505050"/>
                </a:solidFill>
                <a:latin typeface="Calibri" panose="020F0502020204030204" pitchFamily="34" charset="0"/>
              </a:rPr>
              <a:t>direct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7BA0AF-20C1-10B3-09BF-17738163D7F7}"/>
              </a:ext>
            </a:extLst>
          </p:cNvPr>
          <p:cNvSpPr txBox="1"/>
          <p:nvPr/>
        </p:nvSpPr>
        <p:spPr>
          <a:xfrm>
            <a:off x="3873500" y="3810000"/>
            <a:ext cx="190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969696"/>
                </a:solidFill>
                <a:latin typeface="Calibri" panose="020F0502020204030204" pitchFamily="34" charset="0"/>
              </a:rPr>
              <a:t>indirect (paracrine?)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1FBB47-D5C2-ACF6-F6A6-D02FA0B7E9D3}"/>
              </a:ext>
            </a:extLst>
          </p:cNvPr>
          <p:cNvSpPr/>
          <p:nvPr/>
        </p:nvSpPr>
        <p:spPr>
          <a:xfrm>
            <a:off x="508000" y="5816600"/>
            <a:ext cx="11176000" cy="508000"/>
          </a:xfrm>
          <a:prstGeom prst="rect">
            <a:avLst/>
          </a:prstGeom>
          <a:solidFill>
            <a:srgbClr val="F8ECE4"/>
          </a:solidFill>
          <a:ln w="12700">
            <a:solidFill>
              <a:srgbClr val="D88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300" b="1">
                <a:solidFill>
                  <a:srgbClr val="96461E"/>
                </a:solidFill>
                <a:latin typeface="Calibri" panose="020F0502020204030204" pitchFamily="34" charset="0"/>
              </a:rPr>
              <a:t>Wording: 'consistent with microglial activation'  -  NOT 'Netrin activates microglia'.</a:t>
            </a:r>
            <a:endParaRPr lang="en-US" sz="1300" b="1">
              <a:solidFill>
                <a:srgbClr val="96461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410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442993-207C-E3FC-B28D-0C2328E4229D}"/>
              </a:ext>
            </a:extLst>
          </p:cNvPr>
          <p:cNvSpPr txBox="1"/>
          <p:nvPr/>
        </p:nvSpPr>
        <p:spPr>
          <a:xfrm>
            <a:off x="508000" y="2794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CA" sz="2300" b="1">
                <a:solidFill>
                  <a:srgbClr val="2E5F58"/>
                </a:solidFill>
                <a:latin typeface="Calibri" panose="020F0502020204030204" pitchFamily="34" charset="0"/>
              </a:rPr>
              <a:t>Receptor expression supports neurons as the direct target</a:t>
            </a:r>
            <a:endParaRPr lang="en-US" sz="2300" b="1">
              <a:solidFill>
                <a:srgbClr val="2E5F58"/>
              </a:solidFill>
              <a:latin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C3A31C-DEE3-0238-41B9-27A71B79DD70}"/>
              </a:ext>
            </a:extLst>
          </p:cNvPr>
          <p:cNvSpPr/>
          <p:nvPr/>
        </p:nvSpPr>
        <p:spPr>
          <a:xfrm>
            <a:off x="508000" y="1016000"/>
            <a:ext cx="11176000" cy="38100"/>
          </a:xfrm>
          <a:prstGeom prst="rect">
            <a:avLst/>
          </a:prstGeom>
          <a:solidFill>
            <a:srgbClr val="D880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D8D865-CD7E-70A0-F0CF-008D6601A34C}"/>
              </a:ext>
            </a:extLst>
          </p:cNvPr>
          <p:cNvSpPr txBox="1"/>
          <p:nvPr/>
        </p:nvSpPr>
        <p:spPr>
          <a:xfrm>
            <a:off x="508000" y="1270000"/>
            <a:ext cx="4724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 sz="1500">
                <a:solidFill>
                  <a:srgbClr val="2D2D2D"/>
                </a:solidFill>
                <a:latin typeface="Calibri" panose="020F0502020204030204" pitchFamily="34" charset="0"/>
              </a:rPr>
              <a:t>Netrin receptors abundant (baseMean; median = 705).</a:t>
            </a:r>
          </a:p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 sz="1500">
                <a:solidFill>
                  <a:srgbClr val="2D2D2D"/>
                </a:solidFill>
                <a:latin typeface="Calibri" panose="020F0502020204030204" pitchFamily="34" charset="0"/>
              </a:rPr>
              <a:t>Neo1, Dcc, Dscam, Unc5a far exceed the median -&gt; neurons can directly respond.</a:t>
            </a:r>
          </a:p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 sz="1500">
                <a:solidFill>
                  <a:srgbClr val="2D2D2D"/>
                </a:solidFill>
                <a:latin typeface="Calibri" panose="020F0502020204030204" pitchFamily="34" charset="0"/>
              </a:rPr>
              <a:t>In C1, receptors do not change with treatment -&gt; classical activation through existing receptors.</a:t>
            </a:r>
          </a:p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 sz="1500">
                <a:solidFill>
                  <a:srgbClr val="2D2D2D"/>
                </a:solidFill>
                <a:latin typeface="Calibri" panose="020F0502020204030204" pitchFamily="34" charset="0"/>
              </a:rPr>
              <a:t>Endogenous Ntn1 very low (baseMean 10.6) -&gt; exogenous Netrin-1 is a clean, near-zero-background stimulus.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DE12D94-ACF5-2567-C132-6B5B3D044018}"/>
              </a:ext>
            </a:extLst>
          </p:cNvPr>
          <p:cNvCxnSpPr/>
          <p:nvPr/>
        </p:nvCxnSpPr>
        <p:spPr>
          <a:xfrm>
            <a:off x="9316900" y="1498600"/>
            <a:ext cx="0" cy="4673600"/>
          </a:xfrm>
          <a:prstGeom prst="straightConnector1">
            <a:avLst/>
          </a:prstGeom>
          <a:ln w="19050">
            <a:solidFill>
              <a:srgbClr val="D8804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3172E9C-7CC4-59F2-56FB-DB5CF03B9A14}"/>
              </a:ext>
            </a:extLst>
          </p:cNvPr>
          <p:cNvSpPr txBox="1"/>
          <p:nvPr/>
        </p:nvSpPr>
        <p:spPr>
          <a:xfrm>
            <a:off x="8935900" y="1270000"/>
            <a:ext cx="114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 b="1">
                <a:solidFill>
                  <a:srgbClr val="D88040"/>
                </a:solidFill>
                <a:latin typeface="Calibri" panose="020F0502020204030204" pitchFamily="34" charset="0"/>
              </a:rPr>
              <a:t>median 705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66C410-46F9-A9F6-133A-9EDE6FB8D3E2}"/>
              </a:ext>
            </a:extLst>
          </p:cNvPr>
          <p:cNvSpPr/>
          <p:nvPr/>
        </p:nvSpPr>
        <p:spPr>
          <a:xfrm>
            <a:off x="6604000" y="1549400"/>
            <a:ext cx="3784976" cy="330200"/>
          </a:xfrm>
          <a:prstGeom prst="rect">
            <a:avLst/>
          </a:prstGeom>
          <a:solidFill>
            <a:srgbClr val="3B7A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92574E-557C-FE93-4840-9B1EA8FFF597}"/>
              </a:ext>
            </a:extLst>
          </p:cNvPr>
          <p:cNvSpPr txBox="1"/>
          <p:nvPr/>
        </p:nvSpPr>
        <p:spPr>
          <a:xfrm>
            <a:off x="5461000" y="1587500"/>
            <a:ext cx="1066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100" b="1">
                <a:solidFill>
                  <a:srgbClr val="323232"/>
                </a:solidFill>
                <a:latin typeface="Calibri" panose="020F0502020204030204" pitchFamily="34" charset="0"/>
              </a:rPr>
              <a:t>Neo1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7A2641-A13A-0676-A9E7-6DAED7D0EC49}"/>
              </a:ext>
            </a:extLst>
          </p:cNvPr>
          <p:cNvSpPr txBox="1"/>
          <p:nvPr/>
        </p:nvSpPr>
        <p:spPr>
          <a:xfrm>
            <a:off x="10465176" y="1600200"/>
            <a:ext cx="101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5A5A5A"/>
                </a:solidFill>
                <a:latin typeface="Calibri" panose="020F0502020204030204" pitchFamily="34" charset="0"/>
              </a:rPr>
              <a:t>9,413.0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EA5516-DD2A-0FE0-69E6-EE6F0FA4D501}"/>
              </a:ext>
            </a:extLst>
          </p:cNvPr>
          <p:cNvSpPr/>
          <p:nvPr/>
        </p:nvSpPr>
        <p:spPr>
          <a:xfrm>
            <a:off x="6604000" y="2146300"/>
            <a:ext cx="3325789" cy="330200"/>
          </a:xfrm>
          <a:prstGeom prst="rect">
            <a:avLst/>
          </a:prstGeom>
          <a:solidFill>
            <a:srgbClr val="3B7A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10497A-6893-50C9-49A5-C6A0B33CF179}"/>
              </a:ext>
            </a:extLst>
          </p:cNvPr>
          <p:cNvSpPr txBox="1"/>
          <p:nvPr/>
        </p:nvSpPr>
        <p:spPr>
          <a:xfrm>
            <a:off x="5461000" y="2184400"/>
            <a:ext cx="1066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100" b="1">
                <a:solidFill>
                  <a:srgbClr val="323232"/>
                </a:solidFill>
                <a:latin typeface="Calibri" panose="020F0502020204030204" pitchFamily="34" charset="0"/>
              </a:rPr>
              <a:t>Dcc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BCD387-2783-FA42-CD79-770BA3245D7B}"/>
              </a:ext>
            </a:extLst>
          </p:cNvPr>
          <p:cNvSpPr txBox="1"/>
          <p:nvPr/>
        </p:nvSpPr>
        <p:spPr>
          <a:xfrm>
            <a:off x="10005989" y="2197100"/>
            <a:ext cx="101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5A5A5A"/>
                </a:solidFill>
                <a:latin typeface="Calibri" panose="020F0502020204030204" pitchFamily="34" charset="0"/>
              </a:rPr>
              <a:t>3,102.0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C461BE-DC82-DEF3-36BA-52AD212FB9BB}"/>
              </a:ext>
            </a:extLst>
          </p:cNvPr>
          <p:cNvSpPr/>
          <p:nvPr/>
        </p:nvSpPr>
        <p:spPr>
          <a:xfrm>
            <a:off x="6604000" y="2743200"/>
            <a:ext cx="3130777" cy="330200"/>
          </a:xfrm>
          <a:prstGeom prst="rect">
            <a:avLst/>
          </a:prstGeom>
          <a:solidFill>
            <a:srgbClr val="3B7A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7E9D0D-4796-4667-953F-53B29C945EC0}"/>
              </a:ext>
            </a:extLst>
          </p:cNvPr>
          <p:cNvSpPr txBox="1"/>
          <p:nvPr/>
        </p:nvSpPr>
        <p:spPr>
          <a:xfrm>
            <a:off x="5461000" y="2781300"/>
            <a:ext cx="1066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100" b="1">
                <a:solidFill>
                  <a:srgbClr val="323232"/>
                </a:solidFill>
                <a:latin typeface="Calibri" panose="020F0502020204030204" pitchFamily="34" charset="0"/>
              </a:rPr>
              <a:t>Dscam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DD58F3-870C-BB87-0FBD-625B3E18AB1E}"/>
              </a:ext>
            </a:extLst>
          </p:cNvPr>
          <p:cNvSpPr txBox="1"/>
          <p:nvPr/>
        </p:nvSpPr>
        <p:spPr>
          <a:xfrm>
            <a:off x="9810977" y="2794000"/>
            <a:ext cx="101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5A5A5A"/>
                </a:solidFill>
                <a:latin typeface="Calibri" panose="020F0502020204030204" pitchFamily="34" charset="0"/>
              </a:rPr>
              <a:t>1,936.0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BB6D10-D90C-73A0-DF87-2387DA42EBF2}"/>
              </a:ext>
            </a:extLst>
          </p:cNvPr>
          <p:cNvSpPr/>
          <p:nvPr/>
        </p:nvSpPr>
        <p:spPr>
          <a:xfrm>
            <a:off x="6604000" y="3340100"/>
            <a:ext cx="3049591" cy="330200"/>
          </a:xfrm>
          <a:prstGeom prst="rect">
            <a:avLst/>
          </a:prstGeom>
          <a:solidFill>
            <a:srgbClr val="3B7A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D9D9CC-E7D2-EDC1-6431-B649CE59C348}"/>
              </a:ext>
            </a:extLst>
          </p:cNvPr>
          <p:cNvSpPr txBox="1"/>
          <p:nvPr/>
        </p:nvSpPr>
        <p:spPr>
          <a:xfrm>
            <a:off x="5461000" y="3378200"/>
            <a:ext cx="1066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100" b="1">
                <a:solidFill>
                  <a:srgbClr val="323232"/>
                </a:solidFill>
                <a:latin typeface="Calibri" panose="020F0502020204030204" pitchFamily="34" charset="0"/>
              </a:rPr>
              <a:t>Unc5a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1820A9-13B0-1FA1-442B-0D0272FC3982}"/>
              </a:ext>
            </a:extLst>
          </p:cNvPr>
          <p:cNvSpPr txBox="1"/>
          <p:nvPr/>
        </p:nvSpPr>
        <p:spPr>
          <a:xfrm>
            <a:off x="9729791" y="3390900"/>
            <a:ext cx="101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5A5A5A"/>
                </a:solidFill>
                <a:latin typeface="Calibri" panose="020F0502020204030204" pitchFamily="34" charset="0"/>
              </a:rPr>
              <a:t>1,591.0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E2E08B-B723-25FB-15D8-8B80B1C43F7E}"/>
              </a:ext>
            </a:extLst>
          </p:cNvPr>
          <p:cNvSpPr/>
          <p:nvPr/>
        </p:nvSpPr>
        <p:spPr>
          <a:xfrm>
            <a:off x="6604000" y="3937000"/>
            <a:ext cx="2936353" cy="330200"/>
          </a:xfrm>
          <a:prstGeom prst="rect">
            <a:avLst/>
          </a:prstGeom>
          <a:solidFill>
            <a:srgbClr val="3B7A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460E45-A18B-B5EB-4F08-05BE895D6DFE}"/>
              </a:ext>
            </a:extLst>
          </p:cNvPr>
          <p:cNvSpPr txBox="1"/>
          <p:nvPr/>
        </p:nvSpPr>
        <p:spPr>
          <a:xfrm>
            <a:off x="5461000" y="3975100"/>
            <a:ext cx="1066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100" b="1">
                <a:solidFill>
                  <a:srgbClr val="323232"/>
                </a:solidFill>
                <a:latin typeface="Calibri" panose="020F0502020204030204" pitchFamily="34" charset="0"/>
              </a:rPr>
              <a:t>Unc5d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92CD36-883B-AE18-985D-D09F6CD58430}"/>
              </a:ext>
            </a:extLst>
          </p:cNvPr>
          <p:cNvSpPr txBox="1"/>
          <p:nvPr/>
        </p:nvSpPr>
        <p:spPr>
          <a:xfrm>
            <a:off x="9616553" y="3987800"/>
            <a:ext cx="101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5A5A5A"/>
                </a:solidFill>
                <a:latin typeface="Calibri" panose="020F0502020204030204" pitchFamily="34" charset="0"/>
              </a:rPr>
              <a:t>1,210.0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AF7C03-0778-99BC-2DEF-331B6F05E97C}"/>
              </a:ext>
            </a:extLst>
          </p:cNvPr>
          <p:cNvSpPr/>
          <p:nvPr/>
        </p:nvSpPr>
        <p:spPr>
          <a:xfrm>
            <a:off x="6604000" y="4533900"/>
            <a:ext cx="2505483" cy="330200"/>
          </a:xfrm>
          <a:prstGeom prst="rect">
            <a:avLst/>
          </a:prstGeom>
          <a:solidFill>
            <a:srgbClr val="3B7A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7F358D-AE4B-5CE1-1EA9-4265DD8BB0FA}"/>
              </a:ext>
            </a:extLst>
          </p:cNvPr>
          <p:cNvSpPr txBox="1"/>
          <p:nvPr/>
        </p:nvSpPr>
        <p:spPr>
          <a:xfrm>
            <a:off x="5461000" y="4572000"/>
            <a:ext cx="1066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100" b="1">
                <a:solidFill>
                  <a:srgbClr val="323232"/>
                </a:solidFill>
                <a:latin typeface="Calibri" panose="020F0502020204030204" pitchFamily="34" charset="0"/>
              </a:rPr>
              <a:t>Unc5c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47F4A1-E439-C618-4C9F-9260760B8143}"/>
              </a:ext>
            </a:extLst>
          </p:cNvPr>
          <p:cNvSpPr txBox="1"/>
          <p:nvPr/>
        </p:nvSpPr>
        <p:spPr>
          <a:xfrm>
            <a:off x="9185683" y="4584700"/>
            <a:ext cx="101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5A5A5A"/>
                </a:solidFill>
                <a:latin typeface="Calibri" panose="020F0502020204030204" pitchFamily="34" charset="0"/>
              </a:rPr>
              <a:t>427.0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684275-9C17-83DA-CEFA-E9C0F19E56A1}"/>
              </a:ext>
            </a:extLst>
          </p:cNvPr>
          <p:cNvSpPr/>
          <p:nvPr/>
        </p:nvSpPr>
        <p:spPr>
          <a:xfrm>
            <a:off x="6604000" y="5130800"/>
            <a:ext cx="2114653" cy="330200"/>
          </a:xfrm>
          <a:prstGeom prst="rect">
            <a:avLst/>
          </a:prstGeom>
          <a:solidFill>
            <a:srgbClr val="3B7A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C85C88-CB25-BC21-8E26-9192011C50B3}"/>
              </a:ext>
            </a:extLst>
          </p:cNvPr>
          <p:cNvSpPr txBox="1"/>
          <p:nvPr/>
        </p:nvSpPr>
        <p:spPr>
          <a:xfrm>
            <a:off x="5461000" y="5168900"/>
            <a:ext cx="1066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100" b="1">
                <a:solidFill>
                  <a:srgbClr val="323232"/>
                </a:solidFill>
                <a:latin typeface="Calibri" panose="020F0502020204030204" pitchFamily="34" charset="0"/>
              </a:rPr>
              <a:t>Unc5b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0C3DB1-682C-62CA-3478-22A55C1FE168}"/>
              </a:ext>
            </a:extLst>
          </p:cNvPr>
          <p:cNvSpPr txBox="1"/>
          <p:nvPr/>
        </p:nvSpPr>
        <p:spPr>
          <a:xfrm>
            <a:off x="8794853" y="5181600"/>
            <a:ext cx="101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5A5A5A"/>
                </a:solidFill>
                <a:latin typeface="Calibri" panose="020F0502020204030204" pitchFamily="34" charset="0"/>
              </a:rPr>
              <a:t>166.0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0371216-050E-7216-479F-FC308AB39EBC}"/>
              </a:ext>
            </a:extLst>
          </p:cNvPr>
          <p:cNvSpPr/>
          <p:nvPr/>
        </p:nvSpPr>
        <p:spPr>
          <a:xfrm>
            <a:off x="6604000" y="5727700"/>
            <a:ext cx="976604" cy="330200"/>
          </a:xfrm>
          <a:prstGeom prst="rect">
            <a:avLst/>
          </a:prstGeom>
          <a:solidFill>
            <a:srgbClr val="9696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633028-8AB9-44E1-41B1-5FAB09C12C6F}"/>
              </a:ext>
            </a:extLst>
          </p:cNvPr>
          <p:cNvSpPr txBox="1"/>
          <p:nvPr/>
        </p:nvSpPr>
        <p:spPr>
          <a:xfrm>
            <a:off x="5461000" y="5765800"/>
            <a:ext cx="1066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100" b="1">
                <a:solidFill>
                  <a:srgbClr val="323232"/>
                </a:solidFill>
                <a:latin typeface="Calibri" panose="020F0502020204030204" pitchFamily="34" charset="0"/>
              </a:rPr>
              <a:t>Ntn1 (ligand)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17B0525-BF76-977A-D241-36DE572A2222}"/>
              </a:ext>
            </a:extLst>
          </p:cNvPr>
          <p:cNvSpPr txBox="1"/>
          <p:nvPr/>
        </p:nvSpPr>
        <p:spPr>
          <a:xfrm>
            <a:off x="7656804" y="5778500"/>
            <a:ext cx="101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5A5A5A"/>
                </a:solidFill>
                <a:latin typeface="Calibri" panose="020F0502020204030204" pitchFamily="34" charset="0"/>
              </a:rPr>
              <a:t>10.6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2E5DD1B-8730-7FCF-9CE1-AE708B35FED8}"/>
              </a:ext>
            </a:extLst>
          </p:cNvPr>
          <p:cNvSpPr txBox="1"/>
          <p:nvPr/>
        </p:nvSpPr>
        <p:spPr>
          <a:xfrm>
            <a:off x="6604000" y="6248400"/>
            <a:ext cx="406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CA" sz="1000">
                <a:solidFill>
                  <a:srgbClr val="787878"/>
                </a:solidFill>
                <a:latin typeface="Calibri" panose="020F0502020204030204" pitchFamily="34" charset="0"/>
              </a:rPr>
              <a:t>Bar length proportional to log10(baseMean).</a:t>
            </a:r>
            <a:endParaRPr lang="en-US" sz="1000">
              <a:solidFill>
                <a:srgbClr val="78787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7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BF2880-706F-9A53-A6C2-99CD375FFF32}"/>
              </a:ext>
            </a:extLst>
          </p:cNvPr>
          <p:cNvSpPr txBox="1"/>
          <p:nvPr/>
        </p:nvSpPr>
        <p:spPr>
          <a:xfrm>
            <a:off x="508000" y="2794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CA" sz="2300" b="1">
                <a:solidFill>
                  <a:srgbClr val="2E5F58"/>
                </a:solidFill>
                <a:latin typeface="Calibri" panose="020F0502020204030204" pitchFamily="34" charset="0"/>
              </a:rPr>
              <a:t>Netrin = balanced bidirectional tuning; development = unidirectional activation</a:t>
            </a:r>
            <a:endParaRPr lang="en-US" sz="2300" b="1">
              <a:solidFill>
                <a:srgbClr val="2E5F58"/>
              </a:solidFill>
              <a:latin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DB1319-CA0C-F7CF-FF48-8366DFC1865A}"/>
              </a:ext>
            </a:extLst>
          </p:cNvPr>
          <p:cNvSpPr/>
          <p:nvPr/>
        </p:nvSpPr>
        <p:spPr>
          <a:xfrm>
            <a:off x="508000" y="1016000"/>
            <a:ext cx="11176000" cy="38100"/>
          </a:xfrm>
          <a:prstGeom prst="rect">
            <a:avLst/>
          </a:prstGeom>
          <a:solidFill>
            <a:srgbClr val="D880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1A594A-E5E6-8C53-F799-882F38C07EAA}"/>
              </a:ext>
            </a:extLst>
          </p:cNvPr>
          <p:cNvSpPr txBox="1"/>
          <p:nvPr/>
        </p:nvSpPr>
        <p:spPr>
          <a:xfrm>
            <a:off x="508000" y="11430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 sz="1300">
                <a:solidFill>
                  <a:srgbClr val="2D2D2D"/>
                </a:solidFill>
                <a:latin typeface="Calibri" panose="020F0502020204030204" pitchFamily="34" charset="0"/>
              </a:rPr>
              <a:t>C1 (Netrin): GO BP 481 (255 act / 226 sup), KEGG 42 (20 / 22) - about 1:1, bidirectional.</a:t>
            </a:r>
          </a:p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 sz="1300">
                <a:solidFill>
                  <a:srgbClr val="2D2D2D"/>
                </a:solidFill>
                <a:latin typeface="Calibri" panose="020F0502020204030204" pitchFamily="34" charset="0"/>
              </a:rPr>
              <a:t>C2 (development): GO BP 534 (410 act / 124 sup), KEGG 99 (89 / 10) - activation-skewed.</a:t>
            </a:r>
          </a:p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 sz="1300">
                <a:solidFill>
                  <a:srgbClr val="2D2D2D"/>
                </a:solidFill>
                <a:latin typeface="Calibri" panose="020F0502020204030204" pitchFamily="34" charset="0"/>
              </a:rPr>
              <a:t>Mirrors the DEG level (C2 strict 1,098 up &gt;&gt; 397 down): development opens neuronal programs en masse; Netrin fine-tunes both ways.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4F1496-9EBE-2E21-252B-216A5AC882FD}"/>
              </a:ext>
            </a:extLst>
          </p:cNvPr>
          <p:cNvSpPr txBox="1"/>
          <p:nvPr/>
        </p:nvSpPr>
        <p:spPr>
          <a:xfrm>
            <a:off x="889000" y="23495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CA" sz="1400" b="1">
                <a:solidFill>
                  <a:srgbClr val="3C3C3C"/>
                </a:solidFill>
                <a:latin typeface="Calibri" panose="020F0502020204030204" pitchFamily="34" charset="0"/>
              </a:rPr>
              <a:t>GSEA GO BP (significant terms)</a:t>
            </a:r>
            <a:endParaRPr lang="en-US" sz="1400" b="1">
              <a:solidFill>
                <a:srgbClr val="3C3C3C"/>
              </a:solidFill>
              <a:latin typeface="Calibri" panose="020F050202020403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2E32B47-F510-F040-4BAD-AE9D66E89A82}"/>
              </a:ext>
            </a:extLst>
          </p:cNvPr>
          <p:cNvCxnSpPr/>
          <p:nvPr/>
        </p:nvCxnSpPr>
        <p:spPr>
          <a:xfrm>
            <a:off x="1143000" y="5969000"/>
            <a:ext cx="4445000" cy="0"/>
          </a:xfrm>
          <a:prstGeom prst="straightConnector1">
            <a:avLst/>
          </a:prstGeom>
          <a:ln w="127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A1EF6AF4-F844-A02D-9F4E-F809A440B828}"/>
              </a:ext>
            </a:extLst>
          </p:cNvPr>
          <p:cNvSpPr/>
          <p:nvPr/>
        </p:nvSpPr>
        <p:spPr>
          <a:xfrm>
            <a:off x="1524000" y="4152202"/>
            <a:ext cx="609600" cy="1816798"/>
          </a:xfrm>
          <a:prstGeom prst="rect">
            <a:avLst/>
          </a:prstGeom>
          <a:solidFill>
            <a:srgbClr val="C73E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16D7D5-929B-FE3B-E500-FC62092AEE79}"/>
              </a:ext>
            </a:extLst>
          </p:cNvPr>
          <p:cNvSpPr txBox="1"/>
          <p:nvPr/>
        </p:nvSpPr>
        <p:spPr>
          <a:xfrm>
            <a:off x="1447800" y="3898202"/>
            <a:ext cx="76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100" b="1">
                <a:solidFill>
                  <a:srgbClr val="C73E3E"/>
                </a:solidFill>
                <a:latin typeface="Calibri" panose="020F0502020204030204" pitchFamily="34" charset="0"/>
              </a:rPr>
              <a:t>255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EA7055-8A11-EDA4-7BDF-5B04B3255721}"/>
              </a:ext>
            </a:extLst>
          </p:cNvPr>
          <p:cNvSpPr/>
          <p:nvPr/>
        </p:nvSpPr>
        <p:spPr>
          <a:xfrm>
            <a:off x="2260600" y="4358818"/>
            <a:ext cx="609600" cy="1610182"/>
          </a:xfrm>
          <a:prstGeom prst="rect">
            <a:avLst/>
          </a:prstGeom>
          <a:solidFill>
            <a:srgbClr val="3B7A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69C7A8-90DA-436E-7008-2E4A0AFBC4EE}"/>
              </a:ext>
            </a:extLst>
          </p:cNvPr>
          <p:cNvSpPr txBox="1"/>
          <p:nvPr/>
        </p:nvSpPr>
        <p:spPr>
          <a:xfrm>
            <a:off x="2184400" y="4104818"/>
            <a:ext cx="76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100" b="1">
                <a:solidFill>
                  <a:srgbClr val="3B7AB8"/>
                </a:solidFill>
                <a:latin typeface="Calibri" panose="020F0502020204030204" pitchFamily="34" charset="0"/>
              </a:rPr>
              <a:t>226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128242-265F-FAEE-7076-868DB96F231B}"/>
              </a:ext>
            </a:extLst>
          </p:cNvPr>
          <p:cNvSpPr/>
          <p:nvPr/>
        </p:nvSpPr>
        <p:spPr>
          <a:xfrm>
            <a:off x="3810000" y="3047873"/>
            <a:ext cx="609600" cy="2921127"/>
          </a:xfrm>
          <a:prstGeom prst="rect">
            <a:avLst/>
          </a:prstGeom>
          <a:solidFill>
            <a:srgbClr val="C73E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0FBB93-D687-3149-2D0D-5B7F43805B56}"/>
              </a:ext>
            </a:extLst>
          </p:cNvPr>
          <p:cNvSpPr txBox="1"/>
          <p:nvPr/>
        </p:nvSpPr>
        <p:spPr>
          <a:xfrm>
            <a:off x="3733800" y="2793873"/>
            <a:ext cx="76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100" b="1">
                <a:solidFill>
                  <a:srgbClr val="C73E3E"/>
                </a:solidFill>
                <a:latin typeface="Calibri" panose="020F0502020204030204" pitchFamily="34" charset="0"/>
              </a:rPr>
              <a:t>410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3FE31F-7752-2A14-D8AA-B901394A412E}"/>
              </a:ext>
            </a:extLst>
          </p:cNvPr>
          <p:cNvSpPr/>
          <p:nvPr/>
        </p:nvSpPr>
        <p:spPr>
          <a:xfrm>
            <a:off x="4546600" y="5085537"/>
            <a:ext cx="609600" cy="883463"/>
          </a:xfrm>
          <a:prstGeom prst="rect">
            <a:avLst/>
          </a:prstGeom>
          <a:solidFill>
            <a:srgbClr val="3B7A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C4EA00-00D0-4530-9904-EA4273035248}"/>
              </a:ext>
            </a:extLst>
          </p:cNvPr>
          <p:cNvSpPr txBox="1"/>
          <p:nvPr/>
        </p:nvSpPr>
        <p:spPr>
          <a:xfrm>
            <a:off x="4470400" y="4831537"/>
            <a:ext cx="76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100" b="1">
                <a:solidFill>
                  <a:srgbClr val="3B7AB8"/>
                </a:solidFill>
                <a:latin typeface="Calibri" panose="020F0502020204030204" pitchFamily="34" charset="0"/>
              </a:rPr>
              <a:t>124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423088-4307-4473-B87F-972D31CBB1C2}"/>
              </a:ext>
            </a:extLst>
          </p:cNvPr>
          <p:cNvSpPr txBox="1"/>
          <p:nvPr/>
        </p:nvSpPr>
        <p:spPr>
          <a:xfrm>
            <a:off x="1397000" y="6019800"/>
            <a:ext cx="165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100">
                <a:solidFill>
                  <a:srgbClr val="464646"/>
                </a:solidFill>
                <a:latin typeface="Calibri" panose="020F0502020204030204" pitchFamily="34" charset="0"/>
              </a:rPr>
              <a:t>Netrin (C1)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0FE626-01AD-24AB-10D4-AA207288E59D}"/>
              </a:ext>
            </a:extLst>
          </p:cNvPr>
          <p:cNvSpPr txBox="1"/>
          <p:nvPr/>
        </p:nvSpPr>
        <p:spPr>
          <a:xfrm>
            <a:off x="3619500" y="6019800"/>
            <a:ext cx="190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100">
                <a:solidFill>
                  <a:srgbClr val="464646"/>
                </a:solidFill>
                <a:latin typeface="Calibri" panose="020F0502020204030204" pitchFamily="34" charset="0"/>
              </a:rPr>
              <a:t>Development (C2)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E95793-76BF-D254-9E80-FDF2B25E51E9}"/>
              </a:ext>
            </a:extLst>
          </p:cNvPr>
          <p:cNvSpPr txBox="1"/>
          <p:nvPr/>
        </p:nvSpPr>
        <p:spPr>
          <a:xfrm>
            <a:off x="1651000" y="3175000"/>
            <a:ext cx="114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 b="1">
                <a:solidFill>
                  <a:srgbClr val="5A5A5A"/>
                </a:solidFill>
                <a:latin typeface="Calibri" panose="020F0502020204030204" pitchFamily="34" charset="0"/>
              </a:rPr>
              <a:t>~1:1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E45727-C58D-8F5F-ECD8-1DA1880A5FD5}"/>
              </a:ext>
            </a:extLst>
          </p:cNvPr>
          <p:cNvSpPr txBox="1"/>
          <p:nvPr/>
        </p:nvSpPr>
        <p:spPr>
          <a:xfrm>
            <a:off x="6604000" y="23495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400" b="1">
                <a:solidFill>
                  <a:srgbClr val="3C3C3C"/>
                </a:solidFill>
                <a:latin typeface="Calibri" panose="020F0502020204030204" pitchFamily="34" charset="0"/>
              </a:rPr>
              <a:t>GSEA KEGG (significant)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43E5AB2-AE7A-D529-471F-A7414A5AC785}"/>
              </a:ext>
            </a:extLst>
          </p:cNvPr>
          <p:cNvCxnSpPr/>
          <p:nvPr/>
        </p:nvCxnSpPr>
        <p:spPr>
          <a:xfrm>
            <a:off x="6858000" y="5969000"/>
            <a:ext cx="4445000" cy="0"/>
          </a:xfrm>
          <a:prstGeom prst="straightConnector1">
            <a:avLst/>
          </a:prstGeom>
          <a:ln w="127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F953EBCD-0B9A-C27D-6BAA-1EE59CFD8656}"/>
              </a:ext>
            </a:extLst>
          </p:cNvPr>
          <p:cNvSpPr/>
          <p:nvPr/>
        </p:nvSpPr>
        <p:spPr>
          <a:xfrm>
            <a:off x="7239000" y="5313680"/>
            <a:ext cx="609600" cy="655320"/>
          </a:xfrm>
          <a:prstGeom prst="rect">
            <a:avLst/>
          </a:prstGeom>
          <a:solidFill>
            <a:srgbClr val="C73E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759219-BD0F-855F-97D0-41A7803A0131}"/>
              </a:ext>
            </a:extLst>
          </p:cNvPr>
          <p:cNvSpPr txBox="1"/>
          <p:nvPr/>
        </p:nvSpPr>
        <p:spPr>
          <a:xfrm>
            <a:off x="7162800" y="5059680"/>
            <a:ext cx="76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100" b="1">
                <a:solidFill>
                  <a:srgbClr val="C73E3E"/>
                </a:solidFill>
                <a:latin typeface="Calibri" panose="020F0502020204030204" pitchFamily="34" charset="0"/>
              </a:rPr>
              <a:t>20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573419-7E43-FDF4-D5E6-0DF7EF511E49}"/>
              </a:ext>
            </a:extLst>
          </p:cNvPr>
          <p:cNvSpPr/>
          <p:nvPr/>
        </p:nvSpPr>
        <p:spPr>
          <a:xfrm>
            <a:off x="7975600" y="5248148"/>
            <a:ext cx="609600" cy="720852"/>
          </a:xfrm>
          <a:prstGeom prst="rect">
            <a:avLst/>
          </a:prstGeom>
          <a:solidFill>
            <a:srgbClr val="3B7A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2E7E73-A5DA-2C63-0FF2-525C17295CCF}"/>
              </a:ext>
            </a:extLst>
          </p:cNvPr>
          <p:cNvSpPr txBox="1"/>
          <p:nvPr/>
        </p:nvSpPr>
        <p:spPr>
          <a:xfrm>
            <a:off x="7899400" y="4994148"/>
            <a:ext cx="76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100" b="1">
                <a:solidFill>
                  <a:srgbClr val="3B7AB8"/>
                </a:solidFill>
                <a:latin typeface="Calibri" panose="020F0502020204030204" pitchFamily="34" charset="0"/>
              </a:rPr>
              <a:t>22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E32478-4904-95EC-3BDA-C28A2FEB66CF}"/>
              </a:ext>
            </a:extLst>
          </p:cNvPr>
          <p:cNvSpPr/>
          <p:nvPr/>
        </p:nvSpPr>
        <p:spPr>
          <a:xfrm>
            <a:off x="9525000" y="3052826"/>
            <a:ext cx="609600" cy="2916174"/>
          </a:xfrm>
          <a:prstGeom prst="rect">
            <a:avLst/>
          </a:prstGeom>
          <a:solidFill>
            <a:srgbClr val="C73E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7BF1AF-8BF5-7D19-7985-BBB00BA1250E}"/>
              </a:ext>
            </a:extLst>
          </p:cNvPr>
          <p:cNvSpPr txBox="1"/>
          <p:nvPr/>
        </p:nvSpPr>
        <p:spPr>
          <a:xfrm>
            <a:off x="9448800" y="2798826"/>
            <a:ext cx="76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100" b="1">
                <a:solidFill>
                  <a:srgbClr val="C73E3E"/>
                </a:solidFill>
                <a:latin typeface="Calibri" panose="020F0502020204030204" pitchFamily="34" charset="0"/>
              </a:rPr>
              <a:t>89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FC75CB6-6669-E01E-CEB4-165B6BF4C35C}"/>
              </a:ext>
            </a:extLst>
          </p:cNvPr>
          <p:cNvSpPr/>
          <p:nvPr/>
        </p:nvSpPr>
        <p:spPr>
          <a:xfrm>
            <a:off x="10261600" y="5641340"/>
            <a:ext cx="609600" cy="327660"/>
          </a:xfrm>
          <a:prstGeom prst="rect">
            <a:avLst/>
          </a:prstGeom>
          <a:solidFill>
            <a:srgbClr val="3B7A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0AE404-5EF1-3587-5909-8C5E2B1794F4}"/>
              </a:ext>
            </a:extLst>
          </p:cNvPr>
          <p:cNvSpPr txBox="1"/>
          <p:nvPr/>
        </p:nvSpPr>
        <p:spPr>
          <a:xfrm>
            <a:off x="10185400" y="5387340"/>
            <a:ext cx="76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100" b="1">
                <a:solidFill>
                  <a:srgbClr val="3B7AB8"/>
                </a:solidFill>
                <a:latin typeface="Calibri" panose="020F0502020204030204" pitchFamily="34" charset="0"/>
              </a:rPr>
              <a:t>10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6FBEFE7-BEAC-DDFF-2659-D4D58E6C83FB}"/>
              </a:ext>
            </a:extLst>
          </p:cNvPr>
          <p:cNvSpPr txBox="1"/>
          <p:nvPr/>
        </p:nvSpPr>
        <p:spPr>
          <a:xfrm>
            <a:off x="7112000" y="6019800"/>
            <a:ext cx="165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100">
                <a:solidFill>
                  <a:srgbClr val="464646"/>
                </a:solidFill>
                <a:latin typeface="Calibri" panose="020F0502020204030204" pitchFamily="34" charset="0"/>
              </a:rPr>
              <a:t>Netrin (C1)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3A1CE0-ABF3-0926-14F0-D4AE9EB68131}"/>
              </a:ext>
            </a:extLst>
          </p:cNvPr>
          <p:cNvSpPr txBox="1"/>
          <p:nvPr/>
        </p:nvSpPr>
        <p:spPr>
          <a:xfrm>
            <a:off x="9334500" y="6019800"/>
            <a:ext cx="190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100">
                <a:solidFill>
                  <a:srgbClr val="464646"/>
                </a:solidFill>
                <a:latin typeface="Calibri" panose="020F0502020204030204" pitchFamily="34" charset="0"/>
              </a:rPr>
              <a:t>Development (C2)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FB45E76-84E7-5CD2-7DC1-AA168A6B9B29}"/>
              </a:ext>
            </a:extLst>
          </p:cNvPr>
          <p:cNvSpPr/>
          <p:nvPr/>
        </p:nvSpPr>
        <p:spPr>
          <a:xfrm>
            <a:off x="8890000" y="2095500"/>
            <a:ext cx="177800" cy="177800"/>
          </a:xfrm>
          <a:prstGeom prst="rect">
            <a:avLst/>
          </a:prstGeom>
          <a:solidFill>
            <a:srgbClr val="C73E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B8E9E7-57C7-986C-33CC-69C738FE1F54}"/>
              </a:ext>
            </a:extLst>
          </p:cNvPr>
          <p:cNvSpPr txBox="1"/>
          <p:nvPr/>
        </p:nvSpPr>
        <p:spPr>
          <a:xfrm>
            <a:off x="9118600" y="2070100"/>
            <a:ext cx="101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464646"/>
                </a:solidFill>
                <a:latin typeface="Calibri" panose="020F0502020204030204" pitchFamily="34" charset="0"/>
              </a:rPr>
              <a:t>activated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1D20014-E71E-FF2E-6286-8104450F47F1}"/>
              </a:ext>
            </a:extLst>
          </p:cNvPr>
          <p:cNvSpPr/>
          <p:nvPr/>
        </p:nvSpPr>
        <p:spPr>
          <a:xfrm>
            <a:off x="10160000" y="2095500"/>
            <a:ext cx="177800" cy="177800"/>
          </a:xfrm>
          <a:prstGeom prst="rect">
            <a:avLst/>
          </a:prstGeom>
          <a:solidFill>
            <a:srgbClr val="3B7A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4AEECE6-981A-1337-A2DA-34D4D34F1335}"/>
              </a:ext>
            </a:extLst>
          </p:cNvPr>
          <p:cNvSpPr txBox="1"/>
          <p:nvPr/>
        </p:nvSpPr>
        <p:spPr>
          <a:xfrm>
            <a:off x="10388600" y="2070100"/>
            <a:ext cx="114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464646"/>
                </a:solidFill>
                <a:latin typeface="Calibri" panose="020F0502020204030204" pitchFamily="34" charset="0"/>
              </a:rPr>
              <a:t>suppressed</a:t>
            </a:r>
          </a:p>
        </p:txBody>
      </p:sp>
    </p:spTree>
    <p:extLst>
      <p:ext uri="{BB962C8B-B14F-4D97-AF65-F5344CB8AC3E}">
        <p14:creationId xmlns:p14="http://schemas.microsoft.com/office/powerpoint/2010/main" val="179291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424D1F-6172-3CFA-C06E-58E16076D96F}"/>
              </a:ext>
            </a:extLst>
          </p:cNvPr>
          <p:cNvSpPr txBox="1"/>
          <p:nvPr/>
        </p:nvSpPr>
        <p:spPr>
          <a:xfrm>
            <a:off x="508000" y="2794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300" b="1">
                <a:solidFill>
                  <a:srgbClr val="2E5F58"/>
                </a:solidFill>
                <a:latin typeface="Calibri" panose="020F0502020204030204" pitchFamily="34" charset="0"/>
              </a:rPr>
              <a:t>Conclusions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F0B8E9-2574-B525-FF7B-B30FFF82C51B}"/>
              </a:ext>
            </a:extLst>
          </p:cNvPr>
          <p:cNvSpPr/>
          <p:nvPr/>
        </p:nvSpPr>
        <p:spPr>
          <a:xfrm>
            <a:off x="508000" y="1016000"/>
            <a:ext cx="11176000" cy="38100"/>
          </a:xfrm>
          <a:prstGeom prst="rect">
            <a:avLst/>
          </a:prstGeom>
          <a:solidFill>
            <a:srgbClr val="D880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8DF9F4-EF75-11D5-2BE2-29A46CD6FD6E}"/>
              </a:ext>
            </a:extLst>
          </p:cNvPr>
          <p:cNvSpPr txBox="1"/>
          <p:nvPr/>
        </p:nvSpPr>
        <p:spPr>
          <a:xfrm>
            <a:off x="889000" y="1714500"/>
            <a:ext cx="1041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457200" indent="-4572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CA" sz="1900">
                <a:solidFill>
                  <a:srgbClr val="2D2D2D"/>
                </a:solidFill>
                <a:latin typeface="Calibri" panose="020F0502020204030204" pitchFamily="34" charset="0"/>
              </a:rPr>
              <a:t>Netrin-1 drives a focused, bidirectional, two-module transcriptional response in DIV2 cortical neurons.</a:t>
            </a:r>
          </a:p>
          <a:p>
            <a:pPr marL="457200" indent="-4572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CA" sz="1900">
                <a:solidFill>
                  <a:srgbClr val="2D2D2D"/>
                </a:solidFill>
                <a:latin typeface="Calibri" panose="020F0502020204030204" pitchFamily="34" charset="0"/>
              </a:rPr>
              <a:t>Coordinated ACTIVATION of synaptic / axon-guidance programs + SUPPRESSION of cell-cycle / progenitor programs.</a:t>
            </a:r>
          </a:p>
          <a:p>
            <a:pPr marL="457200" indent="-4572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CA" sz="1900">
                <a:solidFill>
                  <a:srgbClr val="2D2D2D"/>
                </a:solidFill>
                <a:latin typeface="Calibri" panose="020F0502020204030204" pitchFamily="34" charset="0"/>
              </a:rPr>
              <a:t>Axon guidance is enriched across GO BP and KEGG - Netrin transcriptionally reinforces its own pathway.</a:t>
            </a:r>
          </a:p>
          <a:p>
            <a:pPr marL="457200" indent="-4572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CA" sz="1900">
                <a:solidFill>
                  <a:srgbClr val="2D2D2D"/>
                </a:solidFill>
                <a:latin typeface="Calibri" panose="020F0502020204030204" pitchFamily="34" charset="0"/>
              </a:rPr>
              <a:t>Neurons are the direct target (abundant receptors); the immune signature is microglial and likely an indirect, neuron-mediated effect.</a:t>
            </a:r>
            <a:endParaRPr lang="en-US" sz="1900">
              <a:solidFill>
                <a:srgbClr val="2D2D2D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1730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E9A6D6-66A9-FFB2-2D06-BAB31DD852BC}"/>
              </a:ext>
            </a:extLst>
          </p:cNvPr>
          <p:cNvSpPr txBox="1"/>
          <p:nvPr/>
        </p:nvSpPr>
        <p:spPr>
          <a:xfrm>
            <a:off x="508000" y="2794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300" b="1">
                <a:solidFill>
                  <a:srgbClr val="2E5F58"/>
                </a:solidFill>
                <a:latin typeface="Calibri" panose="020F0502020204030204" pitchFamily="34" charset="0"/>
              </a:rPr>
              <a:t>Limitations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95F8A3-17AC-7825-8D31-C43B298A4D6D}"/>
              </a:ext>
            </a:extLst>
          </p:cNvPr>
          <p:cNvSpPr/>
          <p:nvPr/>
        </p:nvSpPr>
        <p:spPr>
          <a:xfrm>
            <a:off x="508000" y="1016000"/>
            <a:ext cx="11176000" cy="38100"/>
          </a:xfrm>
          <a:prstGeom prst="rect">
            <a:avLst/>
          </a:prstGeom>
          <a:solidFill>
            <a:srgbClr val="D880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F8C53E-73D6-6353-DEE6-C739A4B273EA}"/>
              </a:ext>
            </a:extLst>
          </p:cNvPr>
          <p:cNvSpPr txBox="1"/>
          <p:nvPr/>
        </p:nvSpPr>
        <p:spPr>
          <a:xfrm>
            <a:off x="889000" y="1778000"/>
            <a:ext cx="1041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457200" indent="-4572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CA" sz="1900">
                <a:solidFill>
                  <a:srgbClr val="2D2D2D"/>
                </a:solidFill>
                <a:latin typeface="Calibri" panose="020F0502020204030204" pitchFamily="34" charset="0"/>
              </a:rPr>
              <a:t>Mixed culture + bulk RNA-seq cannot directly assign cell-of-origin; attributions are inferred from marker behaviour.</a:t>
            </a:r>
          </a:p>
          <a:p>
            <a:pPr marL="457200" indent="-4572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CA" sz="1900">
                <a:solidFill>
                  <a:srgbClr val="2D2D2D"/>
                </a:solidFill>
                <a:latin typeface="Calibri" panose="020F0502020204030204" pitchFamily="34" charset="0"/>
              </a:rPr>
              <a:t>Contrast 2 carries a developmental composition shift (macroglia up / microglia down) - many DEGs reflect composition, not neuron-intrinsic development.</a:t>
            </a:r>
          </a:p>
          <a:p>
            <a:pPr marL="457200" indent="-4572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CA" sz="1900">
                <a:solidFill>
                  <a:srgbClr val="2D2D2D"/>
                </a:solidFill>
                <a:latin typeface="Calibri" panose="020F0502020204030204" pitchFamily="34" charset="0"/>
              </a:rPr>
              <a:t>'Activation vs number' and 'direct vs indirect' are not fully resolved; findings are correlational, not causal.</a:t>
            </a:r>
            <a:endParaRPr lang="en-US" sz="1900">
              <a:solidFill>
                <a:srgbClr val="2D2D2D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47256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C98270-7C73-3A15-38F0-5C224518D5A7}"/>
              </a:ext>
            </a:extLst>
          </p:cNvPr>
          <p:cNvSpPr txBox="1"/>
          <p:nvPr/>
        </p:nvSpPr>
        <p:spPr>
          <a:xfrm>
            <a:off x="508000" y="2794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300" b="1">
                <a:solidFill>
                  <a:srgbClr val="2E5F58"/>
                </a:solidFill>
                <a:latin typeface="Calibri" panose="020F0502020204030204" pitchFamily="34" charset="0"/>
              </a:rPr>
              <a:t>Future directions &amp; acknowledgments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5789B9-67B3-9535-BBE3-66C2312648DB}"/>
              </a:ext>
            </a:extLst>
          </p:cNvPr>
          <p:cNvSpPr/>
          <p:nvPr/>
        </p:nvSpPr>
        <p:spPr>
          <a:xfrm>
            <a:off x="508000" y="1016000"/>
            <a:ext cx="11176000" cy="38100"/>
          </a:xfrm>
          <a:prstGeom prst="rect">
            <a:avLst/>
          </a:prstGeom>
          <a:solidFill>
            <a:srgbClr val="D880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785446-14B1-98ED-150E-A54C9A3D6B6E}"/>
              </a:ext>
            </a:extLst>
          </p:cNvPr>
          <p:cNvSpPr txBox="1"/>
          <p:nvPr/>
        </p:nvSpPr>
        <p:spPr>
          <a:xfrm>
            <a:off x="889000" y="1714500"/>
            <a:ext cx="1041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>
                <a:solidFill>
                  <a:srgbClr val="2D2D2D"/>
                </a:solidFill>
                <a:latin typeface="Calibri" panose="020F0502020204030204" pitchFamily="34" charset="0"/>
              </a:rPr>
              <a:t>scRNA-seq or sorted populations to resolve per-cell-type contributions.</a:t>
            </a:r>
          </a:p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>
                <a:solidFill>
                  <a:srgbClr val="2D2D2D"/>
                </a:solidFill>
                <a:latin typeface="Calibri" panose="020F0502020204030204" pitchFamily="34" charset="0"/>
              </a:rPr>
              <a:t>Immunostaining (IHC) to confirm microglial activation and composition shift.</a:t>
            </a:r>
          </a:p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>
                <a:solidFill>
                  <a:srgbClr val="2D2D2D"/>
                </a:solidFill>
                <a:latin typeface="Calibri" panose="020F0502020204030204" pitchFamily="34" charset="0"/>
              </a:rPr>
              <a:t>Receptor perturbation (DCC / UNC5B knockdown) to test direct dependence.</a:t>
            </a:r>
          </a:p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>
                <a:solidFill>
                  <a:srgbClr val="2D2D2D"/>
                </a:solidFill>
                <a:latin typeface="Calibri" panose="020F0502020204030204" pitchFamily="34" charset="0"/>
              </a:rPr>
              <a:t>LPS controls (polymyxin B / TLR inhibitors) for the immune signature.</a:t>
            </a:r>
          </a:p>
          <a:p>
            <a:pPr marL="342900" indent="-342900">
              <a:spcAft>
                <a:spcPts val="700"/>
              </a:spcAft>
              <a:buFont typeface="Calibri" panose="020F0502020204030204" pitchFamily="34" charset="0"/>
              <a:buChar char="•"/>
            </a:pPr>
            <a:r>
              <a:rPr lang="en-US">
                <a:solidFill>
                  <a:srgbClr val="2D2D2D"/>
                </a:solidFill>
                <a:latin typeface="Calibri" panose="020F0502020204030204" pitchFamily="34" charset="0"/>
              </a:rPr>
              <a:t>Acknowledgments: [lab / funding / collaborators].</a:t>
            </a:r>
          </a:p>
        </p:txBody>
      </p:sp>
    </p:spTree>
    <p:extLst>
      <p:ext uri="{BB962C8B-B14F-4D97-AF65-F5344CB8AC3E}">
        <p14:creationId xmlns:p14="http://schemas.microsoft.com/office/powerpoint/2010/main" val="1547089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3560</Words>
  <Application>Microsoft Office PowerPoint</Application>
  <PresentationFormat>Widescreen</PresentationFormat>
  <Paragraphs>191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Xinyu Miao</dc:creator>
  <cp:lastModifiedBy>Xinyu Miao</cp:lastModifiedBy>
  <cp:revision>5</cp:revision>
  <dcterms:created xsi:type="dcterms:W3CDTF">2026-06-14T20:29:25Z</dcterms:created>
  <dcterms:modified xsi:type="dcterms:W3CDTF">2026-06-14T21:50:18Z</dcterms:modified>
</cp:coreProperties>
</file>